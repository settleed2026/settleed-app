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media/image1.jpeg" ContentType="image/jpeg"/>
  <Override PartName="/ppt/media/image2.jpeg" ContentType="image/jpeg"/>
  <Override PartName="/ppt/media/image3.jpeg" ContentType="image/jpeg"/>
  <Override PartName="/ppt/media/image4.jpeg" ContentType="image/jpeg"/>
  <Override PartName="/ppt/slides/slide6.xml" ContentType="application/vnd.openxmlformats-officedocument.presentationml.slide+xml"/>
</Types>
</file>

<file path=_rels/.rels><?xml version="1.0" encoding="UTF-8"?><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61" r:id="rId13"/>
    <p:sldId id="258" r:id="rId10"/>
    <p:sldId id="259" r:id="rId11"/>
    <p:sldId id="260" r:id="rId12"/>
  </p:sldIdLst>
  <p:sldSz cx="9144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0DEEF"/>
          </a:solidFill>
        </a:fill>
      </a:tcStyle>
    </a:wholeTbl>
    <a:band2H>
      <a:tcTxStyle b="def" i="def"/>
      <a:tcStyle>
        <a:tcBdr/>
        <a:fill>
          <a:solidFill>
            <a:srgbClr val="E9EFF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16" name="Shape 116"/>
          <p:cNvSpPr/>
          <p:nvPr>
            <p:ph type="sldImg"/>
          </p:nvPr>
        </p:nvSpPr>
        <p:spPr>
          <a:xfrm>
            <a:off x="1143000" y="685800"/>
            <a:ext cx="4572000" cy="3429000"/>
          </a:xfrm>
          <a:prstGeom prst="rect">
            <a:avLst/>
          </a:prstGeom>
        </p:spPr>
        <p:txBody>
          <a:bodyPr/>
          <a:lstStyle/>
          <a:p>
            <a:pPr/>
          </a:p>
        </p:txBody>
      </p:sp>
      <p:sp>
        <p:nvSpPr>
          <p:cNvPr id="117" name="Shape 117"/>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1143000" y="1122362"/>
            <a:ext cx="6858000" cy="2387601"/>
          </a:xfrm>
          <a:prstGeom prst="rect">
            <a:avLst/>
          </a:prstGeom>
        </p:spPr>
        <p:txBody>
          <a:bodyPr anchor="b"/>
          <a:lstStyle>
            <a:lvl1pPr algn="ctr">
              <a:defRPr sz="4500"/>
            </a:lvl1pPr>
          </a:lstStyle>
          <a:p>
            <a:pPr/>
            <a:r>
              <a:t>Title Text</a:t>
            </a:r>
          </a:p>
        </p:txBody>
      </p:sp>
      <p:sp>
        <p:nvSpPr>
          <p:cNvPr id="12" name="Body Level One…"/>
          <p:cNvSpPr txBox="1"/>
          <p:nvPr>
            <p:ph type="body" sz="quarter" idx="1"/>
          </p:nvPr>
        </p:nvSpPr>
        <p:spPr>
          <a:xfrm>
            <a:off x="1143000" y="3602037"/>
            <a:ext cx="6858000" cy="1655763"/>
          </a:xfrm>
          <a:prstGeom prst="rect">
            <a:avLst/>
          </a:prstGeom>
        </p:spPr>
        <p:txBody>
          <a:bodyPr/>
          <a:lstStyle>
            <a:lvl1pPr marL="0" indent="0" algn="ctr">
              <a:buSzTx/>
              <a:buFontTx/>
              <a:buNone/>
              <a:defRPr sz="1800"/>
            </a:lvl1pPr>
            <a:lvl2pPr marL="0" indent="342900" algn="ctr">
              <a:buSzTx/>
              <a:buFontTx/>
              <a:buNone/>
              <a:defRPr sz="1800"/>
            </a:lvl2pPr>
            <a:lvl3pPr marL="0" indent="685800" algn="ctr">
              <a:buSzTx/>
              <a:buFontTx/>
              <a:buNone/>
              <a:defRPr sz="1800"/>
            </a:lvl3pPr>
            <a:lvl4pPr marL="0" indent="1028700" algn="ctr">
              <a:buSzTx/>
              <a:buFontTx/>
              <a:buNone/>
              <a:defRPr sz="1800"/>
            </a:lvl4pPr>
            <a:lvl5pPr marL="0" indent="1371600" algn="ctr">
              <a:buSzTx/>
              <a:buFontTx/>
              <a:buNone/>
              <a:defRPr sz="1800"/>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prstGeom prst="rect">
            <a:avLst/>
          </a:prstGeom>
        </p:spPr>
        <p:txBody>
          <a:bodyPr/>
          <a:lstStyle/>
          <a:p>
            <a:pPr/>
            <a:r>
              <a:t>Title Text</a:t>
            </a:r>
          </a:p>
        </p:txBody>
      </p:sp>
      <p:sp>
        <p:nvSpPr>
          <p:cNvPr id="2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Title Text"/>
          <p:cNvSpPr txBox="1"/>
          <p:nvPr>
            <p:ph type="title"/>
          </p:nvPr>
        </p:nvSpPr>
        <p:spPr>
          <a:xfrm>
            <a:off x="623887" y="1709739"/>
            <a:ext cx="7886701" cy="2852737"/>
          </a:xfrm>
          <a:prstGeom prst="rect">
            <a:avLst/>
          </a:prstGeom>
        </p:spPr>
        <p:txBody>
          <a:bodyPr anchor="b"/>
          <a:lstStyle>
            <a:lvl1pPr>
              <a:defRPr sz="4500"/>
            </a:lvl1pPr>
          </a:lstStyle>
          <a:p>
            <a:pPr/>
            <a:r>
              <a:t>Title Text</a:t>
            </a:r>
          </a:p>
        </p:txBody>
      </p:sp>
      <p:sp>
        <p:nvSpPr>
          <p:cNvPr id="30" name="Body Level One…"/>
          <p:cNvSpPr txBox="1"/>
          <p:nvPr>
            <p:ph type="body" sz="quarter" idx="1"/>
          </p:nvPr>
        </p:nvSpPr>
        <p:spPr>
          <a:xfrm>
            <a:off x="623887" y="4589464"/>
            <a:ext cx="7886701" cy="1500188"/>
          </a:xfrm>
          <a:prstGeom prst="rect">
            <a:avLst/>
          </a:prstGeom>
        </p:spPr>
        <p:txBody>
          <a:bodyPr/>
          <a:lstStyle>
            <a:lvl1pPr marL="0" indent="0">
              <a:buSzTx/>
              <a:buFontTx/>
              <a:buNone/>
              <a:defRPr sz="1800">
                <a:solidFill>
                  <a:srgbClr val="888888"/>
                </a:solidFill>
              </a:defRPr>
            </a:lvl1pPr>
            <a:lvl2pPr marL="0" indent="342900">
              <a:buSzTx/>
              <a:buFontTx/>
              <a:buNone/>
              <a:defRPr sz="1800">
                <a:solidFill>
                  <a:srgbClr val="888888"/>
                </a:solidFill>
              </a:defRPr>
            </a:lvl2pPr>
            <a:lvl3pPr marL="0" indent="685800">
              <a:buSzTx/>
              <a:buFontTx/>
              <a:buNone/>
              <a:defRPr sz="1800">
                <a:solidFill>
                  <a:srgbClr val="888888"/>
                </a:solidFill>
              </a:defRPr>
            </a:lvl3pPr>
            <a:lvl4pPr marL="0" indent="1028700">
              <a:buSzTx/>
              <a:buFontTx/>
              <a:buNone/>
              <a:defRPr sz="1800">
                <a:solidFill>
                  <a:srgbClr val="888888"/>
                </a:solidFill>
              </a:defRPr>
            </a:lvl4pPr>
            <a:lvl5pPr marL="0" indent="1371600">
              <a:buSzTx/>
              <a:buFontTx/>
              <a:buNone/>
              <a:defRPr sz="18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Title Text"/>
          <p:cNvSpPr txBox="1"/>
          <p:nvPr>
            <p:ph type="title"/>
          </p:nvPr>
        </p:nvSpPr>
        <p:spPr>
          <a:prstGeom prst="rect">
            <a:avLst/>
          </a:prstGeom>
        </p:spPr>
        <p:txBody>
          <a:bodyPr/>
          <a:lstStyle/>
          <a:p>
            <a:pPr/>
            <a:r>
              <a:t>Title Text</a:t>
            </a:r>
          </a:p>
        </p:txBody>
      </p:sp>
      <p:sp>
        <p:nvSpPr>
          <p:cNvPr id="39" name="Body Level One…"/>
          <p:cNvSpPr txBox="1"/>
          <p:nvPr>
            <p:ph type="body" sz="half" idx="1"/>
          </p:nvPr>
        </p:nvSpPr>
        <p:spPr>
          <a:xfrm>
            <a:off x="628650" y="1825625"/>
            <a:ext cx="3886200" cy="4351338"/>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Title Text"/>
          <p:cNvSpPr txBox="1"/>
          <p:nvPr>
            <p:ph type="title"/>
          </p:nvPr>
        </p:nvSpPr>
        <p:spPr>
          <a:xfrm>
            <a:off x="629841" y="365125"/>
            <a:ext cx="7886701" cy="1325564"/>
          </a:xfrm>
          <a:prstGeom prst="rect">
            <a:avLst/>
          </a:prstGeom>
        </p:spPr>
        <p:txBody>
          <a:bodyPr/>
          <a:lstStyle/>
          <a:p>
            <a:pPr/>
            <a:r>
              <a:t>Title Text</a:t>
            </a:r>
          </a:p>
        </p:txBody>
      </p:sp>
      <p:sp>
        <p:nvSpPr>
          <p:cNvPr id="48" name="Body Level One…"/>
          <p:cNvSpPr txBox="1"/>
          <p:nvPr>
            <p:ph type="body" sz="quarter" idx="1"/>
          </p:nvPr>
        </p:nvSpPr>
        <p:spPr>
          <a:xfrm>
            <a:off x="629841" y="1681163"/>
            <a:ext cx="3868341" cy="823913"/>
          </a:xfrm>
          <a:prstGeom prst="rect">
            <a:avLst/>
          </a:prstGeom>
        </p:spPr>
        <p:txBody>
          <a:bodyPr anchor="b"/>
          <a:lstStyle>
            <a:lvl1pPr marL="0" indent="0">
              <a:buSzTx/>
              <a:buFontTx/>
              <a:buNone/>
              <a:defRPr b="1" sz="1800"/>
            </a:lvl1pPr>
            <a:lvl2pPr marL="0" indent="342900">
              <a:buSzTx/>
              <a:buFontTx/>
              <a:buNone/>
              <a:defRPr b="1" sz="1800"/>
            </a:lvl2pPr>
            <a:lvl3pPr marL="0" indent="685800">
              <a:buSzTx/>
              <a:buFontTx/>
              <a:buNone/>
              <a:defRPr b="1" sz="1800"/>
            </a:lvl3pPr>
            <a:lvl4pPr marL="0" indent="1028700">
              <a:buSzTx/>
              <a:buFontTx/>
              <a:buNone/>
              <a:defRPr b="1" sz="1800"/>
            </a:lvl4pPr>
            <a:lvl5pPr marL="0" indent="1371600">
              <a:buSzTx/>
              <a:buFontTx/>
              <a:buNone/>
              <a:defRPr b="1" sz="1800"/>
            </a:lvl5pPr>
          </a:lstStyle>
          <a:p>
            <a:pPr/>
            <a:r>
              <a:t>Body Level One</a:t>
            </a:r>
          </a:p>
          <a:p>
            <a:pPr lvl="1"/>
            <a:r>
              <a:t>Body Level Two</a:t>
            </a:r>
          </a:p>
          <a:p>
            <a:pPr lvl="2"/>
            <a:r>
              <a:t>Body Level Three</a:t>
            </a:r>
          </a:p>
          <a:p>
            <a:pPr lvl="3"/>
            <a:r>
              <a:t>Body Level Four</a:t>
            </a:r>
          </a:p>
          <a:p>
            <a:pPr lvl="4"/>
            <a:r>
              <a:t>Body Level Five</a:t>
            </a:r>
          </a:p>
        </p:txBody>
      </p:sp>
      <p:sp>
        <p:nvSpPr>
          <p:cNvPr id="49" name="Text Placeholder 4"/>
          <p:cNvSpPr/>
          <p:nvPr>
            <p:ph type="body" sz="quarter" idx="21"/>
          </p:nvPr>
        </p:nvSpPr>
        <p:spPr>
          <a:xfrm>
            <a:off x="4629150" y="1681163"/>
            <a:ext cx="3887392" cy="823913"/>
          </a:xfrm>
          <a:prstGeom prst="rect">
            <a:avLst/>
          </a:prstGeom>
        </p:spPr>
        <p:txBody>
          <a:bodyPr anchor="b"/>
          <a:lstStyle/>
          <a:p>
            <a:pPr marL="0" indent="0">
              <a:buSzTx/>
              <a:buFontTx/>
              <a:buNone/>
              <a:defRPr b="1" sz="1800"/>
            </a:pP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Title Text"/>
          <p:cNvSpPr txBox="1"/>
          <p:nvPr>
            <p:ph type="title"/>
          </p:nvPr>
        </p:nvSpPr>
        <p:spPr>
          <a:prstGeom prst="rect">
            <a:avLst/>
          </a:prstGeom>
        </p:spPr>
        <p:txBody>
          <a:bodyPr/>
          <a:lstStyle/>
          <a:p>
            <a:pPr/>
            <a:r>
              <a:t>Title Text</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Title Text"/>
          <p:cNvSpPr txBox="1"/>
          <p:nvPr>
            <p:ph type="title"/>
          </p:nvPr>
        </p:nvSpPr>
        <p:spPr>
          <a:xfrm>
            <a:off x="629841" y="457200"/>
            <a:ext cx="2949178" cy="1600200"/>
          </a:xfrm>
          <a:prstGeom prst="rect">
            <a:avLst/>
          </a:prstGeom>
        </p:spPr>
        <p:txBody>
          <a:bodyPr anchor="b"/>
          <a:lstStyle>
            <a:lvl1pPr>
              <a:defRPr sz="2400"/>
            </a:lvl1pPr>
          </a:lstStyle>
          <a:p>
            <a:pPr/>
            <a:r>
              <a:t>Title Text</a:t>
            </a:r>
          </a:p>
        </p:txBody>
      </p:sp>
      <p:sp>
        <p:nvSpPr>
          <p:cNvPr id="73" name="Body Level One…"/>
          <p:cNvSpPr txBox="1"/>
          <p:nvPr>
            <p:ph type="body" sz="half" idx="1"/>
          </p:nvPr>
        </p:nvSpPr>
        <p:spPr>
          <a:xfrm>
            <a:off x="3887391" y="987425"/>
            <a:ext cx="4629151" cy="4873626"/>
          </a:xfrm>
          <a:prstGeom prst="rect">
            <a:avLst/>
          </a:prstGeom>
        </p:spPr>
        <p:txBody>
          <a:bodyPr/>
          <a:lstStyle>
            <a:lvl1pPr>
              <a:defRPr sz="2400"/>
            </a:lvl1pPr>
            <a:lvl2pPr marL="538842" indent="-195942">
              <a:defRPr sz="2400"/>
            </a:lvl2pPr>
            <a:lvl3pPr marL="914400" indent="-228600">
              <a:defRPr sz="2400"/>
            </a:lvl3pPr>
            <a:lvl4pPr marL="1303019" indent="-274319">
              <a:defRPr sz="2400"/>
            </a:lvl4pPr>
            <a:lvl5pPr marL="1645920" indent="-274320">
              <a:defRPr sz="2400"/>
            </a:lvl5pPr>
          </a:lstStyle>
          <a:p>
            <a:pPr/>
            <a:r>
              <a:t>Body Level One</a:t>
            </a:r>
          </a:p>
          <a:p>
            <a:pPr lvl="1"/>
            <a:r>
              <a:t>Body Level Two</a:t>
            </a:r>
          </a:p>
          <a:p>
            <a:pPr lvl="2"/>
            <a:r>
              <a:t>Body Level Three</a:t>
            </a:r>
          </a:p>
          <a:p>
            <a:pPr lvl="3"/>
            <a:r>
              <a:t>Body Level Four</a:t>
            </a:r>
          </a:p>
          <a:p>
            <a:pPr lvl="4"/>
            <a:r>
              <a:t>Body Level Five</a:t>
            </a:r>
          </a:p>
        </p:txBody>
      </p:sp>
      <p:sp>
        <p:nvSpPr>
          <p:cNvPr id="74" name="Text Placeholder 3"/>
          <p:cNvSpPr/>
          <p:nvPr>
            <p:ph type="body" sz="quarter" idx="21"/>
          </p:nvPr>
        </p:nvSpPr>
        <p:spPr>
          <a:xfrm>
            <a:off x="629840" y="2057400"/>
            <a:ext cx="2949180" cy="3811588"/>
          </a:xfrm>
          <a:prstGeom prst="rect">
            <a:avLst/>
          </a:prstGeom>
        </p:spPr>
        <p:txBody>
          <a:bodyPr/>
          <a:lstStyle/>
          <a:p>
            <a:pPr marL="0" indent="0">
              <a:buSzTx/>
              <a:buFontTx/>
              <a:buNone/>
              <a:defRPr sz="1200"/>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Title Text"/>
          <p:cNvSpPr txBox="1"/>
          <p:nvPr>
            <p:ph type="title"/>
          </p:nvPr>
        </p:nvSpPr>
        <p:spPr>
          <a:xfrm>
            <a:off x="629841" y="457200"/>
            <a:ext cx="2949178" cy="1600200"/>
          </a:xfrm>
          <a:prstGeom prst="rect">
            <a:avLst/>
          </a:prstGeom>
        </p:spPr>
        <p:txBody>
          <a:bodyPr anchor="b"/>
          <a:lstStyle>
            <a:lvl1pPr>
              <a:defRPr sz="2400"/>
            </a:lvl1pPr>
          </a:lstStyle>
          <a:p>
            <a:pPr/>
            <a:r>
              <a:t>Title Text</a:t>
            </a:r>
          </a:p>
        </p:txBody>
      </p:sp>
      <p:sp>
        <p:nvSpPr>
          <p:cNvPr id="83" name="Picture Placeholder 2"/>
          <p:cNvSpPr/>
          <p:nvPr>
            <p:ph type="pic" sz="half" idx="21"/>
          </p:nvPr>
        </p:nvSpPr>
        <p:spPr>
          <a:xfrm>
            <a:off x="3887391" y="987425"/>
            <a:ext cx="4629151" cy="4873626"/>
          </a:xfrm>
          <a:prstGeom prst="rect">
            <a:avLst/>
          </a:prstGeom>
        </p:spPr>
        <p:txBody>
          <a:bodyPr lIns="91439" rIns="91439">
            <a:noAutofit/>
          </a:bodyPr>
          <a:lstStyle/>
          <a:p>
            <a:pPr/>
          </a:p>
        </p:txBody>
      </p:sp>
      <p:sp>
        <p:nvSpPr>
          <p:cNvPr id="84" name="Body Level One…"/>
          <p:cNvSpPr txBox="1"/>
          <p:nvPr>
            <p:ph type="body" sz="quarter" idx="1"/>
          </p:nvPr>
        </p:nvSpPr>
        <p:spPr>
          <a:xfrm>
            <a:off x="629841" y="2057400"/>
            <a:ext cx="2949178" cy="3811588"/>
          </a:xfrm>
          <a:prstGeom prst="rect">
            <a:avLst/>
          </a:prstGeom>
        </p:spPr>
        <p:txBody>
          <a:bodyPr/>
          <a:lstStyle>
            <a:lvl1pPr marL="0" indent="0">
              <a:buSzTx/>
              <a:buFontTx/>
              <a:buNone/>
              <a:defRPr sz="1200"/>
            </a:lvl1pPr>
            <a:lvl2pPr marL="0" indent="342900">
              <a:buSzTx/>
              <a:buFontTx/>
              <a:buNone/>
              <a:defRPr sz="1200"/>
            </a:lvl2pPr>
            <a:lvl3pPr marL="0" indent="685800">
              <a:buSzTx/>
              <a:buFontTx/>
              <a:buNone/>
              <a:defRPr sz="1200"/>
            </a:lvl3pPr>
            <a:lvl4pPr marL="0" indent="1028700">
              <a:buSzTx/>
              <a:buFontTx/>
              <a:buNone/>
              <a:defRPr sz="1200"/>
            </a:lvl4pPr>
            <a:lvl5pPr marL="0" indent="1371600">
              <a:buSzTx/>
              <a:buFontTx/>
              <a:buNone/>
              <a:defRPr sz="1200"/>
            </a:lvl5pPr>
          </a:lstStyle>
          <a:p>
            <a:pPr/>
            <a:r>
              <a:t>Body Level One</a:t>
            </a:r>
          </a:p>
          <a:p>
            <a:pPr lvl="1"/>
            <a:r>
              <a:t>Body Level Two</a:t>
            </a:r>
          </a:p>
          <a:p>
            <a:pPr lvl="2"/>
            <a:r>
              <a:t>Body Level Three</a:t>
            </a:r>
          </a:p>
          <a:p>
            <a:pPr lvl="3"/>
            <a:r>
              <a:t>Body Level Four</a:t>
            </a:r>
          </a:p>
          <a:p>
            <a:pPr lvl="4"/>
            <a:r>
              <a:t>Body Level Five</a:t>
            </a: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Vertical Text">
    <p:spTree>
      <p:nvGrpSpPr>
        <p:cNvPr id="1" name=""/>
        <p:cNvGrpSpPr/>
        <p:nvPr/>
      </p:nvGrpSpPr>
      <p:grpSpPr>
        <a:xfrm>
          <a:off x="0" y="0"/>
          <a:ext cx="0" cy="0"/>
          <a:chOff x="0" y="0"/>
          <a:chExt cx="0" cy="0"/>
        </a:xfrm>
      </p:grpSpPr>
      <p:sp>
        <p:nvSpPr>
          <p:cNvPr id="92" name="Title Text"/>
          <p:cNvSpPr txBox="1"/>
          <p:nvPr>
            <p:ph type="title"/>
          </p:nvPr>
        </p:nvSpPr>
        <p:spPr>
          <a:prstGeom prst="rect">
            <a:avLst/>
          </a:prstGeom>
        </p:spPr>
        <p:txBody>
          <a:bodyPr/>
          <a:lstStyle/>
          <a:p>
            <a:pPr/>
            <a:r>
              <a:t>Title Text</a:t>
            </a:r>
          </a:p>
        </p:txBody>
      </p:sp>
      <p:sp>
        <p:nvSpPr>
          <p:cNvPr id="93"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9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Vertical Title and Text">
    <p:spTree>
      <p:nvGrpSpPr>
        <p:cNvPr id="1" name=""/>
        <p:cNvGrpSpPr/>
        <p:nvPr/>
      </p:nvGrpSpPr>
      <p:grpSpPr>
        <a:xfrm>
          <a:off x="0" y="0"/>
          <a:ext cx="0" cy="0"/>
          <a:chOff x="0" y="0"/>
          <a:chExt cx="0" cy="0"/>
        </a:xfrm>
      </p:grpSpPr>
      <p:sp>
        <p:nvSpPr>
          <p:cNvPr id="101" name="Title Text"/>
          <p:cNvSpPr txBox="1"/>
          <p:nvPr>
            <p:ph type="title"/>
          </p:nvPr>
        </p:nvSpPr>
        <p:spPr>
          <a:xfrm>
            <a:off x="6543675" y="365125"/>
            <a:ext cx="1971675" cy="5811838"/>
          </a:xfrm>
          <a:prstGeom prst="rect">
            <a:avLst/>
          </a:prstGeom>
        </p:spPr>
        <p:txBody>
          <a:bodyPr/>
          <a:lstStyle/>
          <a:p>
            <a:pPr/>
            <a:r>
              <a:t>Title Text</a:t>
            </a:r>
          </a:p>
        </p:txBody>
      </p:sp>
      <p:sp>
        <p:nvSpPr>
          <p:cNvPr id="102" name="Body Level One…"/>
          <p:cNvSpPr txBox="1"/>
          <p:nvPr>
            <p:ph type="body" idx="1"/>
          </p:nvPr>
        </p:nvSpPr>
        <p:spPr>
          <a:xfrm>
            <a:off x="628650" y="365125"/>
            <a:ext cx="5800725" cy="5811838"/>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0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bg>
      <p:bgPr>
        <a:solidFill>
          <a:srgbClr val="000000"/>
        </a:solidFill>
      </p:bgPr>
    </p:bg>
    <p:spTree>
      <p:nvGrpSpPr>
        <p:cNvPr id="1" name=""/>
        <p:cNvGrpSpPr/>
        <p:nvPr/>
      </p:nvGrpSpPr>
      <p:grpSpPr>
        <a:xfrm>
          <a:off x="0" y="0"/>
          <a:ext cx="0" cy="0"/>
          <a:chOff x="0" y="0"/>
          <a:chExt cx="0" cy="0"/>
        </a:xfrm>
      </p:grpSpPr>
      <p:sp>
        <p:nvSpPr>
          <p:cNvPr id="110" name="Slide Number"/>
          <p:cNvSpPr txBox="1"/>
          <p:nvPr>
            <p:ph type="sldNum" sz="quarter" idx="2"/>
          </p:nvPr>
        </p:nvSpPr>
        <p:spPr>
          <a:xfrm>
            <a:off x="4440732" y="6509742"/>
            <a:ext cx="253607" cy="249238"/>
          </a:xfrm>
          <a:prstGeom prst="rect">
            <a:avLst/>
          </a:prstGeom>
        </p:spPr>
        <p:txBody>
          <a:bodyPr lIns="35718" tIns="35718" rIns="35718" bIns="35718" anchor="t">
            <a:normAutofit fontScale="100000" lnSpcReduction="0"/>
          </a:bodyPr>
          <a:lstStyle>
            <a:lvl1pPr algn="ctr" defTabSz="410765">
              <a:defRPr sz="1200">
                <a:solidFill>
                  <a:srgbClr val="FFFFFF"/>
                </a:solidFill>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28650" y="365125"/>
            <a:ext cx="7886700" cy="1325564"/>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3" name="Body Level One…"/>
          <p:cNvSpPr txBox="1"/>
          <p:nvPr>
            <p:ph type="body" idx="1"/>
          </p:nvPr>
        </p:nvSpPr>
        <p:spPr>
          <a:xfrm>
            <a:off x="628650" y="1825625"/>
            <a:ext cx="7886700" cy="435133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295347" y="6435957"/>
            <a:ext cx="220003" cy="205914"/>
          </a:xfrm>
          <a:prstGeom prst="rect">
            <a:avLst/>
          </a:prstGeom>
          <a:ln w="12700">
            <a:miter lim="400000"/>
          </a:ln>
        </p:spPr>
        <p:txBody>
          <a:bodyPr wrap="none" lIns="45719" rIns="45719" anchor="ctr">
            <a:spAutoFit/>
          </a:bodyPr>
          <a:lstStyle>
            <a:lvl1pPr algn="r">
              <a:defRPr sz="9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transition xmlns:p14="http://schemas.microsoft.com/office/powerpoint/2010/main" spd="med" advClick="1"/>
  <p:txStyles>
    <p:titleStyle>
      <a:lvl1pPr marL="0" marR="0" indent="0" algn="l" defTabSz="685800" rtl="0" latinLnBrk="0">
        <a:lnSpc>
          <a:spcPct val="90000"/>
        </a:lnSpc>
        <a:spcBef>
          <a:spcPts val="0"/>
        </a:spcBef>
        <a:spcAft>
          <a:spcPts val="0"/>
        </a:spcAft>
        <a:buClrTx/>
        <a:buSzTx/>
        <a:buFontTx/>
        <a:buNone/>
        <a:tabLst/>
        <a:defRPr b="0" baseline="0" cap="none" i="0" spc="0" strike="noStrike" sz="3300" u="none">
          <a:solidFill>
            <a:srgbClr val="000000"/>
          </a:solidFill>
          <a:uFillTx/>
          <a:latin typeface="+mn-lt"/>
          <a:ea typeface="+mn-ea"/>
          <a:cs typeface="+mn-cs"/>
          <a:sym typeface="Calibri"/>
        </a:defRPr>
      </a:lvl1pPr>
      <a:lvl2pPr marL="0" marR="0" indent="0" algn="l" defTabSz="685800" rtl="0" latinLnBrk="0">
        <a:lnSpc>
          <a:spcPct val="90000"/>
        </a:lnSpc>
        <a:spcBef>
          <a:spcPts val="0"/>
        </a:spcBef>
        <a:spcAft>
          <a:spcPts val="0"/>
        </a:spcAft>
        <a:buClrTx/>
        <a:buSzTx/>
        <a:buFontTx/>
        <a:buNone/>
        <a:tabLst/>
        <a:defRPr b="0" baseline="0" cap="none" i="0" spc="0" strike="noStrike" sz="3300" u="none">
          <a:solidFill>
            <a:srgbClr val="000000"/>
          </a:solidFill>
          <a:uFillTx/>
          <a:latin typeface="+mn-lt"/>
          <a:ea typeface="+mn-ea"/>
          <a:cs typeface="+mn-cs"/>
          <a:sym typeface="Calibri"/>
        </a:defRPr>
      </a:lvl2pPr>
      <a:lvl3pPr marL="0" marR="0" indent="0" algn="l" defTabSz="685800" rtl="0" latinLnBrk="0">
        <a:lnSpc>
          <a:spcPct val="90000"/>
        </a:lnSpc>
        <a:spcBef>
          <a:spcPts val="0"/>
        </a:spcBef>
        <a:spcAft>
          <a:spcPts val="0"/>
        </a:spcAft>
        <a:buClrTx/>
        <a:buSzTx/>
        <a:buFontTx/>
        <a:buNone/>
        <a:tabLst/>
        <a:defRPr b="0" baseline="0" cap="none" i="0" spc="0" strike="noStrike" sz="3300" u="none">
          <a:solidFill>
            <a:srgbClr val="000000"/>
          </a:solidFill>
          <a:uFillTx/>
          <a:latin typeface="+mn-lt"/>
          <a:ea typeface="+mn-ea"/>
          <a:cs typeface="+mn-cs"/>
          <a:sym typeface="Calibri"/>
        </a:defRPr>
      </a:lvl3pPr>
      <a:lvl4pPr marL="0" marR="0" indent="0" algn="l" defTabSz="685800" rtl="0" latinLnBrk="0">
        <a:lnSpc>
          <a:spcPct val="90000"/>
        </a:lnSpc>
        <a:spcBef>
          <a:spcPts val="0"/>
        </a:spcBef>
        <a:spcAft>
          <a:spcPts val="0"/>
        </a:spcAft>
        <a:buClrTx/>
        <a:buSzTx/>
        <a:buFontTx/>
        <a:buNone/>
        <a:tabLst/>
        <a:defRPr b="0" baseline="0" cap="none" i="0" spc="0" strike="noStrike" sz="3300" u="none">
          <a:solidFill>
            <a:srgbClr val="000000"/>
          </a:solidFill>
          <a:uFillTx/>
          <a:latin typeface="+mn-lt"/>
          <a:ea typeface="+mn-ea"/>
          <a:cs typeface="+mn-cs"/>
          <a:sym typeface="Calibri"/>
        </a:defRPr>
      </a:lvl4pPr>
      <a:lvl5pPr marL="0" marR="0" indent="0" algn="l" defTabSz="685800" rtl="0" latinLnBrk="0">
        <a:lnSpc>
          <a:spcPct val="90000"/>
        </a:lnSpc>
        <a:spcBef>
          <a:spcPts val="0"/>
        </a:spcBef>
        <a:spcAft>
          <a:spcPts val="0"/>
        </a:spcAft>
        <a:buClrTx/>
        <a:buSzTx/>
        <a:buFontTx/>
        <a:buNone/>
        <a:tabLst/>
        <a:defRPr b="0" baseline="0" cap="none" i="0" spc="0" strike="noStrike" sz="3300" u="none">
          <a:solidFill>
            <a:srgbClr val="000000"/>
          </a:solidFill>
          <a:uFillTx/>
          <a:latin typeface="+mn-lt"/>
          <a:ea typeface="+mn-ea"/>
          <a:cs typeface="+mn-cs"/>
          <a:sym typeface="Calibri"/>
        </a:defRPr>
      </a:lvl5pPr>
      <a:lvl6pPr marL="0" marR="0" indent="0" algn="l" defTabSz="685800" rtl="0" latinLnBrk="0">
        <a:lnSpc>
          <a:spcPct val="90000"/>
        </a:lnSpc>
        <a:spcBef>
          <a:spcPts val="0"/>
        </a:spcBef>
        <a:spcAft>
          <a:spcPts val="0"/>
        </a:spcAft>
        <a:buClrTx/>
        <a:buSzTx/>
        <a:buFontTx/>
        <a:buNone/>
        <a:tabLst/>
        <a:defRPr b="0" baseline="0" cap="none" i="0" spc="0" strike="noStrike" sz="3300" u="none">
          <a:solidFill>
            <a:srgbClr val="000000"/>
          </a:solidFill>
          <a:uFillTx/>
          <a:latin typeface="+mn-lt"/>
          <a:ea typeface="+mn-ea"/>
          <a:cs typeface="+mn-cs"/>
          <a:sym typeface="Calibri"/>
        </a:defRPr>
      </a:lvl6pPr>
      <a:lvl7pPr marL="0" marR="0" indent="0" algn="l" defTabSz="685800" rtl="0" latinLnBrk="0">
        <a:lnSpc>
          <a:spcPct val="90000"/>
        </a:lnSpc>
        <a:spcBef>
          <a:spcPts val="0"/>
        </a:spcBef>
        <a:spcAft>
          <a:spcPts val="0"/>
        </a:spcAft>
        <a:buClrTx/>
        <a:buSzTx/>
        <a:buFontTx/>
        <a:buNone/>
        <a:tabLst/>
        <a:defRPr b="0" baseline="0" cap="none" i="0" spc="0" strike="noStrike" sz="3300" u="none">
          <a:solidFill>
            <a:srgbClr val="000000"/>
          </a:solidFill>
          <a:uFillTx/>
          <a:latin typeface="+mn-lt"/>
          <a:ea typeface="+mn-ea"/>
          <a:cs typeface="+mn-cs"/>
          <a:sym typeface="Calibri"/>
        </a:defRPr>
      </a:lvl7pPr>
      <a:lvl8pPr marL="0" marR="0" indent="0" algn="l" defTabSz="685800" rtl="0" latinLnBrk="0">
        <a:lnSpc>
          <a:spcPct val="90000"/>
        </a:lnSpc>
        <a:spcBef>
          <a:spcPts val="0"/>
        </a:spcBef>
        <a:spcAft>
          <a:spcPts val="0"/>
        </a:spcAft>
        <a:buClrTx/>
        <a:buSzTx/>
        <a:buFontTx/>
        <a:buNone/>
        <a:tabLst/>
        <a:defRPr b="0" baseline="0" cap="none" i="0" spc="0" strike="noStrike" sz="3300" u="none">
          <a:solidFill>
            <a:srgbClr val="000000"/>
          </a:solidFill>
          <a:uFillTx/>
          <a:latin typeface="+mn-lt"/>
          <a:ea typeface="+mn-ea"/>
          <a:cs typeface="+mn-cs"/>
          <a:sym typeface="Calibri"/>
        </a:defRPr>
      </a:lvl8pPr>
      <a:lvl9pPr marL="0" marR="0" indent="0" algn="l" defTabSz="685800" rtl="0" latinLnBrk="0">
        <a:lnSpc>
          <a:spcPct val="90000"/>
        </a:lnSpc>
        <a:spcBef>
          <a:spcPts val="0"/>
        </a:spcBef>
        <a:spcAft>
          <a:spcPts val="0"/>
        </a:spcAft>
        <a:buClrTx/>
        <a:buSzTx/>
        <a:buFontTx/>
        <a:buNone/>
        <a:tabLst/>
        <a:defRPr b="0" baseline="0" cap="none" i="0" spc="0" strike="noStrike" sz="3300" u="none">
          <a:solidFill>
            <a:srgbClr val="000000"/>
          </a:solidFill>
          <a:uFillTx/>
          <a:latin typeface="+mn-lt"/>
          <a:ea typeface="+mn-ea"/>
          <a:cs typeface="+mn-cs"/>
          <a:sym typeface="Calibri"/>
        </a:defRPr>
      </a:lvl9pPr>
    </p:titleStyle>
    <p:bodyStyle>
      <a:lvl1pPr marL="171450" marR="0" indent="-171450" algn="l" defTabSz="685800" rtl="0" latinLnBrk="0">
        <a:lnSpc>
          <a:spcPct val="90000"/>
        </a:lnSpc>
        <a:spcBef>
          <a:spcPts val="700"/>
        </a:spcBef>
        <a:spcAft>
          <a:spcPts val="0"/>
        </a:spcAft>
        <a:buClrTx/>
        <a:buSzPct val="100000"/>
        <a:buFont typeface="Arial"/>
        <a:buChar char="•"/>
        <a:tabLst/>
        <a:defRPr b="0" baseline="0" cap="none" i="0" spc="0" strike="noStrike" sz="2100" u="none">
          <a:solidFill>
            <a:srgbClr val="000000"/>
          </a:solidFill>
          <a:uFillTx/>
          <a:latin typeface="+mn-lt"/>
          <a:ea typeface="+mn-ea"/>
          <a:cs typeface="+mn-cs"/>
          <a:sym typeface="Calibri"/>
        </a:defRPr>
      </a:lvl1pPr>
      <a:lvl2pPr marL="542925" marR="0" indent="-200025" algn="l" defTabSz="685800" rtl="0" latinLnBrk="0">
        <a:lnSpc>
          <a:spcPct val="90000"/>
        </a:lnSpc>
        <a:spcBef>
          <a:spcPts val="700"/>
        </a:spcBef>
        <a:spcAft>
          <a:spcPts val="0"/>
        </a:spcAft>
        <a:buClrTx/>
        <a:buSzPct val="100000"/>
        <a:buFont typeface="Arial"/>
        <a:buChar char="•"/>
        <a:tabLst/>
        <a:defRPr b="0" baseline="0" cap="none" i="0" spc="0" strike="noStrike" sz="2100" u="none">
          <a:solidFill>
            <a:srgbClr val="000000"/>
          </a:solidFill>
          <a:uFillTx/>
          <a:latin typeface="+mn-lt"/>
          <a:ea typeface="+mn-ea"/>
          <a:cs typeface="+mn-cs"/>
          <a:sym typeface="Calibri"/>
        </a:defRPr>
      </a:lvl2pPr>
      <a:lvl3pPr marL="925830" marR="0" indent="-240030" algn="l" defTabSz="685800" rtl="0" latinLnBrk="0">
        <a:lnSpc>
          <a:spcPct val="90000"/>
        </a:lnSpc>
        <a:spcBef>
          <a:spcPts val="700"/>
        </a:spcBef>
        <a:spcAft>
          <a:spcPts val="0"/>
        </a:spcAft>
        <a:buClrTx/>
        <a:buSzPct val="100000"/>
        <a:buFont typeface="Arial"/>
        <a:buChar char="•"/>
        <a:tabLst/>
        <a:defRPr b="0" baseline="0" cap="none" i="0" spc="0" strike="noStrike" sz="2100" u="none">
          <a:solidFill>
            <a:srgbClr val="000000"/>
          </a:solidFill>
          <a:uFillTx/>
          <a:latin typeface="+mn-lt"/>
          <a:ea typeface="+mn-ea"/>
          <a:cs typeface="+mn-cs"/>
          <a:sym typeface="Calibri"/>
        </a:defRPr>
      </a:lvl3pPr>
      <a:lvl4pPr marL="1305657" marR="0" indent="-276957" algn="l" defTabSz="685800" rtl="0" latinLnBrk="0">
        <a:lnSpc>
          <a:spcPct val="90000"/>
        </a:lnSpc>
        <a:spcBef>
          <a:spcPts val="700"/>
        </a:spcBef>
        <a:spcAft>
          <a:spcPts val="0"/>
        </a:spcAft>
        <a:buClrTx/>
        <a:buSzPct val="100000"/>
        <a:buFont typeface="Arial"/>
        <a:buChar char="•"/>
        <a:tabLst/>
        <a:defRPr b="0" baseline="0" cap="none" i="0" spc="0" strike="noStrike" sz="2100" u="none">
          <a:solidFill>
            <a:srgbClr val="000000"/>
          </a:solidFill>
          <a:uFillTx/>
          <a:latin typeface="+mn-lt"/>
          <a:ea typeface="+mn-ea"/>
          <a:cs typeface="+mn-cs"/>
          <a:sym typeface="Calibri"/>
        </a:defRPr>
      </a:lvl4pPr>
      <a:lvl5pPr marL="1648557" marR="0" indent="-276957" algn="l" defTabSz="685800" rtl="0" latinLnBrk="0">
        <a:lnSpc>
          <a:spcPct val="90000"/>
        </a:lnSpc>
        <a:spcBef>
          <a:spcPts val="700"/>
        </a:spcBef>
        <a:spcAft>
          <a:spcPts val="0"/>
        </a:spcAft>
        <a:buClrTx/>
        <a:buSzPct val="100000"/>
        <a:buFont typeface="Arial"/>
        <a:buChar char="•"/>
        <a:tabLst/>
        <a:defRPr b="0" baseline="0" cap="none" i="0" spc="0" strike="noStrike" sz="2100" u="none">
          <a:solidFill>
            <a:srgbClr val="000000"/>
          </a:solidFill>
          <a:uFillTx/>
          <a:latin typeface="+mn-lt"/>
          <a:ea typeface="+mn-ea"/>
          <a:cs typeface="+mn-cs"/>
          <a:sym typeface="Calibri"/>
        </a:defRPr>
      </a:lvl5pPr>
      <a:lvl6pPr marL="1991457" marR="0" indent="-276957" algn="l" defTabSz="685800" rtl="0" latinLnBrk="0">
        <a:lnSpc>
          <a:spcPct val="90000"/>
        </a:lnSpc>
        <a:spcBef>
          <a:spcPts val="700"/>
        </a:spcBef>
        <a:spcAft>
          <a:spcPts val="0"/>
        </a:spcAft>
        <a:buClrTx/>
        <a:buSzPct val="100000"/>
        <a:buFont typeface="Arial"/>
        <a:buChar char="•"/>
        <a:tabLst/>
        <a:defRPr b="0" baseline="0" cap="none" i="0" spc="0" strike="noStrike" sz="2100" u="none">
          <a:solidFill>
            <a:srgbClr val="000000"/>
          </a:solidFill>
          <a:uFillTx/>
          <a:latin typeface="+mn-lt"/>
          <a:ea typeface="+mn-ea"/>
          <a:cs typeface="+mn-cs"/>
          <a:sym typeface="Calibri"/>
        </a:defRPr>
      </a:lvl6pPr>
      <a:lvl7pPr marL="2334357" marR="0" indent="-276957" algn="l" defTabSz="685800" rtl="0" latinLnBrk="0">
        <a:lnSpc>
          <a:spcPct val="90000"/>
        </a:lnSpc>
        <a:spcBef>
          <a:spcPts val="700"/>
        </a:spcBef>
        <a:spcAft>
          <a:spcPts val="0"/>
        </a:spcAft>
        <a:buClrTx/>
        <a:buSzPct val="100000"/>
        <a:buFont typeface="Arial"/>
        <a:buChar char="•"/>
        <a:tabLst/>
        <a:defRPr b="0" baseline="0" cap="none" i="0" spc="0" strike="noStrike" sz="2100" u="none">
          <a:solidFill>
            <a:srgbClr val="000000"/>
          </a:solidFill>
          <a:uFillTx/>
          <a:latin typeface="+mn-lt"/>
          <a:ea typeface="+mn-ea"/>
          <a:cs typeface="+mn-cs"/>
          <a:sym typeface="Calibri"/>
        </a:defRPr>
      </a:lvl7pPr>
      <a:lvl8pPr marL="2677257" marR="0" indent="-276957" algn="l" defTabSz="685800" rtl="0" latinLnBrk="0">
        <a:lnSpc>
          <a:spcPct val="90000"/>
        </a:lnSpc>
        <a:spcBef>
          <a:spcPts val="700"/>
        </a:spcBef>
        <a:spcAft>
          <a:spcPts val="0"/>
        </a:spcAft>
        <a:buClrTx/>
        <a:buSzPct val="100000"/>
        <a:buFont typeface="Arial"/>
        <a:buChar char="•"/>
        <a:tabLst/>
        <a:defRPr b="0" baseline="0" cap="none" i="0" spc="0" strike="noStrike" sz="2100" u="none">
          <a:solidFill>
            <a:srgbClr val="000000"/>
          </a:solidFill>
          <a:uFillTx/>
          <a:latin typeface="+mn-lt"/>
          <a:ea typeface="+mn-ea"/>
          <a:cs typeface="+mn-cs"/>
          <a:sym typeface="Calibri"/>
        </a:defRPr>
      </a:lvl8pPr>
      <a:lvl9pPr marL="3020157" marR="0" indent="-276957" algn="l" defTabSz="685800" rtl="0" latinLnBrk="0">
        <a:lnSpc>
          <a:spcPct val="90000"/>
        </a:lnSpc>
        <a:spcBef>
          <a:spcPts val="700"/>
        </a:spcBef>
        <a:spcAft>
          <a:spcPts val="0"/>
        </a:spcAft>
        <a:buClrTx/>
        <a:buSzPct val="100000"/>
        <a:buFont typeface="Arial"/>
        <a:buChar char="•"/>
        <a:tabLst/>
        <a:defRPr b="0" baseline="0" cap="none" i="0" spc="0" strike="noStrike" sz="21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Calibri"/>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2.jpeg"/><Relationship Id="rId4" Type="http://schemas.openxmlformats.org/officeDocument/2006/relationships/image" Target="../media/image3.jpeg"/><Relationship Id="rId5" Type="http://schemas.openxmlformats.org/officeDocument/2006/relationships/image" Target="../media/image4.jpeg"/></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png"/></Relationships>
</file>

<file path=ppt/slides/_rels/slide4.xml.rels><?xml version="1.0" encoding="UTF-8"?><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png"/></Relationships>
</file>

<file path=ppt/slides/_rels/slide5.xml.rels><?xml version="1.0" encoding="UTF-8"?><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9" name="Title 1"/>
          <p:cNvSpPr txBox="1"/>
          <p:nvPr>
            <p:ph type="ctrTitle"/>
          </p:nvPr>
        </p:nvSpPr>
        <p:spPr>
          <a:xfrm>
            <a:off x="305914" y="567957"/>
            <a:ext cx="8544875" cy="3380698"/>
          </a:xfrm>
          <a:prstGeom prst="rect">
            <a:avLst/>
          </a:prstGeom>
        </p:spPr>
        <p:txBody>
          <a:bodyPr anchor="ctr"/>
          <a:lstStyle/>
          <a:p>
            <a:pPr lvl="2" algn="r">
              <a:defRPr sz="2400">
                <a:latin typeface="Avenir Next Regular"/>
                <a:ea typeface="Avenir Next Regular"/>
                <a:cs typeface="Avenir Next Regular"/>
                <a:sym typeface="Avenir Next Regular"/>
              </a:defRPr>
            </a:pPr>
            <a:r>
              <a:rPr b="1" sz="3600"/>
              <a:t>Settleed</a:t>
            </a:r>
            <a:br>
              <a:rPr b="1" sz="3600"/>
            </a:br>
            <a:br/>
            <a:r>
              <a:t>Section 8 landlords will list on Settleed because they need a faster way to find qualified voucher holders, and tenants with vouchers will use Settleed because no other platform is built specifically for the Section 8 search experience.</a:t>
            </a:r>
            <a:br/>
            <a:br/>
            <a:r>
              <a:t xml:space="preserve">How many interviews so far? </a:t>
            </a:r>
            <a:r>
              <a:rPr b="1"/>
              <a:t>8</a:t>
            </a:r>
            <a:br>
              <a:rPr b="1"/>
            </a:br>
            <a:r>
              <a:t xml:space="preserve">How many interviews conducted since last time?   </a:t>
            </a:r>
            <a:r>
              <a:rPr b="1"/>
              <a:t>8</a:t>
            </a:r>
            <a:br>
              <a:rPr>
                <a:effectLst>
                  <a:outerShdw sx="100000" sy="100000" kx="0" ky="0" algn="b" rotWithShape="0" blurRad="38100" dist="38100" dir="2700000">
                    <a:srgbClr val="000000">
                      <a:alpha val="43137"/>
                    </a:srgbClr>
                  </a:outerShdw>
                </a:effectLst>
              </a:rPr>
            </a:br>
            <a:r>
              <a:t xml:space="preserve">How many since the latest pivot?   </a:t>
            </a:r>
            <a:r>
              <a:rPr b="1"/>
              <a:t>8</a:t>
            </a:r>
          </a:p>
        </p:txBody>
      </p:sp>
      <p:sp>
        <p:nvSpPr>
          <p:cNvPr id="120" name="TextBox 12"/>
          <p:cNvSpPr txBox="1"/>
          <p:nvPr/>
        </p:nvSpPr>
        <p:spPr>
          <a:xfrm>
            <a:off x="5944703" y="5682584"/>
            <a:ext cx="1051357" cy="62518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r>
              <a:t/>
            </a:r>
          </a:p>
          <a:p>
            <a:pPr algn="ctr"/>
            <a:r>
              <a:t/>
            </a:r>
          </a:p>
        </p:txBody>
      </p:sp>
      <p:sp>
        <p:nvSpPr>
          <p:cNvPr id="121" name="TextBox 13"/>
          <p:cNvSpPr txBox="1"/>
          <p:nvPr/>
        </p:nvSpPr>
        <p:spPr>
          <a:xfrm>
            <a:off x="7327354" y="5690730"/>
            <a:ext cx="1497017" cy="62518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r>
              <a:t/>
            </a:r>
          </a:p>
          <a:p>
            <a:pPr algn="ctr"/>
            <a:r>
              <a:t/>
            </a:r>
          </a:p>
        </p:txBody>
      </p:sp>
      <p:pic>
        <p:nvPicPr>
          <p:cNvPr id="122" name="Picture 14" descr="Picture 14"/>
          <p:cNvPicPr>
            <a:picLocks noChangeAspect="1"/>
          </p:cNvPicPr>
          <p:nvPr/>
        </p:nvPicPr>
        <p:blipFill>
          <a:blip r:embed="rId2">
            <a:extLst/>
          </a:blip>
          <a:stretch>
            <a:fillRect/>
          </a:stretch>
        </p:blipFill>
        <p:spPr>
          <a:xfrm>
            <a:off x="7437886" y="4330481"/>
            <a:ext cx="1275953" cy="1275952"/>
          </a:xfrm>
          <a:prstGeom prst="rect">
            <a:avLst/>
          </a:prstGeom>
          <a:ln w="12700">
            <a:miter lim="400000"/>
          </a:ln>
        </p:spPr>
      </p:pic>
      <p:pic>
        <p:nvPicPr>
          <p:cNvPr id="123" name="Picture 15" descr="Picture 15"/>
          <p:cNvPicPr>
            <a:picLocks noChangeAspect="1"/>
          </p:cNvPicPr>
          <p:nvPr/>
        </p:nvPicPr>
        <p:blipFill>
          <a:blip r:embed="rId3">
            <a:extLst/>
          </a:blip>
          <a:stretch>
            <a:fillRect/>
          </a:stretch>
        </p:blipFill>
        <p:spPr>
          <a:xfrm>
            <a:off x="5920228" y="4330481"/>
            <a:ext cx="1100308" cy="1275952"/>
          </a:xfrm>
          <a:prstGeom prst="rect">
            <a:avLst/>
          </a:prstGeom>
          <a:ln w="12700">
            <a:miter lim="400000"/>
          </a:ln>
        </p:spPr>
      </p:pic>
      <p:pic>
        <p:nvPicPr>
          <p:cNvPr id="124" name="Picture 17" descr="Picture 17"/>
          <p:cNvPicPr>
            <a:picLocks noChangeAspect="1"/>
          </p:cNvPicPr>
          <p:nvPr/>
        </p:nvPicPr>
        <p:blipFill>
          <a:blip r:embed="rId4">
            <a:extLst/>
          </a:blip>
          <a:stretch>
            <a:fillRect/>
          </a:stretch>
        </p:blipFill>
        <p:spPr>
          <a:xfrm>
            <a:off x="3188519" y="4326273"/>
            <a:ext cx="956170" cy="1280161"/>
          </a:xfrm>
          <a:prstGeom prst="rect">
            <a:avLst/>
          </a:prstGeom>
          <a:ln w="12700">
            <a:miter lim="400000"/>
          </a:ln>
        </p:spPr>
      </p:pic>
      <p:pic>
        <p:nvPicPr>
          <p:cNvPr id="125" name="Picture 18" descr="Picture 18"/>
          <p:cNvPicPr>
            <a:picLocks noChangeAspect="1"/>
          </p:cNvPicPr>
          <p:nvPr/>
        </p:nvPicPr>
        <p:blipFill>
          <a:blip r:embed="rId5">
            <a:extLst/>
          </a:blip>
          <a:stretch>
            <a:fillRect/>
          </a:stretch>
        </p:blipFill>
        <p:spPr>
          <a:xfrm>
            <a:off x="4562038" y="4326273"/>
            <a:ext cx="940841" cy="1280161"/>
          </a:xfrm>
          <a:prstGeom prst="rect">
            <a:avLst/>
          </a:prstGeom>
          <a:ln w="12700">
            <a:miter lim="400000"/>
          </a:ln>
        </p:spPr>
      </p:pic>
      <p:sp>
        <p:nvSpPr>
          <p:cNvPr id="126" name="TextBox 19"/>
          <p:cNvSpPr txBox="1"/>
          <p:nvPr/>
        </p:nvSpPr>
        <p:spPr>
          <a:xfrm>
            <a:off x="2919601" y="5690730"/>
            <a:ext cx="1494007" cy="62518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r>
              <a:t>Demetrius</a:t>
            </a:r>
          </a:p>
          <a:p>
            <a:pPr algn="ctr"/>
            <a:r>
              <a:t>Wilburn</a:t>
            </a:r>
          </a:p>
        </p:txBody>
      </p:sp>
      <p:sp>
        <p:nvSpPr>
          <p:cNvPr id="127" name="TextBox 20"/>
          <p:cNvSpPr txBox="1"/>
          <p:nvPr/>
        </p:nvSpPr>
        <p:spPr>
          <a:xfrm>
            <a:off x="4437172" y="5682584"/>
            <a:ext cx="1190575" cy="62518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r>
              <a:t/>
            </a:r>
          </a:p>
          <a:p>
            <a:pPr algn="ctr"/>
            <a:r>
              <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9" name="Title 1"/>
          <p:cNvSpPr txBox="1"/>
          <p:nvPr>
            <p:ph type="title"/>
          </p:nvPr>
        </p:nvSpPr>
        <p:spPr>
          <a:xfrm>
            <a:off x="628650" y="365125"/>
            <a:ext cx="7886700" cy="694484"/>
          </a:xfrm>
          <a:prstGeom prst="rect">
            <a:avLst/>
          </a:prstGeom>
        </p:spPr>
        <p:txBody>
          <a:bodyPr/>
          <a:lstStyle>
            <a:lvl1pPr defTabSz="672084">
              <a:defRPr b="1" sz="3528">
                <a:latin typeface="Avenir Next Regular"/>
                <a:ea typeface="Avenir Next Regular"/>
                <a:cs typeface="Avenir Next Regular"/>
                <a:sym typeface="Avenir Next Regular"/>
              </a:defRPr>
            </a:lvl1pPr>
          </a:lstStyle>
          <a:p>
            <a:pPr/>
            <a:r>
              <a:t>Customer Discovery Report — Landlords</a:t>
            </a:r>
          </a:p>
        </p:txBody>
      </p:sp>
      <p:sp>
        <p:nvSpPr>
          <p:cNvPr id="130" name="Content Placeholder 2"/>
          <p:cNvSpPr txBox="1"/>
          <p:nvPr>
            <p:ph type="body" idx="1"/>
          </p:nvPr>
        </p:nvSpPr>
        <p:spPr>
          <a:xfrm>
            <a:off x="628650" y="1022151"/>
            <a:ext cx="7886700" cy="5154812"/>
          </a:xfrm>
          <a:prstGeom prst="rect">
            <a:avLst/>
          </a:prstGeom>
        </p:spPr>
        <p:txBody>
          <a:bodyPr/>
          <a:lstStyle/>
          <a:p>
            <a:pPr marL="0" indent="0" defTabSz="438911">
              <a:spcBef>
                <a:spcPts val="400"/>
              </a:spcBef>
              <a:buSzTx/>
              <a:buFontTx/>
              <a:buNone/>
              <a:defRPr i="1" sz="2048">
                <a:latin typeface="Avenir Next Demi Bold"/>
                <a:ea typeface="Avenir Next Demi Bold"/>
                <a:cs typeface="Avenir Next Demi Bold"/>
                <a:sym typeface="Avenir Next Demi Bold"/>
              </a:defRPr>
            </a:pPr>
            <a:r>
              <a:t>What did we think?</a:t>
            </a:r>
          </a:p>
          <a:p>
            <a:pPr lvl="2" marL="0" indent="292607" defTabSz="438911">
              <a:spcBef>
                <a:spcPts val="400"/>
              </a:spcBef>
              <a:buSzTx/>
              <a:buFontTx/>
              <a:buNone/>
              <a:defRPr sz="2048">
                <a:latin typeface="Avenir Next Regular"/>
                <a:ea typeface="Avenir Next Regular"/>
                <a:cs typeface="Avenir Next Regular"/>
                <a:sym typeface="Avenir Next Regular"/>
              </a:defRPr>
            </a:pPr>
            <a:r>
              <a:t>We believed landlords who accept Section 8 struggle primarily because they cannot find tenants fast enough, and that most of the pain was around advertising costs and vacancy time. We assumed landlords were comfortable with the AHA process but just lacked a good channel to find tenants.</a:t>
            </a:r>
          </a:p>
          <a:p>
            <a:pPr marL="0" indent="0" defTabSz="438911">
              <a:spcBef>
                <a:spcPts val="400"/>
              </a:spcBef>
              <a:buSzTx/>
              <a:buFontTx/>
              <a:buNone/>
              <a:defRPr i="1" sz="2048">
                <a:latin typeface="Avenir Next Demi Bold"/>
                <a:ea typeface="Avenir Next Demi Bold"/>
                <a:cs typeface="Avenir Next Demi Bold"/>
                <a:sym typeface="Avenir Next Demi Bold"/>
              </a:defRPr>
            </a:pPr>
            <a:r>
              <a:t>What did we do?</a:t>
            </a:r>
          </a:p>
          <a:p>
            <a:pPr lvl="2" marL="0" indent="292607" defTabSz="438911">
              <a:spcBef>
                <a:spcPts val="400"/>
              </a:spcBef>
              <a:buSzTx/>
              <a:buFontTx/>
              <a:buNone/>
              <a:defRPr sz="2048">
                <a:latin typeface="Avenir Next Regular"/>
                <a:ea typeface="Avenir Next Regular"/>
                <a:cs typeface="Avenir Next Regular"/>
                <a:sym typeface="Avenir Next Regular"/>
              </a:defRPr>
            </a:pPr>
            <a:r>
              <a:t>We conducted 5 in-depth interviews with active Section 8 landlords in the Atlanta metro area, ranging from single-unit owners to landlords managing 10 or more units. We spoke with both AHA participants and DCA landlords.</a:t>
            </a:r>
          </a:p>
          <a:p>
            <a:pPr marL="0" indent="0" defTabSz="438911">
              <a:spcBef>
                <a:spcPts val="400"/>
              </a:spcBef>
              <a:buSzTx/>
              <a:buFontTx/>
              <a:buNone/>
              <a:defRPr i="1" sz="2048">
                <a:latin typeface="Avenir Next Demi Bold"/>
                <a:ea typeface="Avenir Next Demi Bold"/>
                <a:cs typeface="Avenir Next Demi Bold"/>
                <a:sym typeface="Avenir Next Demi Bold"/>
              </a:defRPr>
            </a:pPr>
            <a:r>
              <a:t>What did we learn?</a:t>
            </a:r>
          </a:p>
          <a:p>
            <a:pPr lvl="2" marL="0" indent="292607" defTabSz="438911">
              <a:spcBef>
                <a:spcPts val="400"/>
              </a:spcBef>
              <a:buSzTx/>
              <a:buFontTx/>
              <a:buNone/>
              <a:defRPr sz="2048">
                <a:latin typeface="Avenir Next Regular"/>
                <a:ea typeface="Avenir Next Regular"/>
                <a:cs typeface="Avenir Next Regular"/>
                <a:sym typeface="Avenir Next Regular"/>
              </a:defRPr>
            </a:pPr>
            <a:r>
              <a:t>The biggest pain is not advertising cost but the complexity of the HAP contract process and unexpected HQS inspection failures. Landlords described being caught off guard by inspection dates and losing payment while units sit vacant. Every landlord we spoke with wanted a curated pipeline of pre-screened, voucher-approved tenants who are ready to move quickly. Several mentioned they stopped accepting new Section 8 tenants specifically because finding them felt too unreliable.</a:t>
            </a:r>
          </a:p>
          <a:p>
            <a:pPr marL="0" indent="0" defTabSz="438911">
              <a:spcBef>
                <a:spcPts val="400"/>
              </a:spcBef>
              <a:buSzTx/>
              <a:buFontTx/>
              <a:buNone/>
              <a:defRPr i="1" sz="2048">
                <a:latin typeface="Avenir Next Demi Bold"/>
                <a:ea typeface="Avenir Next Demi Bold"/>
                <a:cs typeface="Avenir Next Demi Bold"/>
                <a:sym typeface="Avenir Next Demi Bold"/>
              </a:defRPr>
            </a:pPr>
            <a:r>
              <a:t>What to do next?</a:t>
            </a:r>
          </a:p>
          <a:p>
            <a:pPr lvl="2" marL="0" indent="292607" defTabSz="438911">
              <a:spcBef>
                <a:spcPts val="400"/>
              </a:spcBef>
              <a:buSzTx/>
              <a:buFontTx/>
              <a:buNone/>
              <a:defRPr sz="2048">
                <a:latin typeface="Avenir Next Regular"/>
                <a:ea typeface="Avenir Next Regular"/>
                <a:cs typeface="Avenir Next Regular"/>
                <a:sym typeface="Avenir Next Regular"/>
              </a:defRPr>
            </a:pPr>
            <a:r>
              <a:t>Validate willingness to pay $49/month for a verified tenant pipeline with built-in HQS inspection tracking. Test whether landlords will self-serve listings or need hands-on onboarding. Conduct 5 more interviews targeting landlords who recently stopped accepting Section 8 to understand the dropout rate.</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pic>
        <p:nvPicPr>
          <p:cNvPr id="132" name="Business_Model_Canvas.png" descr="Business_Model_Canvas.png"/>
          <p:cNvPicPr>
            <a:picLocks noChangeAspect="1"/>
          </p:cNvPicPr>
          <p:nvPr/>
        </p:nvPicPr>
        <p:blipFill>
          <a:blip r:embed="rId2">
            <a:extLst/>
          </a:blip>
          <a:stretch>
            <a:fillRect/>
          </a:stretch>
        </p:blipFill>
        <p:spPr>
          <a:xfrm>
            <a:off x="111347" y="455231"/>
            <a:ext cx="8921306" cy="5947538"/>
          </a:xfrm>
          <a:prstGeom prst="rect">
            <a:avLst/>
          </a:prstGeom>
          <a:ln w="12700">
            <a:miter lim="400000"/>
          </a:ln>
          <a:effectLst>
            <a:outerShdw sx="100000" sy="100000" kx="0" ky="0" algn="b" rotWithShape="0" blurRad="38100" dist="0" dir="5400000">
              <a:srgbClr val="000000"/>
            </a:outerShdw>
          </a:effectLst>
        </p:spPr>
      </p:pic>
      <p:sp>
        <p:nvSpPr>
          <p:cNvPr id="133" name="Your Current Canvas Goes Here"/>
          <p:cNvSpPr txBox="1"/>
          <p:nvPr/>
        </p:nvSpPr>
        <p:spPr>
          <a:xfrm>
            <a:off x="418541" y="2278379"/>
            <a:ext cx="8306918" cy="23012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gn="ctr">
              <a:defRPr b="1" sz="6400">
                <a:solidFill>
                  <a:srgbClr val="FF2600"/>
                </a:solidFill>
                <a:latin typeface="Avenir Next Regular"/>
                <a:ea typeface="Avenir Next Regular"/>
                <a:cs typeface="Avenir Next Regular"/>
                <a:sym typeface="Avenir Next Regular"/>
              </a:defRPr>
            </a:lvl1pPr>
          </a:lstStyle>
          <a:p>
            <a:pPr/>
            <a:r>
              <a:t>Your Current Canvas Goes Here</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grpSp>
        <p:nvGrpSpPr>
          <p:cNvPr id="140" name="Group"/>
          <p:cNvGrpSpPr/>
          <p:nvPr/>
        </p:nvGrpSpPr>
        <p:grpSpPr>
          <a:xfrm>
            <a:off x="514151" y="142676"/>
            <a:ext cx="8115872" cy="5912346"/>
            <a:chOff x="0" y="0"/>
            <a:chExt cx="8115871" cy="5912344"/>
          </a:xfrm>
        </p:grpSpPr>
        <p:pic>
          <p:nvPicPr>
            <p:cNvPr id="135" name="Business_Model_Canvas.png" descr="Business_Model_Canvas.png"/>
            <p:cNvPicPr>
              <a:picLocks noChangeAspect="1"/>
            </p:cNvPicPr>
            <p:nvPr/>
          </p:nvPicPr>
          <p:blipFill>
            <a:blip r:embed="rId2">
              <a:extLst/>
            </a:blip>
            <a:srcRect l="40389" t="10251" r="2643" b="27498"/>
            <a:stretch>
              <a:fillRect/>
            </a:stretch>
          </p:blipFill>
          <p:spPr>
            <a:xfrm>
              <a:off x="0" y="0"/>
              <a:ext cx="8115872" cy="5912345"/>
            </a:xfrm>
            <a:prstGeom prst="rect">
              <a:avLst/>
            </a:prstGeom>
            <a:ln w="12700" cap="flat">
              <a:noFill/>
              <a:miter lim="400000"/>
            </a:ln>
            <a:effectLst>
              <a:outerShdw sx="100000" sy="100000" kx="0" ky="0" algn="b" rotWithShape="0" blurRad="38100" dist="0" dir="5400000">
                <a:srgbClr val="000000"/>
              </a:outerShdw>
            </a:effectLst>
          </p:spPr>
        </p:pic>
        <p:sp>
          <p:nvSpPr>
            <p:cNvPr id="136" name="Rectangle"/>
            <p:cNvSpPr/>
            <p:nvPr/>
          </p:nvSpPr>
          <p:spPr>
            <a:xfrm>
              <a:off x="146248" y="644723"/>
              <a:ext cx="2501355" cy="1270001"/>
            </a:xfrm>
            <a:prstGeom prst="rect">
              <a:avLst/>
            </a:prstGeom>
            <a:solidFill>
              <a:srgbClr val="FFFFFF"/>
            </a:solidFill>
            <a:ln w="12700" cap="flat">
              <a:noFill/>
              <a:miter lim="400000"/>
            </a:ln>
            <a:effectLst/>
          </p:spPr>
          <p:txBody>
            <a:bodyPr wrap="square" lIns="45719" tIns="45719" rIns="45719" bIns="45719" numCol="1" anchor="ctr">
              <a:noAutofit/>
            </a:bodyPr>
            <a:lstStyle/>
            <a:p>
              <a:pPr/>
            </a:p>
          </p:txBody>
        </p:sp>
        <p:sp>
          <p:nvSpPr>
            <p:cNvPr id="137" name="Rectangle"/>
            <p:cNvSpPr/>
            <p:nvPr/>
          </p:nvSpPr>
          <p:spPr>
            <a:xfrm>
              <a:off x="5480248" y="644723"/>
              <a:ext cx="2060725" cy="1270001"/>
            </a:xfrm>
            <a:prstGeom prst="rect">
              <a:avLst/>
            </a:prstGeom>
            <a:solidFill>
              <a:srgbClr val="FFFFFF"/>
            </a:solidFill>
            <a:ln w="12700" cap="flat">
              <a:noFill/>
              <a:miter lim="400000"/>
            </a:ln>
            <a:effectLst/>
          </p:spPr>
          <p:txBody>
            <a:bodyPr wrap="square" lIns="45719" tIns="45719" rIns="45719" bIns="45719" numCol="1" anchor="ctr">
              <a:noAutofit/>
            </a:bodyPr>
            <a:lstStyle/>
            <a:p>
              <a:pPr/>
            </a:p>
          </p:txBody>
        </p:sp>
        <p:sp>
          <p:nvSpPr>
            <p:cNvPr id="138" name="Rectangle"/>
            <p:cNvSpPr/>
            <p:nvPr/>
          </p:nvSpPr>
          <p:spPr>
            <a:xfrm>
              <a:off x="2762448" y="555823"/>
              <a:ext cx="2060725" cy="1270001"/>
            </a:xfrm>
            <a:prstGeom prst="rect">
              <a:avLst/>
            </a:prstGeom>
            <a:solidFill>
              <a:srgbClr val="FFFFFF"/>
            </a:solidFill>
            <a:ln w="12700" cap="flat">
              <a:noFill/>
              <a:miter lim="400000"/>
            </a:ln>
            <a:effectLst/>
          </p:spPr>
          <p:txBody>
            <a:bodyPr wrap="square" lIns="45719" tIns="45719" rIns="45719" bIns="45719" numCol="1" anchor="ctr">
              <a:noAutofit/>
            </a:bodyPr>
            <a:lstStyle/>
            <a:p>
              <a:pPr/>
            </a:p>
          </p:txBody>
        </p:sp>
        <p:sp>
          <p:nvSpPr>
            <p:cNvPr id="139" name="Rectangle"/>
            <p:cNvSpPr/>
            <p:nvPr/>
          </p:nvSpPr>
          <p:spPr>
            <a:xfrm>
              <a:off x="2762448" y="3438723"/>
              <a:ext cx="2060725" cy="1270001"/>
            </a:xfrm>
            <a:prstGeom prst="rect">
              <a:avLst/>
            </a:prstGeom>
            <a:solidFill>
              <a:srgbClr val="FFFFFF"/>
            </a:solidFill>
            <a:ln w="12700" cap="flat">
              <a:noFill/>
              <a:miter lim="400000"/>
            </a:ln>
            <a:effectLst/>
          </p:spPr>
          <p:txBody>
            <a:bodyPr wrap="square" lIns="45719" tIns="45719" rIns="45719" bIns="45719" numCol="1" anchor="ctr">
              <a:noAutofit/>
            </a:bodyPr>
            <a:lstStyle/>
            <a:p>
              <a:pPr/>
            </a:p>
          </p:txBody>
        </p:sp>
      </p:grpSp>
      <p:sp>
        <p:nvSpPr>
          <p:cNvPr id="141" name="VP1"/>
          <p:cNvSpPr txBox="1"/>
          <p:nvPr/>
        </p:nvSpPr>
        <p:spPr>
          <a:xfrm>
            <a:off x="868527" y="1176020"/>
            <a:ext cx="1867062" cy="650241"/>
          </a:xfrm>
          <a:prstGeom prst="rect">
            <a:avLst/>
          </a:prstGeom>
          <a:solidFill>
            <a:schemeClr val="accent4"/>
          </a:solidFill>
          <a:ln w="12700">
            <a:miter lim="400000"/>
          </a:ln>
          <a:extLst>
            <a:ext uri="{C572A759-6A51-4108-AA02-DFA0A04FC94B}">
              <ma14:wrappingTextBoxFlag xmlns:ma14="http://schemas.microsoft.com/office/mac/drawingml/2011/main" val="1"/>
            </a:ext>
          </a:extLst>
        </p:spPr>
        <p:txBody>
          <a:bodyPr lIns="45719" rIns="45719">
            <a:spAutoFit/>
          </a:bodyPr>
          <a:lstStyle/>
          <a:p>
            <a:pPr defTabSz="685800">
              <a:lnSpc>
                <a:spcPct val="90000"/>
              </a:lnSpc>
              <a:spcBef>
                <a:spcPts val="700"/>
              </a:spcBef>
              <a:buFont typeface="Arial"/>
              <a:defRPr i="1" sz="3200">
                <a:latin typeface="Avenir Next Demi Bold"/>
                <a:ea typeface="Avenir Next Demi Bold"/>
                <a:cs typeface="Avenir Next Demi Bold"/>
                <a:sym typeface="Avenir Next Demi Bold"/>
              </a:defRPr>
            </a:pPr>
            <a:r>
              <a:t>VP</a:t>
            </a:r>
            <a:r>
              <a:rPr baseline="-5999"/>
              <a:t>1</a:t>
            </a:r>
          </a:p>
        </p:txBody>
      </p:sp>
      <p:sp>
        <p:nvSpPr>
          <p:cNvPr id="142" name="CS1"/>
          <p:cNvSpPr txBox="1"/>
          <p:nvPr/>
        </p:nvSpPr>
        <p:spPr>
          <a:xfrm>
            <a:off x="6266027" y="1176020"/>
            <a:ext cx="1867062" cy="650241"/>
          </a:xfrm>
          <a:prstGeom prst="rect">
            <a:avLst/>
          </a:prstGeom>
          <a:solidFill>
            <a:schemeClr val="accent4"/>
          </a:solidFill>
          <a:ln w="12700">
            <a:miter lim="400000"/>
          </a:ln>
          <a:extLst>
            <a:ext uri="{C572A759-6A51-4108-AA02-DFA0A04FC94B}">
              <ma14:wrappingTextBoxFlag xmlns:ma14="http://schemas.microsoft.com/office/mac/drawingml/2011/main" val="1"/>
            </a:ext>
          </a:extLst>
        </p:spPr>
        <p:txBody>
          <a:bodyPr lIns="45719" rIns="45719">
            <a:spAutoFit/>
          </a:bodyPr>
          <a:lstStyle/>
          <a:p>
            <a:pPr defTabSz="685800">
              <a:lnSpc>
                <a:spcPct val="90000"/>
              </a:lnSpc>
              <a:spcBef>
                <a:spcPts val="700"/>
              </a:spcBef>
              <a:buFont typeface="Arial"/>
              <a:defRPr i="1" sz="3200">
                <a:latin typeface="Avenir Next Demi Bold"/>
                <a:ea typeface="Avenir Next Demi Bold"/>
                <a:cs typeface="Avenir Next Demi Bold"/>
                <a:sym typeface="Avenir Next Demi Bold"/>
              </a:defRPr>
            </a:pPr>
            <a:r>
              <a:t>CS</a:t>
            </a:r>
            <a:r>
              <a:rPr baseline="-5999"/>
              <a:t>1</a:t>
            </a:r>
          </a:p>
        </p:txBody>
      </p:sp>
      <p:sp>
        <p:nvSpPr>
          <p:cNvPr id="143" name="VP2"/>
          <p:cNvSpPr txBox="1"/>
          <p:nvPr/>
        </p:nvSpPr>
        <p:spPr>
          <a:xfrm>
            <a:off x="868527" y="1925320"/>
            <a:ext cx="1867062" cy="650241"/>
          </a:xfrm>
          <a:prstGeom prst="rect">
            <a:avLst/>
          </a:prstGeom>
          <a:solidFill>
            <a:schemeClr val="accent4"/>
          </a:solidFill>
          <a:ln w="12700">
            <a:miter lim="400000"/>
          </a:ln>
          <a:extLst>
            <a:ext uri="{C572A759-6A51-4108-AA02-DFA0A04FC94B}">
              <ma14:wrappingTextBoxFlag xmlns:ma14="http://schemas.microsoft.com/office/mac/drawingml/2011/main" val="1"/>
            </a:ext>
          </a:extLst>
        </p:spPr>
        <p:txBody>
          <a:bodyPr lIns="45719" rIns="45719">
            <a:spAutoFit/>
          </a:bodyPr>
          <a:lstStyle/>
          <a:p>
            <a:pPr defTabSz="685800">
              <a:lnSpc>
                <a:spcPct val="90000"/>
              </a:lnSpc>
              <a:spcBef>
                <a:spcPts val="700"/>
              </a:spcBef>
              <a:buFont typeface="Arial"/>
              <a:defRPr i="1" sz="3200">
                <a:latin typeface="Avenir Next Demi Bold"/>
                <a:ea typeface="Avenir Next Demi Bold"/>
                <a:cs typeface="Avenir Next Demi Bold"/>
                <a:sym typeface="Avenir Next Demi Bold"/>
              </a:defRPr>
            </a:pPr>
            <a:r>
              <a:t>VP</a:t>
            </a:r>
            <a:r>
              <a:rPr baseline="-5999"/>
              <a:t>2</a:t>
            </a:r>
          </a:p>
        </p:txBody>
      </p:sp>
      <p:sp>
        <p:nvSpPr>
          <p:cNvPr id="144" name="CS2"/>
          <p:cNvSpPr txBox="1"/>
          <p:nvPr/>
        </p:nvSpPr>
        <p:spPr>
          <a:xfrm>
            <a:off x="6266027" y="1925320"/>
            <a:ext cx="1867062" cy="650241"/>
          </a:xfrm>
          <a:prstGeom prst="rect">
            <a:avLst/>
          </a:prstGeom>
          <a:solidFill>
            <a:schemeClr val="accent6">
              <a:satOff val="-3457"/>
              <a:lumOff val="13039"/>
            </a:schemeClr>
          </a:solidFill>
          <a:ln w="12700">
            <a:miter lim="400000"/>
          </a:ln>
          <a:extLst>
            <a:ext uri="{C572A759-6A51-4108-AA02-DFA0A04FC94B}">
              <ma14:wrappingTextBoxFlag xmlns:ma14="http://schemas.microsoft.com/office/mac/drawingml/2011/main" val="1"/>
            </a:ext>
          </a:extLst>
        </p:spPr>
        <p:txBody>
          <a:bodyPr lIns="45719" rIns="45719">
            <a:spAutoFit/>
          </a:bodyPr>
          <a:lstStyle/>
          <a:p>
            <a:pPr defTabSz="685800">
              <a:lnSpc>
                <a:spcPct val="90000"/>
              </a:lnSpc>
              <a:spcBef>
                <a:spcPts val="700"/>
              </a:spcBef>
              <a:buFont typeface="Arial"/>
              <a:defRPr i="1" sz="3200">
                <a:latin typeface="Avenir Next Demi Bold"/>
                <a:ea typeface="Avenir Next Demi Bold"/>
                <a:cs typeface="Avenir Next Demi Bold"/>
                <a:sym typeface="Avenir Next Demi Bold"/>
              </a:defRPr>
            </a:pPr>
            <a:r>
              <a:t>CS</a:t>
            </a:r>
            <a:r>
              <a:rPr baseline="-5999"/>
              <a:t>2</a:t>
            </a:r>
          </a:p>
        </p:txBody>
      </p:sp>
      <p:sp>
        <p:nvSpPr>
          <p:cNvPr id="145" name="VP3"/>
          <p:cNvSpPr txBox="1"/>
          <p:nvPr/>
        </p:nvSpPr>
        <p:spPr>
          <a:xfrm>
            <a:off x="868527" y="2674620"/>
            <a:ext cx="1867062" cy="650241"/>
          </a:xfrm>
          <a:prstGeom prst="rect">
            <a:avLst/>
          </a:prstGeom>
          <a:solidFill>
            <a:schemeClr val="accent6">
              <a:satOff val="-3457"/>
              <a:lumOff val="13039"/>
            </a:schemeClr>
          </a:solidFill>
          <a:ln w="12700">
            <a:miter lim="400000"/>
          </a:ln>
          <a:extLst>
            <a:ext uri="{C572A759-6A51-4108-AA02-DFA0A04FC94B}">
              <ma14:wrappingTextBoxFlag xmlns:ma14="http://schemas.microsoft.com/office/mac/drawingml/2011/main" val="1"/>
            </a:ext>
          </a:extLst>
        </p:spPr>
        <p:txBody>
          <a:bodyPr lIns="45719" rIns="45719">
            <a:spAutoFit/>
          </a:bodyPr>
          <a:lstStyle/>
          <a:p>
            <a:pPr defTabSz="685800">
              <a:lnSpc>
                <a:spcPct val="90000"/>
              </a:lnSpc>
              <a:spcBef>
                <a:spcPts val="700"/>
              </a:spcBef>
              <a:buFont typeface="Arial"/>
              <a:defRPr i="1" sz="3200">
                <a:latin typeface="Avenir Next Demi Bold"/>
                <a:ea typeface="Avenir Next Demi Bold"/>
                <a:cs typeface="Avenir Next Demi Bold"/>
                <a:sym typeface="Avenir Next Demi Bold"/>
              </a:defRPr>
            </a:pPr>
            <a:r>
              <a:t>VP</a:t>
            </a:r>
            <a:r>
              <a:rPr baseline="-5999"/>
              <a:t>3</a:t>
            </a:r>
          </a:p>
        </p:txBody>
      </p:sp>
      <p:sp>
        <p:nvSpPr>
          <p:cNvPr id="146" name="CS3"/>
          <p:cNvSpPr txBox="1"/>
          <p:nvPr/>
        </p:nvSpPr>
        <p:spPr>
          <a:xfrm>
            <a:off x="6266027" y="2674620"/>
            <a:ext cx="1867062" cy="650241"/>
          </a:xfrm>
          <a:prstGeom prst="rect">
            <a:avLst/>
          </a:prstGeom>
          <a:solidFill>
            <a:schemeClr val="accent1">
              <a:lumOff val="20196"/>
            </a:schemeClr>
          </a:solidFill>
          <a:ln w="12700">
            <a:miter lim="400000"/>
          </a:ln>
          <a:extLst>
            <a:ext uri="{C572A759-6A51-4108-AA02-DFA0A04FC94B}">
              <ma14:wrappingTextBoxFlag xmlns:ma14="http://schemas.microsoft.com/office/mac/drawingml/2011/main" val="1"/>
            </a:ext>
          </a:extLst>
        </p:spPr>
        <p:txBody>
          <a:bodyPr lIns="45719" rIns="45719">
            <a:spAutoFit/>
          </a:bodyPr>
          <a:lstStyle/>
          <a:p>
            <a:pPr defTabSz="685800">
              <a:lnSpc>
                <a:spcPct val="90000"/>
              </a:lnSpc>
              <a:spcBef>
                <a:spcPts val="700"/>
              </a:spcBef>
              <a:buFont typeface="Arial"/>
              <a:defRPr i="1" sz="3200">
                <a:latin typeface="Avenir Next Demi Bold"/>
                <a:ea typeface="Avenir Next Demi Bold"/>
                <a:cs typeface="Avenir Next Demi Bold"/>
                <a:sym typeface="Avenir Next Demi Bold"/>
              </a:defRPr>
            </a:pPr>
            <a:r>
              <a:t>CS</a:t>
            </a:r>
            <a:r>
              <a:rPr baseline="-5999"/>
              <a:t>3</a:t>
            </a:r>
          </a:p>
        </p:txBody>
      </p:sp>
      <p:sp>
        <p:nvSpPr>
          <p:cNvPr id="147" name="VP4"/>
          <p:cNvSpPr txBox="1"/>
          <p:nvPr/>
        </p:nvSpPr>
        <p:spPr>
          <a:xfrm>
            <a:off x="868527" y="3429000"/>
            <a:ext cx="1867062" cy="650241"/>
          </a:xfrm>
          <a:prstGeom prst="rect">
            <a:avLst/>
          </a:prstGeom>
          <a:solidFill>
            <a:schemeClr val="accent1">
              <a:lumOff val="20196"/>
            </a:schemeClr>
          </a:solidFill>
          <a:ln w="12700">
            <a:miter lim="400000"/>
          </a:ln>
          <a:extLst>
            <a:ext uri="{C572A759-6A51-4108-AA02-DFA0A04FC94B}">
              <ma14:wrappingTextBoxFlag xmlns:ma14="http://schemas.microsoft.com/office/mac/drawingml/2011/main" val="1"/>
            </a:ext>
          </a:extLst>
        </p:spPr>
        <p:txBody>
          <a:bodyPr lIns="45719" rIns="45719">
            <a:spAutoFit/>
          </a:bodyPr>
          <a:lstStyle/>
          <a:p>
            <a:pPr defTabSz="685800">
              <a:lnSpc>
                <a:spcPct val="90000"/>
              </a:lnSpc>
              <a:spcBef>
                <a:spcPts val="700"/>
              </a:spcBef>
              <a:buFont typeface="Arial"/>
              <a:defRPr i="1" sz="3200">
                <a:latin typeface="Avenir Next Demi Bold"/>
                <a:ea typeface="Avenir Next Demi Bold"/>
                <a:cs typeface="Avenir Next Demi Bold"/>
                <a:sym typeface="Avenir Next Demi Bold"/>
              </a:defRPr>
            </a:pPr>
            <a:r>
              <a:t>VP</a:t>
            </a:r>
            <a:r>
              <a:rPr baseline="-5999"/>
              <a:t>4</a:t>
            </a:r>
          </a:p>
        </p:txBody>
      </p:sp>
      <p:sp>
        <p:nvSpPr>
          <p:cNvPr id="148" name="VP5"/>
          <p:cNvSpPr txBox="1"/>
          <p:nvPr/>
        </p:nvSpPr>
        <p:spPr>
          <a:xfrm>
            <a:off x="868527" y="4173220"/>
            <a:ext cx="1867062" cy="650241"/>
          </a:xfrm>
          <a:prstGeom prst="rect">
            <a:avLst/>
          </a:prstGeom>
          <a:solidFill>
            <a:schemeClr val="accent1">
              <a:lumOff val="20196"/>
            </a:schemeClr>
          </a:solidFill>
          <a:ln w="12700">
            <a:miter lim="400000"/>
          </a:ln>
          <a:extLst>
            <a:ext uri="{C572A759-6A51-4108-AA02-DFA0A04FC94B}">
              <ma14:wrappingTextBoxFlag xmlns:ma14="http://schemas.microsoft.com/office/mac/drawingml/2011/main" val="1"/>
            </a:ext>
          </a:extLst>
        </p:spPr>
        <p:txBody>
          <a:bodyPr lIns="45719" rIns="45719">
            <a:spAutoFit/>
          </a:bodyPr>
          <a:lstStyle/>
          <a:p>
            <a:pPr defTabSz="685800">
              <a:lnSpc>
                <a:spcPct val="90000"/>
              </a:lnSpc>
              <a:spcBef>
                <a:spcPts val="700"/>
              </a:spcBef>
              <a:buFont typeface="Arial"/>
              <a:defRPr i="1" sz="3200">
                <a:latin typeface="Avenir Next Demi Bold"/>
                <a:ea typeface="Avenir Next Demi Bold"/>
                <a:cs typeface="Avenir Next Demi Bold"/>
                <a:sym typeface="Avenir Next Demi Bold"/>
              </a:defRPr>
            </a:pPr>
            <a:r>
              <a:t>VP</a:t>
            </a:r>
            <a:r>
              <a:rPr baseline="-5999"/>
              <a:t>5</a:t>
            </a:r>
          </a:p>
        </p:txBody>
      </p:sp>
      <p:sp>
        <p:nvSpPr>
          <p:cNvPr id="149" name="Rectangle"/>
          <p:cNvSpPr/>
          <p:nvPr/>
        </p:nvSpPr>
        <p:spPr>
          <a:xfrm>
            <a:off x="2045196" y="1960880"/>
            <a:ext cx="672604" cy="619761"/>
          </a:xfrm>
          <a:prstGeom prst="rect">
            <a:avLst/>
          </a:prstGeom>
          <a:solidFill>
            <a:schemeClr val="accent6">
              <a:satOff val="-3457"/>
              <a:lumOff val="13039"/>
            </a:schemeClr>
          </a:solidFill>
          <a:ln w="12700">
            <a:miter lim="400000"/>
          </a:ln>
        </p:spPr>
        <p:txBody>
          <a:bodyPr lIns="45719" rIns="45719" anchor="ctr"/>
          <a:lstStyle/>
          <a:p>
            <a:pPr/>
          </a:p>
        </p:txBody>
      </p:sp>
      <p:sp>
        <p:nvSpPr>
          <p:cNvPr id="150" name="Rectangle"/>
          <p:cNvSpPr/>
          <p:nvPr/>
        </p:nvSpPr>
        <p:spPr>
          <a:xfrm>
            <a:off x="2368946" y="1955800"/>
            <a:ext cx="335262" cy="619761"/>
          </a:xfrm>
          <a:prstGeom prst="rect">
            <a:avLst/>
          </a:prstGeom>
          <a:solidFill>
            <a:schemeClr val="accent1">
              <a:lumOff val="20196"/>
            </a:schemeClr>
          </a:solidFill>
          <a:ln w="12700">
            <a:miter lim="400000"/>
          </a:ln>
        </p:spPr>
        <p:txBody>
          <a:bodyPr lIns="45719" rIns="45719" anchor="ctr"/>
          <a:lstStyle/>
          <a:p>
            <a:pPr/>
          </a:p>
        </p:txBody>
      </p:sp>
      <p:sp>
        <p:nvSpPr>
          <p:cNvPr id="151" name="Rectangle"/>
          <p:cNvSpPr/>
          <p:nvPr/>
        </p:nvSpPr>
        <p:spPr>
          <a:xfrm>
            <a:off x="2368946" y="4188460"/>
            <a:ext cx="335262" cy="619761"/>
          </a:xfrm>
          <a:prstGeom prst="rect">
            <a:avLst/>
          </a:prstGeom>
          <a:solidFill>
            <a:schemeClr val="accent4"/>
          </a:solidFill>
          <a:ln w="12700">
            <a:miter lim="400000"/>
          </a:ln>
        </p:spPr>
        <p:txBody>
          <a:bodyPr lIns="45719" rIns="45719" anchor="ctr"/>
          <a:lstStyle/>
          <a:p>
            <a:pPr/>
          </a:p>
        </p:txBody>
      </p:sp>
      <p:sp>
        <p:nvSpPr>
          <p:cNvPr id="152" name="At least one unique VP for each CS…"/>
          <p:cNvSpPr txBox="1"/>
          <p:nvPr/>
        </p:nvSpPr>
        <p:spPr>
          <a:xfrm>
            <a:off x="247492" y="5031740"/>
            <a:ext cx="2884897" cy="1772921"/>
          </a:xfrm>
          <a:prstGeom prst="rect">
            <a:avLst/>
          </a:prstGeom>
          <a:solidFill>
            <a:srgbClr val="FFFFFF">
              <a:alpha val="69469"/>
            </a:srgbClr>
          </a:solidFill>
          <a:ln w="12700">
            <a:miter lim="400000"/>
          </a:ln>
          <a:extLst>
            <a:ext uri="{C572A759-6A51-4108-AA02-DFA0A04FC94B}">
              <ma14:wrappingTextBoxFlag xmlns:ma14="http://schemas.microsoft.com/office/mac/drawingml/2011/main" val="1"/>
            </a:ext>
          </a:extLst>
        </p:spPr>
        <p:txBody>
          <a:bodyPr lIns="45719" rIns="45719">
            <a:spAutoFit/>
          </a:bodyPr>
          <a:lstStyle/>
          <a:p>
            <a:pPr defTabSz="685800">
              <a:lnSpc>
                <a:spcPct val="70000"/>
              </a:lnSpc>
              <a:spcBef>
                <a:spcPts val="700"/>
              </a:spcBef>
              <a:buFont typeface="Arial"/>
              <a:defRPr i="1" sz="2400">
                <a:solidFill>
                  <a:srgbClr val="FF2600"/>
                </a:solidFill>
                <a:latin typeface="Avenir Next Demi Bold"/>
                <a:ea typeface="Avenir Next Demi Bold"/>
                <a:cs typeface="Avenir Next Demi Bold"/>
                <a:sym typeface="Avenir Next Demi Bold"/>
              </a:defRPr>
            </a:pPr>
            <a:r>
              <a:t>At least one unique VP for each CS</a:t>
            </a:r>
          </a:p>
          <a:p>
            <a:pPr defTabSz="685800">
              <a:lnSpc>
                <a:spcPct val="70000"/>
              </a:lnSpc>
              <a:spcBef>
                <a:spcPts val="700"/>
              </a:spcBef>
              <a:buFont typeface="Arial"/>
              <a:defRPr i="1" sz="2400">
                <a:solidFill>
                  <a:srgbClr val="FF2600"/>
                </a:solidFill>
                <a:latin typeface="Avenir Next Demi Bold"/>
                <a:ea typeface="Avenir Next Demi Bold"/>
                <a:cs typeface="Avenir Next Demi Bold"/>
                <a:sym typeface="Avenir Next Demi Bold"/>
              </a:defRPr>
            </a:pPr>
            <a:r>
              <a:t>Color code to indicate which CSes go with each VP</a:t>
            </a:r>
          </a:p>
        </p:txBody>
      </p:sp>
      <p:sp>
        <p:nvSpPr>
          <p:cNvPr id="153" name="Map your VPs to your CSes"/>
          <p:cNvSpPr txBox="1"/>
          <p:nvPr/>
        </p:nvSpPr>
        <p:spPr>
          <a:xfrm>
            <a:off x="3644645" y="6129019"/>
            <a:ext cx="5080509" cy="6502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685800">
              <a:lnSpc>
                <a:spcPct val="90000"/>
              </a:lnSpc>
              <a:spcBef>
                <a:spcPts val="700"/>
              </a:spcBef>
              <a:buFont typeface="Arial"/>
              <a:defRPr i="1" sz="3200">
                <a:solidFill>
                  <a:srgbClr val="FF2600"/>
                </a:solidFill>
                <a:latin typeface="Avenir Next Demi Bold"/>
                <a:ea typeface="Avenir Next Demi Bold"/>
                <a:cs typeface="Avenir Next Demi Bold"/>
                <a:sym typeface="Avenir Next Demi Bold"/>
              </a:defRPr>
            </a:lvl1pPr>
          </a:lstStyle>
          <a:p>
            <a:pPr/>
            <a:r>
              <a:t>Map your VPs to your CSes</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5" name="Title 1"/>
          <p:cNvSpPr txBox="1"/>
          <p:nvPr>
            <p:ph type="title"/>
          </p:nvPr>
        </p:nvSpPr>
        <p:spPr>
          <a:xfrm>
            <a:off x="628650" y="365125"/>
            <a:ext cx="7886700" cy="694484"/>
          </a:xfrm>
          <a:prstGeom prst="rect">
            <a:avLst/>
          </a:prstGeom>
        </p:spPr>
        <p:txBody>
          <a:bodyPr/>
          <a:lstStyle>
            <a:lvl1pPr defTabSz="672084">
              <a:defRPr b="1" sz="3528">
                <a:latin typeface="Avenir Next Regular"/>
                <a:ea typeface="Avenir Next Regular"/>
                <a:cs typeface="Avenir Next Regular"/>
                <a:sym typeface="Avenir Next Regular"/>
              </a:defRPr>
            </a:lvl1pPr>
          </a:lstStyle>
          <a:p>
            <a:pPr/>
            <a:r>
              <a:t>What’s Next</a:t>
            </a:r>
          </a:p>
        </p:txBody>
      </p:sp>
      <p:sp>
        <p:nvSpPr>
          <p:cNvPr id="156" name="We intend to eliminate the harmful effects of the semester by drinking heavily, all the while pontificating mightily on the folly of faith-based entrepreneurship and the misfortune of all those who adhere to it."/>
          <p:cNvSpPr txBox="1"/>
          <p:nvPr>
            <p:ph type="body" idx="4294967295"/>
          </p:nvPr>
        </p:nvSpPr>
        <p:spPr>
          <a:xfrm>
            <a:off x="628650" y="1022151"/>
            <a:ext cx="7886700" cy="5154812"/>
          </a:xfrm>
          <a:prstGeom prst="rect">
            <a:avLst/>
          </a:prstGeom>
        </p:spPr>
        <p:txBody>
          <a:bodyPr anchor="ctr"/>
          <a:lstStyle>
            <a:lvl1pPr marL="0" indent="0">
              <a:buSzTx/>
              <a:buFontTx/>
              <a:buNone/>
              <a:defRPr i="1" sz="3200">
                <a:latin typeface="Avenir Next Medium"/>
                <a:ea typeface="Avenir Next Medium"/>
                <a:cs typeface="Avenir Next Medium"/>
                <a:sym typeface="Avenir Next Medium"/>
              </a:defRPr>
            </a:lvl1pPr>
          </a:lstStyle>
          <a:p>
            <a:pPr/>
            <a:r>
              <a:t>We intend to conduct 10 more customer interviews (5 landlords, 5 tenants), launch a beta waitlist at settleed.com to validate demand, and onboard our first 3 paying landlords in the Atlanta market. We will use those early relationships to test pricing, refine the listing flow, and build out HQS inspection tracking based on what landlords tell us they actually need.</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9" name="Title 1"/>
          <p:cNvSpPr txBox="1"/>
          <p:nvPr>
            <p:ph type="title"/>
          </p:nvPr>
        </p:nvSpPr>
        <p:spPr>
          <a:xfrm>
            <a:off x="628650" y="365125"/>
            <a:ext cx="7886700" cy="694484"/>
          </a:xfrm>
          <a:prstGeom prst="rect">
            <a:avLst/>
          </a:prstGeom>
        </p:spPr>
        <p:txBody>
          <a:bodyPr/>
          <a:lstStyle>
            <a:lvl1pPr defTabSz="672084">
              <a:defRPr b="1" sz="3528">
                <a:latin typeface="Avenir Next Regular"/>
                <a:ea typeface="Avenir Next Regular"/>
                <a:cs typeface="Avenir Next Regular"/>
                <a:sym typeface="Avenir Next Regular"/>
              </a:defRPr>
            </a:lvl1pPr>
          </a:lstStyle>
          <a:p>
            <a:pPr/>
            <a:r>
              <a:t>Customer Discovery Report — Tenants</a:t>
            </a:r>
          </a:p>
        </p:txBody>
      </p:sp>
      <p:sp>
        <p:nvSpPr>
          <p:cNvPr id="130" name="Content Placeholder 2"/>
          <p:cNvSpPr txBox="1"/>
          <p:nvPr>
            <p:ph type="body" idx="1"/>
          </p:nvPr>
        </p:nvSpPr>
        <p:spPr>
          <a:xfrm>
            <a:off x="628650" y="1022151"/>
            <a:ext cx="7886700" cy="5154812"/>
          </a:xfrm>
          <a:prstGeom prst="rect">
            <a:avLst/>
          </a:prstGeom>
        </p:spPr>
        <p:txBody>
          <a:bodyPr/>
          <a:lstStyle/>
          <a:p>
            <a:pPr marL="0" indent="0" defTabSz="438911">
              <a:spcBef>
                <a:spcPts val="400"/>
              </a:spcBef>
              <a:buSzTx/>
              <a:buFontTx/>
              <a:buNone/>
              <a:defRPr i="1" sz="2048">
                <a:latin typeface="Avenir Next Demi Bold"/>
                <a:ea typeface="Avenir Next Demi Bold"/>
                <a:cs typeface="Avenir Next Demi Bold"/>
                <a:sym typeface="Avenir Next Demi Bold"/>
              </a:defRPr>
            </a:pPr>
            <a:r>
              <a:t>What did we think?</a:t>
            </a:r>
          </a:p>
          <a:p>
            <a:pPr lvl="2" marL="0" indent="292607" defTabSz="438911">
              <a:spcBef>
                <a:spcPts val="400"/>
              </a:spcBef>
              <a:buSzTx/>
              <a:buFontTx/>
              <a:buNone/>
              <a:defRPr sz="2048">
                <a:latin typeface="Avenir Next Regular"/>
                <a:ea typeface="Avenir Next Regular"/>
                <a:cs typeface="Avenir Next Regular"/>
                <a:sym typeface="Avenir Next Regular"/>
              </a:defRPr>
            </a:pPr>
            <a:r>
              <a:t>We believed the main barrier for voucher holders was affordability and neighborhood availability. We assumed tenants knew which landlords accepted vouchers and that the primary problem was finding units in good school zones or near transit.</a:t>
            </a:r>
          </a:p>
          <a:p>
            <a:pPr marL="0" indent="0" defTabSz="438911">
              <a:spcBef>
                <a:spcPts val="400"/>
              </a:spcBef>
              <a:buSzTx/>
              <a:buFontTx/>
              <a:buNone/>
              <a:defRPr i="1" sz="2048">
                <a:latin typeface="Avenir Next Demi Bold"/>
                <a:ea typeface="Avenir Next Demi Bold"/>
                <a:cs typeface="Avenir Next Demi Bold"/>
                <a:sym typeface="Avenir Next Demi Bold"/>
              </a:defRPr>
            </a:pPr>
            <a:r>
              <a:t>What did we do?</a:t>
            </a:r>
          </a:p>
          <a:p>
            <a:pPr lvl="2" marL="0" indent="292607" defTabSz="438911">
              <a:spcBef>
                <a:spcPts val="400"/>
              </a:spcBef>
              <a:buSzTx/>
              <a:buFontTx/>
              <a:buNone/>
              <a:defRPr sz="2048">
                <a:latin typeface="Avenir Next Regular"/>
                <a:ea typeface="Avenir Next Regular"/>
                <a:cs typeface="Avenir Next Regular"/>
                <a:sym typeface="Avenir Next Regular"/>
              </a:defRPr>
            </a:pPr>
            <a:r>
              <a:t>We conducted 3 interviews with active voucher holders in Atlanta who were currently in search or had recently found housing. Participants held AHA and DCA vouchers and had been searching anywhere from 3 weeks to 4 months.</a:t>
            </a:r>
          </a:p>
          <a:p>
            <a:pPr marL="0" indent="0" defTabSz="438911">
              <a:spcBef>
                <a:spcPts val="400"/>
              </a:spcBef>
              <a:buSzTx/>
              <a:buFontTx/>
              <a:buNone/>
              <a:defRPr i="1" sz="2048">
                <a:latin typeface="Avenir Next Demi Bold"/>
                <a:ea typeface="Avenir Next Demi Bold"/>
                <a:cs typeface="Avenir Next Demi Bold"/>
                <a:sym typeface="Avenir Next Demi Bold"/>
              </a:defRPr>
            </a:pPr>
            <a:r>
              <a:t>What did we learn?</a:t>
            </a:r>
          </a:p>
          <a:p>
            <a:pPr lvl="2" marL="0" indent="292607" defTabSz="438911">
              <a:spcBef>
                <a:spcPts val="400"/>
              </a:spcBef>
              <a:buSzTx/>
              <a:buFontTx/>
              <a:buNone/>
              <a:defRPr sz="2048">
                <a:latin typeface="Avenir Next Regular"/>
                <a:ea typeface="Avenir Next Regular"/>
                <a:cs typeface="Avenir Next Regular"/>
                <a:sym typeface="Avenir Next Regular"/>
              </a:defRPr>
            </a:pPr>
            <a:r>
              <a:t>The real pain is information scarcity and time pressure, not affordability. Every tenant we interviewed spent weeks calling landlords from generic sites like Zillow and Craigslist only to be told the unit does not accept vouchers. The voucher expiration clock (typically 60 to 120 days) creates extreme anxiety. One tenant described calling over 40 landlords before finding one who accepted her voucher. None of them knew a centralized, verified directory existed. All three said they would have paid for a list they could actually trust.</a:t>
            </a:r>
          </a:p>
          <a:p>
            <a:pPr marL="0" indent="0" defTabSz="438911">
              <a:spcBef>
                <a:spcPts val="400"/>
              </a:spcBef>
              <a:buSzTx/>
              <a:buFontTx/>
              <a:buNone/>
              <a:defRPr i="1" sz="2048">
                <a:latin typeface="Avenir Next Demi Bold"/>
                <a:ea typeface="Avenir Next Demi Bold"/>
                <a:cs typeface="Avenir Next Demi Bold"/>
                <a:sym typeface="Avenir Next Demi Bold"/>
              </a:defRPr>
            </a:pPr>
            <a:r>
              <a:t>What to do next?</a:t>
            </a:r>
          </a:p>
          <a:p>
            <a:pPr lvl="2" marL="0" indent="292607" defTabSz="438911">
              <a:spcBef>
                <a:spcPts val="400"/>
              </a:spcBef>
              <a:buSzTx/>
              <a:buFontTx/>
              <a:buNone/>
              <a:defRPr sz="2048">
                <a:latin typeface="Avenir Next Regular"/>
                <a:ea typeface="Avenir Next Regular"/>
                <a:cs typeface="Avenir Next Regular"/>
                <a:sym typeface="Avenir Next Regular"/>
              </a:defRPr>
            </a:pPr>
            <a:r>
              <a:t>Test whether tenants will pay $4.99/month for premium access including unlimited applications and SMS alerts. Identify the highest-motivation moment (right after receiving voucher) as the acquisition trigger. Conduct 5 more interviews with tenants who let their vouchers expire to understand what caused them to give up.</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