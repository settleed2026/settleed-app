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71" r:id="rId22"/>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  <Relationship Id="rId22" Type="http://schemas.openxmlformats.org/officeDocument/2006/relationships/slide" Target="slides/slide16.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Settleed — Demetrius Wilburn and Dr. Brandi Kenner. The voucher-only rental marketplace. Our one-liner: voucher holders and the landlords who house them will choose Settleed because it verifies both sides upfront and closes the lease before the 120-day voucher clock runs out. We're at 83 completed customer-discovery interviews — 58 of them since our last submission, and all 83 since our latest pivot since the platform was locked from inception onto this discovery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on who I am. Demetrius Wilburn — Founder and CEO of Settleed, and an operations and technology leader with 10-plus years driving program delivery, compliance, and digital transformation across government and enterprise. By day I'm a Housing Operations Analyst at the Georgia Department of Community Affairs, working directly in housing-program compliance and delivery — so I live this problem. My background spans a six-month ServiceNow enterprise rollout for the State of Georgia, 750K-plus in program budgets at NAMC, 250-plus accounts under federal HUD compliance, and over a million in annual placement revenue at Korn Ferry. I'm finishing an Executive MBA in Management of Technology at Georgia Tech this December, with a Lean Six Sigma Green Belt. That's the founder-market fit: I sit at the intersection of AI, technology delivery, and public-sector housing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strategic advisor is Dr. Brandi B. Kenner. Brandi is a seasoned social-sector entrepreneur who sits at the rare intersection of child development and data science: she holds a PhD in developmental psychology from Emory and an MS in machine learning from Mercer. She's an affiliated research scientist at Yale, a 2024 Camelback Ventures Conscious Tech Fellow, and a 2024 Gates Foundation ASU-plus-GSV promising-entrepreneur sponsee. She advises the board of Lovevery, an 800-million-dollar developmental playkit company, serves as a senior advisor on education ventures for the Chan Zuckerberg Initiative, and sits on several nonprofit boards. She brings the research credibility, the machine-learning depth, and the social-impact network Settleed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scope. This is a large, structurally underserved market. 2.3 million families hold Housing Choice Vouchers nationally. In Atlanta alone there are 25,000-plus voucher holders across Atlanta Housing and Georgia DCA. Over 30 billion dollars in annual HAP payments flow through the Section 8 system. And there is no modern, mobile-first platform built specifically for it — the incumbents are outdated desktop directories. Our unfair advantage is insider knowledge of AHA processes, HQS timelines, and HAP contract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Supply side, 30 landlords from 1-unit first-timers to 310-unit institutional operators. We thought the problem was tenant quality. It isn't — it's the administrative black hole. 48 days vacant, $2,800 in holding costs. The real appetite is for speed — filling units faster and staying inspection-ready.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side, 43 voucher holders across five authorities, including VASH, SSI/disability, port-in and limited-English households. We thought they just needed a list. Really they need verified inventory, the rent math run for them, and accessibility filters — before the clock runs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systemic layer — 10 housing-authority gatekeepers: 6 case managers and 4 HQS inspectors. We assumed they were neutral bureaucrats outside our market. Wrong: they're drowning. One case manager carries 375 vouchers and 150 unread panic emails on a Monday; mangled RFTA packets reset the 45-day clock. Inspectors lose 14 days to every no-show re-inspection. They would become internal champions of a tool that pre-vets paperwork before it hits a government desk. This reframes Settleed from a listings site to an external compliance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product. Settleed is a two-sided SaaS marketplace that handles everything the housing authority doesn't. Landlords list a property and get an instant alert the moment a matching voucher holder signs up; they manage applications and track HQS inspection deadlines automatically. Tenants search verified listings filtered to their exact voucher size and their housing authority's payment standard, apply in one tap, and track status in real time. It's built mobile-first, because both sides of this market live on their phones. Landlords can also run specials to stand out — flagging things like no credit check, no application fee, pet friendly, or a move-in special right on the listing. And Settleed is a full platform: it runs background checks on every household member 18 or older through Checkr, lets tenants submit maintenance requests, and collects monthly rent payments through the site — full property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we win. The closest competitors are GoSection8, which is outdated with no real mobile experience; AffordableHousing.com, which isn't Section 8-specific; and vouchermatch.nyc, which is NYC-only and very basic. None of them verify both sides, track HQS inspections, or run the payment-standard math. Settleed is mobile-first, verified, compliance-aware, and built by someone with insider knowledge of how the system actually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Business Model Canvas, updated. A two-sided market that gets vouchers settleed. The moat is insider Atlanta Housing domain expertise. Revenue is a single, simple stream: a $49-a-month landlord subscription, with the platform completely free for tenants.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viability — the model is deliberately simple. Landlords pay one flat subscription, 49 dollars a month, for verified tenants, instant match alerts, compliance and HQS tracking, background checks, and rent collection. Tenants are completely free — every feature, no application fees, no premium tier — because removing cost barriers is what fills the marketplace. Since the stack runs on free tiers at launch, break-even is only about six landlords, and the first-year net-revenue target is in the low six figures. One simple price, recurring monthly, with no tenant fees and no per-placement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propositions mapped to customer segments. Every segment gets a unique reason to show up — the starred VP. Insider HAP guidance for small landlords, bulk listings for portfolios, instant match for tenants, and unified subsidy mapping for port-in and specialized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isn't just a deck — there's a working product. In a six-week solo sprint I built the platform end to end: role-based authentication for landlords and tenants; a landlord dashboard with photo uploads; an HQS inspection tracker that auto-calculates the next inspection and warns on HAP-suspension risk; tenant search filtered by voucher size, bedrooms, and neighborhood; a one-tap application flow; tenant onboarding; a payment-standards engine that calculates max rent by bedroom size for AHA, Cobb, DeKalb, DCA and more; and the legal pages. Stripe subscriptions are in progress, and email-slash-SMS alerts and the landlord application inbox are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stand on confidence. SDF 1 — the problem and desirability — we hold at HIGH; supply, demand and the gatekeepers all corroborate the same administrative black hole. SDF 2 — solution fit — is MEDIUM; validated in conversation, not yet in a live product. Overall desirability we put at 82 of 100. The honest open questions: on feasibility, can we get verified authority data and keep listings truly verified at scale; on viability, which side anchors revenue and does stated intent survive a live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done debating tenant quality. The real product is a verified, voucher-only marketplace that closes the deal before the voucher expires. Five moves next, anchored by the July sprint: a pilot cohort, turning gatekeeper interviews into a partnership, a concierge MVP velocity test, an authority partnership, and shipping settleed.com.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952500" y="666750"/>
            <a:ext cx="5528737" cy="215900"/>
          </a:xfrm>
          <a:prstGeom prst="rect">
            <a:avLst/>
          </a:prstGeom>
          <a:noFill/>
          <a:ln/>
        </p:spPr>
        <p:txBody>
          <a:bodyPr wrap="square" lIns="25400" tIns="25400" rIns="25400" bIns="25400" rtlCol="0" anchor="t">
            <a:normAutofit/>
          </a:bodyPr>
          <a:lstStyle/>
          <a:p>
            <a:pPr algn="l" indent="0" marL="0">
              <a:buNone/>
            </a:pPr>
            <a:r>
              <a:rPr lang="en-US" sz="1073" spc="236" kern="0" dirty="0">
                <a:solidFill>
                  <a:srgbClr val="1C2A23"/>
                </a:solidFill>
                <a:latin typeface="Courier New" pitchFamily="34" charset="0"/>
                <a:ea typeface="Courier New" pitchFamily="34" charset="-122"/>
                <a:cs typeface="Courier New" pitchFamily="34" charset="-120"/>
              </a:rPr>
              <a:t>MANAGEMENT OF TECHNOLOGY · CUSTOMER DISCOVERY</a:t>
            </a:r>
            <a:endParaRPr lang="en-US" sz="1073" dirty="0"/>
          </a:p>
        </p:txBody>
      </p:sp>
      <p:sp>
        <p:nvSpPr>
          <p:cNvPr id="3" name="Text 1"/>
          <p:cNvSpPr/>
          <p:nvPr/>
        </p:nvSpPr>
        <p:spPr>
          <a:xfrm>
            <a:off x="14208126" y="666750"/>
            <a:ext cx="3440113" cy="215900"/>
          </a:xfrm>
          <a:prstGeom prst="rect">
            <a:avLst/>
          </a:prstGeom>
          <a:noFill/>
          <a:ln/>
        </p:spPr>
        <p:txBody>
          <a:bodyPr wrap="square" lIns="25400" tIns="25400" rIns="25400" bIns="25400" rtlCol="0" anchor="t">
            <a:normAutofit/>
          </a:bodyPr>
          <a:lstStyle/>
          <a:p>
            <a:pPr algn="l" indent="0" marL="0">
              <a:buNone/>
            </a:pPr>
            <a:r>
              <a:rPr lang="en-US" sz="1073" spc="236" kern="0" dirty="0">
                <a:solidFill>
                  <a:srgbClr val="2E3D36"/>
                </a:solidFill>
                <a:latin typeface="Courier New" pitchFamily="34" charset="0"/>
                <a:ea typeface="Courier New" pitchFamily="34" charset="-122"/>
                <a:cs typeface="Courier New" pitchFamily="34" charset="-120"/>
              </a:rPr>
              <a:t>MID-JULY MILESTONE · 2026</a:t>
            </a:r>
            <a:endParaRPr lang="en-US" sz="1073" dirty="0"/>
          </a:p>
        </p:txBody>
      </p:sp>
      <p:sp>
        <p:nvSpPr>
          <p:cNvPr id="4" name="Text 2"/>
          <p:cNvSpPr/>
          <p:nvPr/>
        </p:nvSpPr>
        <p:spPr>
          <a:xfrm>
            <a:off x="952500" y="2902942"/>
            <a:ext cx="5135394" cy="1150739"/>
          </a:xfrm>
          <a:prstGeom prst="rect">
            <a:avLst/>
          </a:prstGeom>
          <a:noFill/>
          <a:ln/>
        </p:spPr>
        <p:txBody>
          <a:bodyPr wrap="square" lIns="25400" tIns="25400" rIns="25400" bIns="25400" rtlCol="0" anchor="t">
            <a:normAutofit/>
          </a:bodyPr>
          <a:lstStyle/>
          <a:p>
            <a:pPr algn="l" indent="0" marL="0">
              <a:lnSpc>
                <a:spcPct val="90000"/>
              </a:lnSpc>
              <a:buNone/>
            </a:pPr>
            <a:r>
              <a:rPr lang="en-US" sz="9735" b="1" spc="-292" kern="0" dirty="0">
                <a:solidFill>
                  <a:srgbClr val="10201A"/>
                </a:solidFill>
                <a:latin typeface="Arial" pitchFamily="34" charset="0"/>
                <a:ea typeface="Arial" pitchFamily="34" charset="-122"/>
                <a:cs typeface="Arial" pitchFamily="34" charset="-120"/>
              </a:rPr>
              <a:t>Settleed</a:t>
            </a:r>
            <a:endParaRPr lang="en-US" sz="9735" dirty="0"/>
          </a:p>
        </p:txBody>
      </p:sp>
      <p:sp>
        <p:nvSpPr>
          <p:cNvPr id="5" name="Text 3"/>
          <p:cNvSpPr/>
          <p:nvPr/>
        </p:nvSpPr>
        <p:spPr>
          <a:xfrm>
            <a:off x="5849640" y="3715742"/>
            <a:ext cx="2339380" cy="509587"/>
          </a:xfrm>
          <a:prstGeom prst="rect">
            <a:avLst/>
          </a:prstGeom>
          <a:noFill/>
          <a:ln/>
        </p:spPr>
        <p:txBody>
          <a:bodyPr wrap="square" lIns="25400" tIns="25400" rIns="25400" bIns="25400" rtlCol="0" anchor="t">
            <a:normAutofit/>
          </a:bodyPr>
          <a:lstStyle/>
          <a:p>
            <a:pPr algn="l" indent="0" marL="0">
              <a:lnSpc>
                <a:spcPct val="150000"/>
              </a:lnSpc>
              <a:buNone/>
            </a:pPr>
            <a:r>
              <a:rPr lang="en-US" sz="1238" spc="247" kern="0" dirty="0">
                <a:solidFill>
                  <a:srgbClr val="1F5E43"/>
                </a:solidFill>
                <a:latin typeface="Courier New" pitchFamily="34" charset="0"/>
                <a:ea typeface="Courier New" pitchFamily="34" charset="-122"/>
                <a:cs typeface="Courier New" pitchFamily="34" charset="-120"/>
              </a:rPr>
              <a:t>THE VOUCHER-ONLY RENTAL MARKETPLACE</a:t>
            </a:r>
            <a:endParaRPr lang="en-US" sz="1238" dirty="0"/>
          </a:p>
        </p:txBody>
      </p:sp>
      <p:sp>
        <p:nvSpPr>
          <p:cNvPr id="6" name="Text 4"/>
          <p:cNvSpPr/>
          <p:nvPr/>
        </p:nvSpPr>
        <p:spPr>
          <a:xfrm>
            <a:off x="952500" y="4492030"/>
            <a:ext cx="11772900" cy="1471613"/>
          </a:xfrm>
          <a:prstGeom prst="rect">
            <a:avLst/>
          </a:prstGeom>
          <a:noFill/>
          <a:ln/>
        </p:spPr>
        <p:txBody>
          <a:bodyPr wrap="square" lIns="25400" tIns="25400" rIns="25400" bIns="25400" rtlCol="0" anchor="t">
            <a:normAutofit/>
          </a:bodyPr>
          <a:lstStyle/>
          <a:p>
            <a:pPr algn="l" indent="0" marL="0">
              <a:lnSpc>
                <a:spcPct val="150000"/>
              </a:lnSpc>
              <a:buNone/>
            </a:pPr>
            <a:r>
              <a:rPr lang="en-US" sz="2475" dirty="0">
                <a:solidFill>
                  <a:srgbClr val="1E2C25"/>
                </a:solidFill>
                <a:latin typeface="Arial" pitchFamily="34" charset="0"/>
                <a:ea typeface="Arial" pitchFamily="34" charset="-122"/>
                <a:cs typeface="Arial" pitchFamily="34" charset="-120"/>
              </a:rPr>
              <a:t>Voucher holders — and the landlords who house them — will choose </a:t>
            </a:r>
            <a:pPr algn="l" indent="0" marL="0">
              <a:lnSpc>
                <a:spcPct val="150000"/>
              </a:lnSpc>
              <a:buNone/>
            </a:pPr>
            <a:r>
              <a:rPr lang="en-US" sz="2475" b="1" dirty="0">
                <a:solidFill>
                  <a:srgbClr val="0E1C15"/>
                </a:solidFill>
                <a:latin typeface="Arial" pitchFamily="34" charset="0"/>
                <a:ea typeface="Arial" pitchFamily="34" charset="-122"/>
                <a:cs typeface="Arial" pitchFamily="34" charset="-120"/>
              </a:rPr>
              <a:t>Settleed </a:t>
            </a:r>
            <a:pPr algn="l" indent="0" marL="0">
              <a:lnSpc>
                <a:spcPct val="150000"/>
              </a:lnSpc>
              <a:buNone/>
            </a:pPr>
            <a:r>
              <a:rPr lang="en-US" sz="2475" dirty="0">
                <a:solidFill>
                  <a:srgbClr val="1E2C25"/>
                </a:solidFill>
                <a:latin typeface="Arial" pitchFamily="34" charset="0"/>
                <a:ea typeface="Arial" pitchFamily="34" charset="-122"/>
                <a:cs typeface="Arial" pitchFamily="34" charset="-120"/>
              </a:rPr>
              <a:t>because it </a:t>
            </a:r>
            <a:pPr algn="l" indent="0" marL="0">
              <a:lnSpc>
                <a:spcPct val="150000"/>
              </a:lnSpc>
              <a:buNone/>
            </a:pPr>
            <a:r>
              <a:rPr lang="en-US" sz="2475" b="1" dirty="0">
                <a:solidFill>
                  <a:srgbClr val="15533A"/>
                </a:solidFill>
                <a:latin typeface="Arial" pitchFamily="34" charset="0"/>
                <a:ea typeface="Arial" pitchFamily="34" charset="-122"/>
                <a:cs typeface="Arial" pitchFamily="34" charset="-120"/>
              </a:rPr>
              <a:t>verifies both sides upfront </a:t>
            </a:r>
            <a:pPr algn="l" indent="0" marL="0">
              <a:lnSpc>
                <a:spcPct val="150000"/>
              </a:lnSpc>
              <a:buNone/>
            </a:pPr>
            <a:r>
              <a:rPr lang="en-US" sz="2475" dirty="0">
                <a:solidFill>
                  <a:srgbClr val="1E2C25"/>
                </a:solidFill>
                <a:latin typeface="Arial" pitchFamily="34" charset="0"/>
                <a:ea typeface="Arial" pitchFamily="34" charset="-122"/>
                <a:cs typeface="Arial" pitchFamily="34" charset="-120"/>
              </a:rPr>
              <a:t>and closes the lease </a:t>
            </a:r>
            <a:pPr algn="l" indent="0" marL="0">
              <a:lnSpc>
                <a:spcPct val="150000"/>
              </a:lnSpc>
              <a:buNone/>
            </a:pPr>
            <a:r>
              <a:rPr lang="en-US" sz="2475" b="1" dirty="0">
                <a:solidFill>
                  <a:srgbClr val="15533A"/>
                </a:solidFill>
                <a:latin typeface="Arial" pitchFamily="34" charset="0"/>
                <a:ea typeface="Arial" pitchFamily="34" charset="-122"/>
                <a:cs typeface="Arial" pitchFamily="34" charset="-120"/>
              </a:rPr>
              <a:t>before the 120-day voucher clock runs out.</a:t>
            </a:r>
            <a:endParaRPr lang="en-US" sz="2475" dirty="0"/>
          </a:p>
        </p:txBody>
      </p:sp>
      <p:sp>
        <p:nvSpPr>
          <p:cNvPr id="7" name="Shape 5"/>
          <p:cNvSpPr/>
          <p:nvPr/>
        </p:nvSpPr>
        <p:spPr>
          <a:xfrm>
            <a:off x="952500" y="7983935"/>
            <a:ext cx="16383000" cy="9525"/>
          </a:xfrm>
          <a:prstGeom prst="rect">
            <a:avLst/>
          </a:prstGeom>
          <a:solidFill>
            <a:srgbClr val="10201A">
              <a:alpha val="28000"/>
            </a:srgbClr>
          </a:solidFill>
          <a:ln/>
        </p:spPr>
      </p:sp>
      <p:sp>
        <p:nvSpPr>
          <p:cNvPr id="8" name="Text 6"/>
          <p:cNvSpPr/>
          <p:nvPr/>
        </p:nvSpPr>
        <p:spPr>
          <a:xfrm>
            <a:off x="952500" y="8237934"/>
            <a:ext cx="9136380" cy="254000"/>
          </a:xfrm>
          <a:prstGeom prst="rect">
            <a:avLst/>
          </a:prstGeom>
          <a:noFill/>
          <a:ln/>
        </p:spPr>
        <p:txBody>
          <a:bodyPr wrap="square" lIns="25400" tIns="25400" rIns="25400" bIns="25400" rtlCol="0" anchor="t">
            <a:normAutofit/>
          </a:bodyPr>
          <a:lstStyle/>
          <a:p>
            <a:pPr algn="l" indent="0" marL="0">
              <a:buNone/>
            </a:pPr>
            <a:r>
              <a:rPr lang="en-US" sz="1320" spc="238" kern="0" dirty="0">
                <a:solidFill>
                  <a:srgbClr val="15533A"/>
                </a:solidFill>
                <a:latin typeface="Courier New" pitchFamily="34" charset="0"/>
                <a:ea typeface="Courier New" pitchFamily="34" charset="-122"/>
                <a:cs typeface="Courier New" pitchFamily="34" charset="-120"/>
              </a:rPr>
              <a:t>TEAM SETTLEED</a:t>
            </a:r>
            <a:endParaRPr lang="en-US" sz="1320" dirty="0"/>
          </a:p>
        </p:txBody>
      </p:sp>
      <p:sp>
        <p:nvSpPr>
          <p:cNvPr id="9" name="Text 7"/>
          <p:cNvSpPr/>
          <p:nvPr/>
        </p:nvSpPr>
        <p:spPr>
          <a:xfrm>
            <a:off x="2038350" y="8644335"/>
            <a:ext cx="3143250" cy="349250"/>
          </a:xfrm>
          <a:prstGeom prst="rect">
            <a:avLst/>
          </a:prstGeom>
          <a:noFill/>
          <a:ln/>
        </p:spPr>
        <p:txBody>
          <a:bodyPr wrap="square" lIns="25400" tIns="25400" rIns="25400" bIns="25400" rtlCol="0" anchor="t">
            <a:normAutofit/>
          </a:bodyPr>
          <a:lstStyle/>
          <a:p>
            <a:pPr algn="l" indent="0" marL="0">
              <a:lnSpc>
                <a:spcPct val="110000"/>
              </a:lnSpc>
              <a:buNone/>
            </a:pPr>
            <a:r>
              <a:rPr lang="en-US" sz="2228" b="1" dirty="0">
                <a:solidFill>
                  <a:srgbClr val="10201A"/>
                </a:solidFill>
                <a:latin typeface="Arial" pitchFamily="34" charset="0"/>
                <a:ea typeface="Arial" pitchFamily="34" charset="-122"/>
                <a:cs typeface="Arial" pitchFamily="34" charset="-120"/>
              </a:rPr>
              <a:t>Demetrius Wilburn</a:t>
            </a:r>
            <a:endParaRPr lang="en-US" sz="2228" dirty="0"/>
          </a:p>
        </p:txBody>
      </p:sp>
      <p:sp>
        <p:nvSpPr>
          <p:cNvPr id="10" name="Text 8"/>
          <p:cNvSpPr/>
          <p:nvPr/>
        </p:nvSpPr>
        <p:spPr>
          <a:xfrm>
            <a:off x="2038350" y="9022160"/>
            <a:ext cx="3143250" cy="228600"/>
          </a:xfrm>
          <a:prstGeom prst="rect">
            <a:avLst/>
          </a:prstGeom>
          <a:noFill/>
          <a:ln/>
        </p:spPr>
        <p:txBody>
          <a:bodyPr wrap="square" lIns="25400" tIns="25400" rIns="25400" bIns="25400" rtlCol="0" anchor="t">
            <a:normAutofit/>
          </a:bodyPr>
          <a:lstStyle/>
          <a:p>
            <a:pPr algn="l" indent="0" marL="0">
              <a:buNone/>
            </a:pPr>
            <a:r>
              <a:rPr lang="en-US" sz="1155" spc="139" kern="0" dirty="0">
                <a:solidFill>
                  <a:srgbClr val="33433B"/>
                </a:solidFill>
                <a:latin typeface="Courier New" pitchFamily="34" charset="0"/>
                <a:ea typeface="Courier New" pitchFamily="34" charset="-122"/>
                <a:cs typeface="Courier New" pitchFamily="34" charset="-120"/>
              </a:rPr>
              <a:t>FOUNDER &amp; CEO</a:t>
            </a:r>
            <a:endParaRPr lang="en-US" sz="1155" dirty="0"/>
          </a:p>
        </p:txBody>
      </p:sp>
      <p:sp>
        <p:nvSpPr>
          <p:cNvPr id="11" name="Text 9"/>
          <p:cNvSpPr/>
          <p:nvPr/>
        </p:nvSpPr>
        <p:spPr>
          <a:xfrm>
            <a:off x="2038350" y="9260285"/>
            <a:ext cx="2943225" cy="398066"/>
          </a:xfrm>
          <a:prstGeom prst="rect">
            <a:avLst/>
          </a:prstGeom>
          <a:noFill/>
          <a:ln/>
        </p:spPr>
        <p:txBody>
          <a:bodyPr wrap="square" lIns="25400" tIns="25400" rIns="25400" bIns="25400" rtlCol="0" anchor="t">
            <a:normAutofit/>
          </a:bodyPr>
          <a:lstStyle/>
          <a:p>
            <a:pPr algn="l" indent="0" marL="0">
              <a:lnSpc>
                <a:spcPct val="135000"/>
              </a:lnSpc>
              <a:buNone/>
            </a:pPr>
            <a:r>
              <a:rPr lang="en-US" sz="1050" dirty="0">
                <a:solidFill>
                  <a:srgbClr val="3C4A42"/>
                </a:solidFill>
                <a:latin typeface="Arial" pitchFamily="34" charset="0"/>
                <a:ea typeface="Arial" pitchFamily="34" charset="-122"/>
                <a:cs typeface="Arial" pitchFamily="34" charset="-120"/>
              </a:rPr>
              <a:t>Former Atlanta Housing Authority insider · Licensed Georgia Realtor</a:t>
            </a:r>
            <a:endParaRPr lang="en-US" sz="1050" dirty="0"/>
          </a:p>
        </p:txBody>
      </p:sp>
      <p:sp>
        <p:nvSpPr>
          <p:cNvPr id="12" name="Text 10"/>
          <p:cNvSpPr/>
          <p:nvPr/>
        </p:nvSpPr>
        <p:spPr>
          <a:xfrm>
            <a:off x="6400800" y="8644335"/>
            <a:ext cx="3143250" cy="349250"/>
          </a:xfrm>
          <a:prstGeom prst="rect">
            <a:avLst/>
          </a:prstGeom>
          <a:noFill/>
          <a:ln/>
        </p:spPr>
        <p:txBody>
          <a:bodyPr wrap="square" lIns="25400" tIns="25400" rIns="25400" bIns="25400" rtlCol="0" anchor="t">
            <a:normAutofit/>
          </a:bodyPr>
          <a:lstStyle/>
          <a:p>
            <a:pPr algn="l" indent="0" marL="0">
              <a:lnSpc>
                <a:spcPct val="110000"/>
              </a:lnSpc>
              <a:buNone/>
            </a:pPr>
            <a:r>
              <a:rPr lang="en-US" sz="2228" b="1" dirty="0">
                <a:solidFill>
                  <a:srgbClr val="10201A"/>
                </a:solidFill>
                <a:latin typeface="Arial" pitchFamily="34" charset="0"/>
                <a:ea typeface="Arial" pitchFamily="34" charset="-122"/>
                <a:cs typeface="Arial" pitchFamily="34" charset="-120"/>
              </a:rPr>
              <a:t>Dr. Brandi Kenner</a:t>
            </a:r>
            <a:endParaRPr lang="en-US" sz="2228" dirty="0"/>
          </a:p>
        </p:txBody>
      </p:sp>
      <p:sp>
        <p:nvSpPr>
          <p:cNvPr id="13" name="Text 11"/>
          <p:cNvSpPr/>
          <p:nvPr/>
        </p:nvSpPr>
        <p:spPr>
          <a:xfrm>
            <a:off x="6400800" y="9022160"/>
            <a:ext cx="3143250" cy="228600"/>
          </a:xfrm>
          <a:prstGeom prst="rect">
            <a:avLst/>
          </a:prstGeom>
          <a:noFill/>
          <a:ln/>
        </p:spPr>
        <p:txBody>
          <a:bodyPr wrap="square" lIns="25400" tIns="25400" rIns="25400" bIns="25400" rtlCol="0" anchor="t">
            <a:normAutofit/>
          </a:bodyPr>
          <a:lstStyle/>
          <a:p>
            <a:pPr algn="l" indent="0" marL="0">
              <a:buNone/>
            </a:pPr>
            <a:r>
              <a:rPr lang="en-US" sz="1155" spc="139" kern="0" dirty="0">
                <a:solidFill>
                  <a:srgbClr val="33433B"/>
                </a:solidFill>
                <a:latin typeface="Courier New" pitchFamily="34" charset="0"/>
                <a:ea typeface="Courier New" pitchFamily="34" charset="-122"/>
                <a:cs typeface="Courier New" pitchFamily="34" charset="-120"/>
              </a:rPr>
              <a:t>ADVISOR</a:t>
            </a:r>
            <a:endParaRPr lang="en-US" sz="1155" dirty="0"/>
          </a:p>
        </p:txBody>
      </p:sp>
      <p:sp>
        <p:nvSpPr>
          <p:cNvPr id="14" name="Text 12"/>
          <p:cNvSpPr/>
          <p:nvPr/>
        </p:nvSpPr>
        <p:spPr>
          <a:xfrm>
            <a:off x="6400800" y="9260285"/>
            <a:ext cx="2943225" cy="398066"/>
          </a:xfrm>
          <a:prstGeom prst="rect">
            <a:avLst/>
          </a:prstGeom>
          <a:noFill/>
          <a:ln/>
        </p:spPr>
        <p:txBody>
          <a:bodyPr wrap="square" lIns="25400" tIns="25400" rIns="25400" bIns="25400" rtlCol="0" anchor="t">
            <a:normAutofit/>
          </a:bodyPr>
          <a:lstStyle/>
          <a:p>
            <a:pPr algn="l" indent="0" marL="0">
              <a:lnSpc>
                <a:spcPct val="135000"/>
              </a:lnSpc>
              <a:buNone/>
            </a:pPr>
            <a:r>
              <a:rPr lang="en-US" sz="1050" dirty="0">
                <a:solidFill>
                  <a:srgbClr val="3C4A42"/>
                </a:solidFill>
                <a:latin typeface="Arial" pitchFamily="34" charset="0"/>
                <a:ea typeface="Arial" pitchFamily="34" charset="-122"/>
                <a:cs typeface="Arial" pitchFamily="34" charset="-120"/>
              </a:rPr>
              <a:t>Developmental psychologist · Yale research scientist</a:t>
            </a:r>
            <a:endParaRPr lang="en-US" sz="1050" dirty="0"/>
          </a:p>
        </p:txBody>
      </p:sp>
      <p:sp>
        <p:nvSpPr>
          <p:cNvPr id="15" name="Shape 13"/>
          <p:cNvSpPr/>
          <p:nvPr/>
        </p:nvSpPr>
        <p:spPr>
          <a:xfrm>
            <a:off x="10372230" y="8872835"/>
            <a:ext cx="9525" cy="747415"/>
          </a:xfrm>
          <a:prstGeom prst="rect">
            <a:avLst/>
          </a:prstGeom>
          <a:solidFill>
            <a:srgbClr val="10201A">
              <a:alpha val="25000"/>
            </a:srgbClr>
          </a:solidFill>
          <a:ln/>
        </p:spPr>
      </p:sp>
      <p:sp>
        <p:nvSpPr>
          <p:cNvPr id="16" name="Text 14"/>
          <p:cNvSpPr/>
          <p:nvPr/>
        </p:nvSpPr>
        <p:spPr>
          <a:xfrm>
            <a:off x="10664329" y="8872835"/>
            <a:ext cx="1816646" cy="541040"/>
          </a:xfrm>
          <a:prstGeom prst="rect">
            <a:avLst/>
          </a:prstGeom>
          <a:noFill/>
          <a:ln/>
        </p:spPr>
        <p:txBody>
          <a:bodyPr wrap="square" lIns="25400" tIns="25400" rIns="25400" bIns="25400" rtlCol="0" anchor="t">
            <a:normAutofit/>
          </a:bodyPr>
          <a:lstStyle/>
          <a:p>
            <a:pPr algn="l" indent="0" marL="0">
              <a:lnSpc>
                <a:spcPct val="100000"/>
              </a:lnSpc>
              <a:buNone/>
            </a:pPr>
            <a:r>
              <a:rPr lang="en-US" sz="3960" b="1" dirty="0">
                <a:solidFill>
                  <a:srgbClr val="10201A"/>
                </a:solidFill>
                <a:latin typeface="Arial" pitchFamily="34" charset="0"/>
                <a:ea typeface="Arial" pitchFamily="34" charset="-122"/>
                <a:cs typeface="Arial" pitchFamily="34" charset="-120"/>
              </a:rPr>
              <a:t>103</a:t>
            </a:r>
            <a:endParaRPr lang="en-US" sz="3960" dirty="0"/>
          </a:p>
        </p:txBody>
      </p:sp>
      <p:sp>
        <p:nvSpPr>
          <p:cNvPr id="17" name="Text 15"/>
          <p:cNvSpPr/>
          <p:nvPr/>
        </p:nvSpPr>
        <p:spPr>
          <a:xfrm>
            <a:off x="10664329" y="9461500"/>
            <a:ext cx="1816646" cy="196850"/>
          </a:xfrm>
          <a:prstGeom prst="rect">
            <a:avLst/>
          </a:prstGeom>
          <a:noFill/>
          <a:ln/>
        </p:spPr>
        <p:txBody>
          <a:bodyPr wrap="square" lIns="25400" tIns="25400" rIns="25400" bIns="25400" rtlCol="0" anchor="t">
            <a:normAutofit/>
          </a:bodyPr>
          <a:lstStyle/>
          <a:p>
            <a:pPr algn="l" indent="0" marL="0">
              <a:buNone/>
            </a:pPr>
            <a:r>
              <a:rPr lang="en-US" sz="990" spc="129" kern="0" dirty="0">
                <a:solidFill>
                  <a:srgbClr val="33433B"/>
                </a:solidFill>
                <a:latin typeface="Courier New" pitchFamily="34" charset="0"/>
                <a:ea typeface="Courier New" pitchFamily="34" charset="-122"/>
                <a:cs typeface="Courier New" pitchFamily="34" charset="-120"/>
              </a:rPr>
              <a:t>INTERVIEWS TO DATE</a:t>
            </a:r>
            <a:endParaRPr lang="en-US" sz="990" dirty="0"/>
          </a:p>
        </p:txBody>
      </p:sp>
      <p:sp>
        <p:nvSpPr>
          <p:cNvPr id="18" name="Shape 16"/>
          <p:cNvSpPr/>
          <p:nvPr/>
        </p:nvSpPr>
        <p:spPr>
          <a:xfrm>
            <a:off x="12601575" y="8872835"/>
            <a:ext cx="9525" cy="747415"/>
          </a:xfrm>
          <a:prstGeom prst="rect">
            <a:avLst/>
          </a:prstGeom>
          <a:solidFill>
            <a:srgbClr val="10201A">
              <a:alpha val="25000"/>
            </a:srgbClr>
          </a:solidFill>
          <a:ln/>
        </p:spPr>
      </p:sp>
      <p:sp>
        <p:nvSpPr>
          <p:cNvPr id="19" name="Text 17"/>
          <p:cNvSpPr/>
          <p:nvPr/>
        </p:nvSpPr>
        <p:spPr>
          <a:xfrm>
            <a:off x="12893676" y="8872835"/>
            <a:ext cx="2119402" cy="541040"/>
          </a:xfrm>
          <a:prstGeom prst="rect">
            <a:avLst/>
          </a:prstGeom>
          <a:noFill/>
          <a:ln/>
        </p:spPr>
        <p:txBody>
          <a:bodyPr wrap="square" lIns="25400" tIns="25400" rIns="25400" bIns="25400" rtlCol="0" anchor="t">
            <a:normAutofit/>
          </a:bodyPr>
          <a:lstStyle/>
          <a:p>
            <a:pPr algn="l" indent="0" marL="0">
              <a:lnSpc>
                <a:spcPct val="100000"/>
              </a:lnSpc>
              <a:buNone/>
            </a:pPr>
            <a:r>
              <a:rPr lang="en-US" sz="3960" b="1" dirty="0">
                <a:solidFill>
                  <a:srgbClr val="15533A"/>
                </a:solidFill>
                <a:latin typeface="Arial" pitchFamily="34" charset="0"/>
                <a:ea typeface="Arial" pitchFamily="34" charset="-122"/>
                <a:cs typeface="Arial" pitchFamily="34" charset="-120"/>
              </a:rPr>
              <a:t>+20</a:t>
            </a:r>
            <a:endParaRPr lang="en-US" sz="3960" dirty="0"/>
          </a:p>
        </p:txBody>
      </p:sp>
      <p:sp>
        <p:nvSpPr>
          <p:cNvPr id="20" name="Text 18"/>
          <p:cNvSpPr/>
          <p:nvPr/>
        </p:nvSpPr>
        <p:spPr>
          <a:xfrm>
            <a:off x="12893676" y="9461500"/>
            <a:ext cx="2119402" cy="196850"/>
          </a:xfrm>
          <a:prstGeom prst="rect">
            <a:avLst/>
          </a:prstGeom>
          <a:noFill/>
          <a:ln/>
        </p:spPr>
        <p:txBody>
          <a:bodyPr wrap="square" lIns="25400" tIns="25400" rIns="25400" bIns="25400" rtlCol="0" anchor="t">
            <a:normAutofit/>
          </a:bodyPr>
          <a:lstStyle/>
          <a:p>
            <a:pPr algn="l" indent="0" marL="0">
              <a:buNone/>
            </a:pPr>
            <a:r>
              <a:rPr lang="en-US" sz="990" spc="129" kern="0" dirty="0">
                <a:solidFill>
                  <a:srgbClr val="33433B"/>
                </a:solidFill>
                <a:latin typeface="Courier New" pitchFamily="34" charset="0"/>
                <a:ea typeface="Courier New" pitchFamily="34" charset="-122"/>
                <a:cs typeface="Courier New" pitchFamily="34" charset="-120"/>
              </a:rPr>
              <a:t>SINCE LAST SUBMISSION</a:t>
            </a:r>
            <a:endParaRPr lang="en-US" sz="990" dirty="0"/>
          </a:p>
        </p:txBody>
      </p:sp>
      <p:sp>
        <p:nvSpPr>
          <p:cNvPr id="21" name="Shape 19"/>
          <p:cNvSpPr/>
          <p:nvPr/>
        </p:nvSpPr>
        <p:spPr>
          <a:xfrm>
            <a:off x="15106155" y="8872835"/>
            <a:ext cx="9525" cy="747415"/>
          </a:xfrm>
          <a:prstGeom prst="rect">
            <a:avLst/>
          </a:prstGeom>
          <a:solidFill>
            <a:srgbClr val="10201A">
              <a:alpha val="25000"/>
            </a:srgbClr>
          </a:solidFill>
          <a:ln/>
        </p:spPr>
      </p:sp>
      <p:sp>
        <p:nvSpPr>
          <p:cNvPr id="22" name="Text 20"/>
          <p:cNvSpPr/>
          <p:nvPr/>
        </p:nvSpPr>
        <p:spPr>
          <a:xfrm>
            <a:off x="15398254" y="8872835"/>
            <a:ext cx="1816646" cy="541040"/>
          </a:xfrm>
          <a:prstGeom prst="rect">
            <a:avLst/>
          </a:prstGeom>
          <a:noFill/>
          <a:ln/>
        </p:spPr>
        <p:txBody>
          <a:bodyPr wrap="square" lIns="25400" tIns="25400" rIns="25400" bIns="25400" rtlCol="0" anchor="t">
            <a:normAutofit/>
          </a:bodyPr>
          <a:lstStyle/>
          <a:p>
            <a:pPr algn="l" indent="0" marL="0">
              <a:lnSpc>
                <a:spcPct val="100000"/>
              </a:lnSpc>
              <a:buNone/>
            </a:pPr>
            <a:r>
              <a:rPr lang="en-US" sz="3960" b="1" dirty="0">
                <a:solidFill>
                  <a:srgbClr val="10201A"/>
                </a:solidFill>
                <a:latin typeface="Arial" pitchFamily="34" charset="0"/>
                <a:ea typeface="Arial" pitchFamily="34" charset="-122"/>
                <a:cs typeface="Arial" pitchFamily="34" charset="-120"/>
              </a:rPr>
              <a:t>103</a:t>
            </a:r>
            <a:endParaRPr lang="en-US" sz="3960" dirty="0"/>
          </a:p>
        </p:txBody>
      </p:sp>
      <p:sp>
        <p:nvSpPr>
          <p:cNvPr id="23" name="Text 21"/>
          <p:cNvSpPr/>
          <p:nvPr/>
        </p:nvSpPr>
        <p:spPr>
          <a:xfrm>
            <a:off x="15398254" y="9461500"/>
            <a:ext cx="1816646" cy="196850"/>
          </a:xfrm>
          <a:prstGeom prst="rect">
            <a:avLst/>
          </a:prstGeom>
          <a:noFill/>
          <a:ln/>
        </p:spPr>
        <p:txBody>
          <a:bodyPr wrap="square" lIns="25400" tIns="25400" rIns="25400" bIns="25400" rtlCol="0" anchor="t">
            <a:normAutofit/>
          </a:bodyPr>
          <a:lstStyle/>
          <a:p>
            <a:pPr algn="l" indent="0" marL="0">
              <a:buNone/>
            </a:pPr>
            <a:r>
              <a:rPr lang="en-US" sz="990" spc="129" kern="0" dirty="0">
                <a:solidFill>
                  <a:srgbClr val="33433B"/>
                </a:solidFill>
                <a:latin typeface="Courier New" pitchFamily="34" charset="0"/>
                <a:ea typeface="Courier New" pitchFamily="34" charset="-122"/>
                <a:cs typeface="Courier New" pitchFamily="34" charset="-120"/>
              </a:rPr>
              <a:t>SINCE LATEST PIVOT</a:t>
            </a:r>
            <a:endParaRPr lang="en-US" sz="99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00100" y="533400"/>
            <a:ext cx="2211517" cy="215900"/>
          </a:xfrm>
          <a:prstGeom prst="rect">
            <a:avLst/>
          </a:prstGeom>
          <a:noFill/>
          <a:ln/>
        </p:spPr>
        <p:txBody>
          <a:bodyPr wrap="square" lIns="25400" tIns="25400" rIns="25400" bIns="25400" rtlCol="0" anchor="t">
            <a:normAutofit/>
          </a:bodyPr>
          <a:lstStyle/>
          <a:p>
            <a:pPr algn="l" indent="0" marL="0">
              <a:buNone/>
            </a:pPr>
            <a:r>
              <a:rPr lang="en-US" sz="1073" spc="236" kern="0" dirty="0">
                <a:solidFill>
                  <a:srgbClr val="2C7A58"/>
                </a:solidFill>
                <a:latin typeface="Courier New" pitchFamily="34" charset="0"/>
                <a:ea typeface="Courier New" pitchFamily="34" charset="-122"/>
                <a:cs typeface="Courier New" pitchFamily="34" charset="-120"/>
              </a:rPr>
              <a:t>FOUNDER BACKGROUND</a:t>
            </a:r>
            <a:endParaRPr lang="en-US" sz="1073" dirty="0"/>
          </a:p>
        </p:txBody>
      </p:sp>
      <p:sp>
        <p:nvSpPr>
          <p:cNvPr id="3" name="Text 1"/>
          <p:cNvSpPr/>
          <p:nvPr/>
        </p:nvSpPr>
        <p:spPr>
          <a:xfrm>
            <a:off x="15477431" y="533400"/>
            <a:ext cx="2211517" cy="215900"/>
          </a:xfrm>
          <a:prstGeom prst="rect">
            <a:avLst/>
          </a:prstGeom>
          <a:noFill/>
          <a:ln/>
        </p:spPr>
        <p:txBody>
          <a:bodyPr wrap="square" lIns="25400" tIns="25400" rIns="25400" bIns="25400" rtlCol="0" anchor="t">
            <a:normAutofit/>
          </a:bodyPr>
          <a:lstStyle/>
          <a:p>
            <a:pPr algn="l" indent="0" marL="0">
              <a:buNone/>
            </a:pPr>
            <a:r>
              <a:rPr lang="en-US" sz="1073" spc="236" kern="0" dirty="0">
                <a:solidFill>
                  <a:srgbClr val="9AA39D"/>
                </a:solidFill>
                <a:latin typeface="Courier New" pitchFamily="34" charset="0"/>
                <a:ea typeface="Courier New" pitchFamily="34" charset="-122"/>
                <a:cs typeface="Courier New" pitchFamily="34" charset="-120"/>
              </a:rPr>
              <a:t>SETTLEED · 02 / 16</a:t>
            </a:r>
            <a:endParaRPr lang="en-US" sz="1073" dirty="0"/>
          </a:p>
        </p:txBody>
      </p:sp>
      <p:sp>
        <p:nvSpPr>
          <p:cNvPr id="4" name="Text 2"/>
          <p:cNvSpPr/>
          <p:nvPr/>
        </p:nvSpPr>
        <p:spPr>
          <a:xfrm>
            <a:off x="800100" y="3073400"/>
            <a:ext cx="3771900"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10201A"/>
                </a:solidFill>
                <a:latin typeface="Arial" pitchFamily="34" charset="0"/>
                <a:ea typeface="Arial" pitchFamily="34" charset="-122"/>
                <a:cs typeface="Arial" pitchFamily="34" charset="-120"/>
              </a:rPr>
              <a:t>Demetrius Wilburn</a:t>
            </a:r>
            <a:endParaRPr lang="en-US" sz="3000" dirty="0"/>
          </a:p>
        </p:txBody>
      </p:sp>
      <p:sp>
        <p:nvSpPr>
          <p:cNvPr id="5" name="Text 3"/>
          <p:cNvSpPr/>
          <p:nvPr/>
        </p:nvSpPr>
        <p:spPr>
          <a:xfrm>
            <a:off x="800100" y="3587750"/>
            <a:ext cx="3771900"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105" kern="0" dirty="0">
                <a:solidFill>
                  <a:srgbClr val="2C7A58"/>
                </a:solidFill>
                <a:latin typeface="Courier New" pitchFamily="34" charset="0"/>
                <a:ea typeface="Courier New" pitchFamily="34" charset="-122"/>
                <a:cs typeface="Courier New" pitchFamily="34" charset="-120"/>
              </a:rPr>
              <a:t>FOUNDER &amp; CEO, SETTLEED</a:t>
            </a:r>
            <a:endParaRPr lang="en-US" sz="1050" dirty="0"/>
          </a:p>
        </p:txBody>
      </p:sp>
      <p:sp>
        <p:nvSpPr>
          <p:cNvPr id="6" name="Text 4"/>
          <p:cNvSpPr/>
          <p:nvPr/>
        </p:nvSpPr>
        <p:spPr>
          <a:xfrm>
            <a:off x="800100" y="3825875"/>
            <a:ext cx="3531870" cy="51812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3A443E"/>
                </a:solidFill>
                <a:latin typeface="Arial" pitchFamily="34" charset="0"/>
                <a:ea typeface="Arial" pitchFamily="34" charset="-122"/>
                <a:cs typeface="Arial" pitchFamily="34" charset="-120"/>
              </a:rPr>
              <a:t>Technology Program Manager · AI &amp; Digital Transformation · Atlanta, GA</a:t>
            </a:r>
            <a:endParaRPr lang="en-US" sz="1350" dirty="0"/>
          </a:p>
        </p:txBody>
      </p:sp>
      <p:sp>
        <p:nvSpPr>
          <p:cNvPr id="7" name="Shape 5"/>
          <p:cNvSpPr/>
          <p:nvPr/>
        </p:nvSpPr>
        <p:spPr>
          <a:xfrm>
            <a:off x="800100" y="4534495"/>
            <a:ext cx="3429000" cy="1753394"/>
          </a:xfrm>
          <a:prstGeom prst="roundRect">
            <a:avLst>
              <a:gd name="adj" fmla="val 2716"/>
            </a:avLst>
          </a:prstGeom>
          <a:solidFill>
            <a:srgbClr val="FFFFFF"/>
          </a:solidFill>
          <a:ln/>
        </p:spPr>
      </p:sp>
      <p:sp>
        <p:nvSpPr>
          <p:cNvPr id="8" name="Shape 6"/>
          <p:cNvSpPr/>
          <p:nvPr/>
        </p:nvSpPr>
        <p:spPr>
          <a:xfrm>
            <a:off x="800100" y="6281539"/>
            <a:ext cx="3429000" cy="9525"/>
          </a:xfrm>
          <a:prstGeom prst="rect">
            <a:avLst/>
          </a:prstGeom>
          <a:solidFill>
            <a:srgbClr val="18221E">
              <a:alpha val="12000"/>
            </a:srgbClr>
          </a:solidFill>
          <a:ln/>
        </p:spPr>
      </p:sp>
      <p:sp>
        <p:nvSpPr>
          <p:cNvPr id="9" name="Shape 7"/>
          <p:cNvSpPr/>
          <p:nvPr/>
        </p:nvSpPr>
        <p:spPr>
          <a:xfrm>
            <a:off x="800100" y="4534495"/>
            <a:ext cx="3429000" cy="9525"/>
          </a:xfrm>
          <a:prstGeom prst="rect">
            <a:avLst/>
          </a:prstGeom>
          <a:solidFill>
            <a:srgbClr val="18221E">
              <a:alpha val="12000"/>
            </a:srgbClr>
          </a:solidFill>
          <a:ln/>
        </p:spPr>
      </p:sp>
      <p:sp>
        <p:nvSpPr>
          <p:cNvPr id="10" name="Shape 8"/>
          <p:cNvSpPr/>
          <p:nvPr/>
        </p:nvSpPr>
        <p:spPr>
          <a:xfrm>
            <a:off x="800100" y="4534495"/>
            <a:ext cx="38100" cy="1753394"/>
          </a:xfrm>
          <a:prstGeom prst="rect">
            <a:avLst/>
          </a:prstGeom>
          <a:solidFill>
            <a:srgbClr val="2C7A58"/>
          </a:solidFill>
          <a:ln/>
        </p:spPr>
      </p:sp>
      <p:sp>
        <p:nvSpPr>
          <p:cNvPr id="11" name="Shape 9"/>
          <p:cNvSpPr/>
          <p:nvPr/>
        </p:nvSpPr>
        <p:spPr>
          <a:xfrm>
            <a:off x="4222750" y="4534495"/>
            <a:ext cx="9525" cy="1753394"/>
          </a:xfrm>
          <a:prstGeom prst="rect">
            <a:avLst/>
          </a:prstGeom>
          <a:solidFill>
            <a:srgbClr val="18221E">
              <a:alpha val="12000"/>
            </a:srgbClr>
          </a:solidFill>
          <a:ln/>
        </p:spPr>
      </p:sp>
      <p:sp>
        <p:nvSpPr>
          <p:cNvPr id="12" name="Text 10"/>
          <p:cNvSpPr/>
          <p:nvPr/>
        </p:nvSpPr>
        <p:spPr>
          <a:xfrm>
            <a:off x="1066800" y="4750396"/>
            <a:ext cx="3015171" cy="1359694"/>
          </a:xfrm>
          <a:prstGeom prst="rect">
            <a:avLst/>
          </a:prstGeom>
          <a:noFill/>
          <a:ln/>
        </p:spPr>
        <p:txBody>
          <a:bodyPr wrap="square" lIns="25400" tIns="25400" rIns="25400" bIns="25400" rtlCol="0" anchor="t">
            <a:normAutofit/>
          </a:bodyPr>
          <a:lstStyle/>
          <a:p>
            <a:pPr algn="l" indent="0" marL="0">
              <a:lnSpc>
                <a:spcPct val="150000"/>
              </a:lnSpc>
              <a:buNone/>
            </a:pPr>
            <a:r>
              <a:rPr lang="en-US" sz="1388" i="1" dirty="0">
                <a:solidFill>
                  <a:srgbClr val="2B332E"/>
                </a:solidFill>
                <a:latin typeface="Arial" pitchFamily="34" charset="0"/>
                <a:ea typeface="Arial" pitchFamily="34" charset="-122"/>
                <a:cs typeface="Arial" pitchFamily="34" charset="-120"/>
              </a:rPr>
              <a:t>"Operations &amp; technology leader with </a:t>
            </a:r>
            <a:pPr algn="l" indent="0" marL="0">
              <a:lnSpc>
                <a:spcPct val="150000"/>
              </a:lnSpc>
              <a:buNone/>
            </a:pPr>
            <a:r>
              <a:rPr lang="en-US" sz="1388" b="1" dirty="0">
                <a:solidFill>
                  <a:srgbClr val="10201A"/>
                </a:solidFill>
                <a:latin typeface="Arial" pitchFamily="34" charset="0"/>
                <a:ea typeface="Arial" pitchFamily="34" charset="-122"/>
                <a:cs typeface="Arial" pitchFamily="34" charset="-120"/>
              </a:rPr>
              <a:t>10+ years </a:t>
            </a:r>
            <a:pPr algn="l" indent="0" marL="0">
              <a:lnSpc>
                <a:spcPct val="150000"/>
              </a:lnSpc>
              <a:buNone/>
            </a:pPr>
            <a:r>
              <a:rPr lang="en-US" sz="1388" i="1" dirty="0">
                <a:solidFill>
                  <a:srgbClr val="2B332E"/>
                </a:solidFill>
                <a:latin typeface="Arial" pitchFamily="34" charset="0"/>
                <a:ea typeface="Arial" pitchFamily="34" charset="-122"/>
                <a:cs typeface="Arial" pitchFamily="34" charset="-120"/>
              </a:rPr>
              <a:t>driving program delivery, compliance, and digital transformation across government and enterprise."</a:t>
            </a:r>
            <a:endParaRPr lang="en-US" sz="1388" dirty="0"/>
          </a:p>
        </p:txBody>
      </p:sp>
      <p:sp>
        <p:nvSpPr>
          <p:cNvPr id="13" name="Text 11"/>
          <p:cNvSpPr/>
          <p:nvPr/>
        </p:nvSpPr>
        <p:spPr>
          <a:xfrm>
            <a:off x="800100" y="9337080"/>
            <a:ext cx="3531870" cy="492720"/>
          </a:xfrm>
          <a:prstGeom prst="rect">
            <a:avLst/>
          </a:prstGeom>
          <a:noFill/>
          <a:ln/>
        </p:spPr>
        <p:txBody>
          <a:bodyPr wrap="square" lIns="25400" tIns="25400" rIns="25400" bIns="25400" rtlCol="0" anchor="t">
            <a:normAutofit/>
          </a:bodyPr>
          <a:lstStyle/>
          <a:p>
            <a:pPr algn="l" indent="0" marL="0">
              <a:lnSpc>
                <a:spcPct val="145000"/>
              </a:lnSpc>
              <a:buNone/>
            </a:pPr>
            <a:r>
              <a:rPr lang="en-US" sz="1200" dirty="0">
                <a:solidFill>
                  <a:srgbClr val="4A534B"/>
                </a:solidFill>
                <a:latin typeface="Arial" pitchFamily="34" charset="0"/>
                <a:ea typeface="Arial" pitchFamily="34" charset="-122"/>
                <a:cs typeface="Arial" pitchFamily="34" charset="-120"/>
              </a:rPr>
              <a:t>Pursuing the intersection of </a:t>
            </a:r>
            <a:pPr algn="l" indent="0" marL="0">
              <a:lnSpc>
                <a:spcPct val="145000"/>
              </a:lnSpc>
              <a:buNone/>
            </a:pPr>
            <a:r>
              <a:rPr lang="en-US" sz="1200" b="1" dirty="0">
                <a:solidFill>
                  <a:srgbClr val="15533A"/>
                </a:solidFill>
                <a:latin typeface="Arial" pitchFamily="34" charset="0"/>
                <a:ea typeface="Arial" pitchFamily="34" charset="-122"/>
                <a:cs typeface="Arial" pitchFamily="34" charset="-120"/>
              </a:rPr>
              <a:t>AI, technology delivery &amp; public-sector impact.</a:t>
            </a:r>
            <a:endParaRPr lang="en-US" sz="1200" dirty="0"/>
          </a:p>
        </p:txBody>
      </p:sp>
      <p:sp>
        <p:nvSpPr>
          <p:cNvPr id="14" name="Shape 12"/>
          <p:cNvSpPr/>
          <p:nvPr/>
        </p:nvSpPr>
        <p:spPr>
          <a:xfrm>
            <a:off x="4743450" y="920750"/>
            <a:ext cx="3071813" cy="1213148"/>
          </a:xfrm>
          <a:prstGeom prst="roundRect">
            <a:avLst>
              <a:gd name="adj" fmla="val 4711"/>
            </a:avLst>
          </a:prstGeom>
          <a:solidFill>
            <a:srgbClr val="FFFFFF"/>
          </a:solidFill>
          <a:ln w="6350">
            <a:solidFill>
              <a:srgbClr val="18221E">
                <a:alpha val="12000"/>
              </a:srgbClr>
            </a:solidFill>
            <a:prstDash val="solid"/>
          </a:ln>
        </p:spPr>
      </p:sp>
      <p:sp>
        <p:nvSpPr>
          <p:cNvPr id="15" name="Text 13"/>
          <p:cNvSpPr/>
          <p:nvPr/>
        </p:nvSpPr>
        <p:spPr>
          <a:xfrm>
            <a:off x="4959350" y="1117600"/>
            <a:ext cx="2904014" cy="363835"/>
          </a:xfrm>
          <a:prstGeom prst="rect">
            <a:avLst/>
          </a:prstGeom>
          <a:noFill/>
          <a:ln/>
        </p:spPr>
        <p:txBody>
          <a:bodyPr wrap="square" lIns="25400" tIns="25400" rIns="25400" bIns="25400" rtlCol="0" anchor="t">
            <a:normAutofit/>
          </a:bodyPr>
          <a:lstStyle/>
          <a:p>
            <a:pPr algn="l" indent="0" marL="0">
              <a:lnSpc>
                <a:spcPct val="90000"/>
              </a:lnSpc>
              <a:buNone/>
            </a:pPr>
            <a:r>
              <a:rPr lang="en-US" sz="2850" b="1" dirty="0">
                <a:solidFill>
                  <a:srgbClr val="2C7A58"/>
                </a:solidFill>
                <a:latin typeface="Arial" pitchFamily="34" charset="0"/>
                <a:ea typeface="Arial" pitchFamily="34" charset="-122"/>
                <a:cs typeface="Arial" pitchFamily="34" charset="-120"/>
              </a:rPr>
              <a:t>$1M+</a:t>
            </a:r>
            <a:endParaRPr lang="en-US" sz="2850" dirty="0"/>
          </a:p>
        </p:txBody>
      </p:sp>
      <p:sp>
        <p:nvSpPr>
          <p:cNvPr id="16" name="Text 14"/>
          <p:cNvSpPr/>
          <p:nvPr/>
        </p:nvSpPr>
        <p:spPr>
          <a:xfrm>
            <a:off x="4959350" y="1538585"/>
            <a:ext cx="2719213" cy="430213"/>
          </a:xfrm>
          <a:prstGeom prst="rect">
            <a:avLst/>
          </a:prstGeom>
          <a:noFill/>
          <a:ln/>
        </p:spPr>
        <p:txBody>
          <a:bodyPr wrap="square" lIns="25400" tIns="25400" rIns="25400" bIns="25400" rtlCol="0" anchor="t">
            <a:normAutofit/>
          </a:bodyPr>
          <a:lstStyle/>
          <a:p>
            <a:pPr algn="l" indent="0" marL="0">
              <a:lnSpc>
                <a:spcPct val="135000"/>
              </a:lnSpc>
              <a:buNone/>
            </a:pPr>
            <a:r>
              <a:rPr lang="en-US" sz="1125" dirty="0">
                <a:solidFill>
                  <a:srgbClr val="3A443E"/>
                </a:solidFill>
                <a:latin typeface="Arial" pitchFamily="34" charset="0"/>
                <a:ea typeface="Arial" pitchFamily="34" charset="-122"/>
                <a:cs typeface="Arial" pitchFamily="34" charset="-120"/>
              </a:rPr>
              <a:t>Annual placement revenue generated at </a:t>
            </a:r>
            <a:pPr algn="l" indent="0" marL="0">
              <a:lnSpc>
                <a:spcPct val="135000"/>
              </a:lnSpc>
              <a:buNone/>
            </a:pPr>
            <a:r>
              <a:rPr lang="en-US" sz="1125" b="1" dirty="0">
                <a:solidFill>
                  <a:srgbClr val="3A443E"/>
                </a:solidFill>
                <a:latin typeface="Arial" pitchFamily="34" charset="0"/>
                <a:ea typeface="Arial" pitchFamily="34" charset="-122"/>
                <a:cs typeface="Arial" pitchFamily="34" charset="-120"/>
              </a:rPr>
              <a:t>Korn Ferry</a:t>
            </a:r>
            <a:endParaRPr lang="en-US" sz="1125" dirty="0"/>
          </a:p>
        </p:txBody>
      </p:sp>
      <p:sp>
        <p:nvSpPr>
          <p:cNvPr id="17" name="Shape 15"/>
          <p:cNvSpPr/>
          <p:nvPr/>
        </p:nvSpPr>
        <p:spPr>
          <a:xfrm>
            <a:off x="7967662" y="920750"/>
            <a:ext cx="3071813" cy="1213148"/>
          </a:xfrm>
          <a:prstGeom prst="roundRect">
            <a:avLst>
              <a:gd name="adj" fmla="val 4711"/>
            </a:avLst>
          </a:prstGeom>
          <a:solidFill>
            <a:srgbClr val="FFFFFF"/>
          </a:solidFill>
          <a:ln w="6350">
            <a:solidFill>
              <a:srgbClr val="18221E">
                <a:alpha val="12000"/>
              </a:srgbClr>
            </a:solidFill>
            <a:prstDash val="solid"/>
          </a:ln>
        </p:spPr>
      </p:sp>
      <p:sp>
        <p:nvSpPr>
          <p:cNvPr id="18" name="Text 16"/>
          <p:cNvSpPr/>
          <p:nvPr/>
        </p:nvSpPr>
        <p:spPr>
          <a:xfrm>
            <a:off x="8183563" y="1117600"/>
            <a:ext cx="2904014" cy="363835"/>
          </a:xfrm>
          <a:prstGeom prst="rect">
            <a:avLst/>
          </a:prstGeom>
          <a:noFill/>
          <a:ln/>
        </p:spPr>
        <p:txBody>
          <a:bodyPr wrap="square" lIns="25400" tIns="25400" rIns="25400" bIns="25400" rtlCol="0" anchor="t">
            <a:normAutofit/>
          </a:bodyPr>
          <a:lstStyle/>
          <a:p>
            <a:pPr algn="l" indent="0" marL="0">
              <a:lnSpc>
                <a:spcPct val="90000"/>
              </a:lnSpc>
              <a:buNone/>
            </a:pPr>
            <a:r>
              <a:rPr lang="en-US" sz="2850" b="1" dirty="0">
                <a:solidFill>
                  <a:srgbClr val="2C7A58"/>
                </a:solidFill>
                <a:latin typeface="Arial" pitchFamily="34" charset="0"/>
                <a:ea typeface="Arial" pitchFamily="34" charset="-122"/>
                <a:cs typeface="Arial" pitchFamily="34" charset="-120"/>
              </a:rPr>
              <a:t>$750K+</a:t>
            </a:r>
            <a:endParaRPr lang="en-US" sz="2850" dirty="0"/>
          </a:p>
        </p:txBody>
      </p:sp>
      <p:sp>
        <p:nvSpPr>
          <p:cNvPr id="19" name="Text 17"/>
          <p:cNvSpPr/>
          <p:nvPr/>
        </p:nvSpPr>
        <p:spPr>
          <a:xfrm>
            <a:off x="8183563" y="1538585"/>
            <a:ext cx="2904014" cy="237331"/>
          </a:xfrm>
          <a:prstGeom prst="rect">
            <a:avLst/>
          </a:prstGeom>
          <a:noFill/>
          <a:ln/>
        </p:spPr>
        <p:txBody>
          <a:bodyPr wrap="square" lIns="25400" tIns="25400" rIns="25400" bIns="25400" rtlCol="0" anchor="t">
            <a:normAutofit/>
          </a:bodyPr>
          <a:lstStyle/>
          <a:p>
            <a:pPr algn="l" indent="0" marL="0">
              <a:lnSpc>
                <a:spcPct val="135000"/>
              </a:lnSpc>
              <a:buNone/>
            </a:pPr>
            <a:r>
              <a:rPr lang="en-US" sz="1125" dirty="0">
                <a:solidFill>
                  <a:srgbClr val="3A443E"/>
                </a:solidFill>
                <a:latin typeface="Arial" pitchFamily="34" charset="0"/>
                <a:ea typeface="Arial" pitchFamily="34" charset="-122"/>
                <a:cs typeface="Arial" pitchFamily="34" charset="-120"/>
              </a:rPr>
              <a:t>Program budgets managed at </a:t>
            </a:r>
            <a:pPr algn="l" indent="0" marL="0">
              <a:lnSpc>
                <a:spcPct val="135000"/>
              </a:lnSpc>
              <a:buNone/>
            </a:pPr>
            <a:r>
              <a:rPr lang="en-US" sz="1125" b="1" dirty="0">
                <a:solidFill>
                  <a:srgbClr val="3A443E"/>
                </a:solidFill>
                <a:latin typeface="Arial" pitchFamily="34" charset="0"/>
                <a:ea typeface="Arial" pitchFamily="34" charset="-122"/>
                <a:cs typeface="Arial" pitchFamily="34" charset="-120"/>
              </a:rPr>
              <a:t>NAMC</a:t>
            </a:r>
            <a:endParaRPr lang="en-US" sz="1125" dirty="0"/>
          </a:p>
        </p:txBody>
      </p:sp>
      <p:sp>
        <p:nvSpPr>
          <p:cNvPr id="20" name="Shape 18"/>
          <p:cNvSpPr/>
          <p:nvPr/>
        </p:nvSpPr>
        <p:spPr>
          <a:xfrm>
            <a:off x="11191875" y="920750"/>
            <a:ext cx="3071813" cy="1213148"/>
          </a:xfrm>
          <a:prstGeom prst="roundRect">
            <a:avLst>
              <a:gd name="adj" fmla="val 4711"/>
            </a:avLst>
          </a:prstGeom>
          <a:solidFill>
            <a:srgbClr val="FFFFFF"/>
          </a:solidFill>
          <a:ln w="6350">
            <a:solidFill>
              <a:srgbClr val="18221E">
                <a:alpha val="12000"/>
              </a:srgbClr>
            </a:solidFill>
            <a:prstDash val="solid"/>
          </a:ln>
        </p:spPr>
      </p:sp>
      <p:sp>
        <p:nvSpPr>
          <p:cNvPr id="21" name="Text 19"/>
          <p:cNvSpPr/>
          <p:nvPr/>
        </p:nvSpPr>
        <p:spPr>
          <a:xfrm>
            <a:off x="11407776" y="1117600"/>
            <a:ext cx="2904014" cy="363835"/>
          </a:xfrm>
          <a:prstGeom prst="rect">
            <a:avLst/>
          </a:prstGeom>
          <a:noFill/>
          <a:ln/>
        </p:spPr>
        <p:txBody>
          <a:bodyPr wrap="square" lIns="25400" tIns="25400" rIns="25400" bIns="25400" rtlCol="0" anchor="t">
            <a:normAutofit/>
          </a:bodyPr>
          <a:lstStyle/>
          <a:p>
            <a:pPr algn="l" indent="0" marL="0">
              <a:lnSpc>
                <a:spcPct val="90000"/>
              </a:lnSpc>
              <a:buNone/>
            </a:pPr>
            <a:r>
              <a:rPr lang="en-US" sz="2850" b="1" dirty="0">
                <a:solidFill>
                  <a:srgbClr val="2C7A58"/>
                </a:solidFill>
                <a:latin typeface="Arial" pitchFamily="34" charset="0"/>
                <a:ea typeface="Arial" pitchFamily="34" charset="-122"/>
                <a:cs typeface="Arial" pitchFamily="34" charset="-120"/>
              </a:rPr>
              <a:t>250+</a:t>
            </a:r>
            <a:endParaRPr lang="en-US" sz="2850" dirty="0"/>
          </a:p>
        </p:txBody>
      </p:sp>
      <p:sp>
        <p:nvSpPr>
          <p:cNvPr id="22" name="Text 20"/>
          <p:cNvSpPr/>
          <p:nvPr/>
        </p:nvSpPr>
        <p:spPr>
          <a:xfrm>
            <a:off x="11407776" y="1538585"/>
            <a:ext cx="2719213" cy="436563"/>
          </a:xfrm>
          <a:prstGeom prst="rect">
            <a:avLst/>
          </a:prstGeom>
          <a:noFill/>
          <a:ln/>
        </p:spPr>
        <p:txBody>
          <a:bodyPr wrap="square" lIns="25400" tIns="25400" rIns="25400" bIns="25400" rtlCol="0" anchor="t">
            <a:normAutofit/>
          </a:bodyPr>
          <a:lstStyle/>
          <a:p>
            <a:pPr algn="l" indent="0" marL="0">
              <a:lnSpc>
                <a:spcPct val="135000"/>
              </a:lnSpc>
              <a:buNone/>
            </a:pPr>
            <a:r>
              <a:rPr lang="en-US" sz="1125" dirty="0">
                <a:solidFill>
                  <a:srgbClr val="3A443E"/>
                </a:solidFill>
                <a:latin typeface="Arial" pitchFamily="34" charset="0"/>
                <a:ea typeface="Arial" pitchFamily="34" charset="-122"/>
                <a:cs typeface="Arial" pitchFamily="34" charset="-120"/>
              </a:rPr>
              <a:t>Accounts supported under </a:t>
            </a:r>
            <a:pPr algn="l" indent="0" marL="0">
              <a:lnSpc>
                <a:spcPct val="135000"/>
              </a:lnSpc>
              <a:buNone/>
            </a:pPr>
            <a:r>
              <a:rPr lang="en-US" sz="1125" b="1" dirty="0">
                <a:solidFill>
                  <a:srgbClr val="3A443E"/>
                </a:solidFill>
                <a:latin typeface="Arial" pitchFamily="34" charset="0"/>
                <a:ea typeface="Arial" pitchFamily="34" charset="-122"/>
                <a:cs typeface="Arial" pitchFamily="34" charset="-120"/>
              </a:rPr>
              <a:t>federal HUD compliance</a:t>
            </a:r>
            <a:endParaRPr lang="en-US" sz="1125" dirty="0"/>
          </a:p>
        </p:txBody>
      </p:sp>
      <p:sp>
        <p:nvSpPr>
          <p:cNvPr id="23" name="Shape 21"/>
          <p:cNvSpPr/>
          <p:nvPr/>
        </p:nvSpPr>
        <p:spPr>
          <a:xfrm>
            <a:off x="14416088" y="920750"/>
            <a:ext cx="3071813" cy="1213148"/>
          </a:xfrm>
          <a:prstGeom prst="roundRect">
            <a:avLst>
              <a:gd name="adj" fmla="val 4711"/>
            </a:avLst>
          </a:prstGeom>
          <a:solidFill>
            <a:srgbClr val="FFFFFF"/>
          </a:solidFill>
          <a:ln w="6350">
            <a:solidFill>
              <a:srgbClr val="18221E">
                <a:alpha val="12000"/>
              </a:srgbClr>
            </a:solidFill>
            <a:prstDash val="solid"/>
          </a:ln>
        </p:spPr>
      </p:sp>
      <p:sp>
        <p:nvSpPr>
          <p:cNvPr id="24" name="Text 22"/>
          <p:cNvSpPr/>
          <p:nvPr/>
        </p:nvSpPr>
        <p:spPr>
          <a:xfrm>
            <a:off x="14631988" y="1117600"/>
            <a:ext cx="2904014" cy="363835"/>
          </a:xfrm>
          <a:prstGeom prst="rect">
            <a:avLst/>
          </a:prstGeom>
          <a:noFill/>
          <a:ln/>
        </p:spPr>
        <p:txBody>
          <a:bodyPr wrap="square" lIns="25400" tIns="25400" rIns="25400" bIns="25400" rtlCol="0" anchor="t">
            <a:normAutofit/>
          </a:bodyPr>
          <a:lstStyle/>
          <a:p>
            <a:pPr algn="l" indent="0" marL="0">
              <a:lnSpc>
                <a:spcPct val="90000"/>
              </a:lnSpc>
              <a:buNone/>
            </a:pPr>
            <a:r>
              <a:rPr lang="en-US" sz="2850" b="1" dirty="0">
                <a:solidFill>
                  <a:srgbClr val="2C7A58"/>
                </a:solidFill>
                <a:latin typeface="Arial" pitchFamily="34" charset="0"/>
                <a:ea typeface="Arial" pitchFamily="34" charset="-122"/>
                <a:cs typeface="Arial" pitchFamily="34" charset="-120"/>
              </a:rPr>
              <a:t>6-mo</a:t>
            </a:r>
            <a:endParaRPr lang="en-US" sz="2850" dirty="0"/>
          </a:p>
        </p:txBody>
      </p:sp>
      <p:sp>
        <p:nvSpPr>
          <p:cNvPr id="25" name="Text 23"/>
          <p:cNvSpPr/>
          <p:nvPr/>
        </p:nvSpPr>
        <p:spPr>
          <a:xfrm>
            <a:off x="14631988" y="1538585"/>
            <a:ext cx="2719213" cy="430213"/>
          </a:xfrm>
          <a:prstGeom prst="rect">
            <a:avLst/>
          </a:prstGeom>
          <a:noFill/>
          <a:ln/>
        </p:spPr>
        <p:txBody>
          <a:bodyPr wrap="square" lIns="25400" tIns="25400" rIns="25400" bIns="25400" rtlCol="0" anchor="t">
            <a:normAutofit/>
          </a:bodyPr>
          <a:lstStyle/>
          <a:p>
            <a:pPr algn="l" indent="0" marL="0">
              <a:lnSpc>
                <a:spcPct val="135000"/>
              </a:lnSpc>
              <a:buNone/>
            </a:pPr>
            <a:r>
              <a:rPr lang="en-US" sz="1125" b="1" dirty="0">
                <a:solidFill>
                  <a:srgbClr val="3A443E"/>
                </a:solidFill>
                <a:latin typeface="Arial" pitchFamily="34" charset="0"/>
                <a:ea typeface="Arial" pitchFamily="34" charset="-122"/>
                <a:cs typeface="Arial" pitchFamily="34" charset="-120"/>
              </a:rPr>
              <a:t>ServiceNow </a:t>
            </a:r>
            <a:pPr algn="l" indent="0" marL="0">
              <a:lnSpc>
                <a:spcPct val="135000"/>
              </a:lnSpc>
              <a:buNone/>
            </a:pPr>
            <a:r>
              <a:rPr lang="en-US" sz="1125" dirty="0">
                <a:solidFill>
                  <a:srgbClr val="3A443E"/>
                </a:solidFill>
                <a:latin typeface="Arial" pitchFamily="34" charset="0"/>
                <a:ea typeface="Arial" pitchFamily="34" charset="-122"/>
                <a:cs typeface="Arial" pitchFamily="34" charset="-120"/>
              </a:rPr>
              <a:t>enterprise rollout, State of Georgia</a:t>
            </a:r>
            <a:endParaRPr lang="en-US" sz="1125" dirty="0"/>
          </a:p>
        </p:txBody>
      </p:sp>
      <p:sp>
        <p:nvSpPr>
          <p:cNvPr id="26" name="Text 24"/>
          <p:cNvSpPr/>
          <p:nvPr/>
        </p:nvSpPr>
        <p:spPr>
          <a:xfrm>
            <a:off x="4743450" y="2343448"/>
            <a:ext cx="10393680"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2C7A58"/>
                </a:solidFill>
                <a:latin typeface="Courier New" pitchFamily="34" charset="0"/>
                <a:ea typeface="Courier New" pitchFamily="34" charset="-122"/>
                <a:cs typeface="Courier New" pitchFamily="34" charset="-120"/>
              </a:rPr>
              <a:t>CURRENTLY</a:t>
            </a:r>
            <a:endParaRPr lang="en-US" sz="975" dirty="0"/>
          </a:p>
        </p:txBody>
      </p:sp>
      <p:sp>
        <p:nvSpPr>
          <p:cNvPr id="27" name="Text 25"/>
          <p:cNvSpPr/>
          <p:nvPr/>
        </p:nvSpPr>
        <p:spPr>
          <a:xfrm>
            <a:off x="4743450" y="2597448"/>
            <a:ext cx="10393680" cy="285750"/>
          </a:xfrm>
          <a:prstGeom prst="rect">
            <a:avLst/>
          </a:prstGeom>
          <a:noFill/>
          <a:ln/>
        </p:spPr>
        <p:txBody>
          <a:bodyPr wrap="square" lIns="25400" tIns="25400" rIns="25400" bIns="25400" rtlCol="0" anchor="t">
            <a:normAutofit/>
          </a:bodyPr>
          <a:lstStyle/>
          <a:p>
            <a:pPr algn="l" indent="0" marL="0">
              <a:lnSpc>
                <a:spcPct val="130000"/>
              </a:lnSpc>
              <a:buNone/>
            </a:pPr>
            <a:r>
              <a:rPr lang="en-US" sz="1500" b="1" dirty="0">
                <a:solidFill>
                  <a:srgbClr val="10201A"/>
                </a:solidFill>
                <a:latin typeface="Arial" pitchFamily="34" charset="0"/>
                <a:ea typeface="Arial" pitchFamily="34" charset="-122"/>
                <a:cs typeface="Arial" pitchFamily="34" charset="-120"/>
              </a:rPr>
              <a:t>Housing Operations Analyst</a:t>
            </a:r>
            <a:endParaRPr lang="en-US" sz="1500" dirty="0"/>
          </a:p>
        </p:txBody>
      </p:sp>
      <p:sp>
        <p:nvSpPr>
          <p:cNvPr id="28" name="Text 26"/>
          <p:cNvSpPr/>
          <p:nvPr/>
        </p:nvSpPr>
        <p:spPr>
          <a:xfrm>
            <a:off x="4743450" y="2873673"/>
            <a:ext cx="10393680" cy="264716"/>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3A443E"/>
                </a:solidFill>
                <a:latin typeface="Arial" pitchFamily="34" charset="0"/>
                <a:ea typeface="Arial" pitchFamily="34" charset="-122"/>
                <a:cs typeface="Arial" pitchFamily="34" charset="-120"/>
              </a:rPr>
              <a:t>Georgia Dept. of Community Affairs — housing-program compliance &amp; delivery.</a:t>
            </a:r>
            <a:endParaRPr lang="en-US" sz="1275" dirty="0"/>
          </a:p>
        </p:txBody>
      </p:sp>
      <p:sp>
        <p:nvSpPr>
          <p:cNvPr id="29" name="Text 27"/>
          <p:cNvSpPr/>
          <p:nvPr/>
        </p:nvSpPr>
        <p:spPr>
          <a:xfrm>
            <a:off x="4743450" y="3271738"/>
            <a:ext cx="10393680"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2C7A58"/>
                </a:solidFill>
                <a:latin typeface="Courier New" pitchFamily="34" charset="0"/>
                <a:ea typeface="Courier New" pitchFamily="34" charset="-122"/>
                <a:cs typeface="Courier New" pitchFamily="34" charset="-120"/>
              </a:rPr>
              <a:t>EDUCATION</a:t>
            </a:r>
            <a:endParaRPr lang="en-US" sz="975" dirty="0"/>
          </a:p>
        </p:txBody>
      </p:sp>
      <p:sp>
        <p:nvSpPr>
          <p:cNvPr id="30" name="Text 28"/>
          <p:cNvSpPr/>
          <p:nvPr/>
        </p:nvSpPr>
        <p:spPr>
          <a:xfrm>
            <a:off x="4743450" y="3525738"/>
            <a:ext cx="198834" cy="25806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2C7A58"/>
                </a:solidFill>
                <a:latin typeface="Arial" pitchFamily="34" charset="0"/>
                <a:ea typeface="Arial" pitchFamily="34" charset="-122"/>
                <a:cs typeface="Arial" pitchFamily="34" charset="-120"/>
              </a:rPr>
              <a:t>—</a:t>
            </a:r>
            <a:endParaRPr lang="en-US" sz="1238" dirty="0"/>
          </a:p>
        </p:txBody>
      </p:sp>
      <p:sp>
        <p:nvSpPr>
          <p:cNvPr id="31" name="Text 29"/>
          <p:cNvSpPr/>
          <p:nvPr/>
        </p:nvSpPr>
        <p:spPr>
          <a:xfrm>
            <a:off x="4914900" y="3551138"/>
            <a:ext cx="3389035" cy="209550"/>
          </a:xfrm>
          <a:prstGeom prst="rect">
            <a:avLst/>
          </a:prstGeom>
          <a:noFill/>
          <a:ln/>
        </p:spPr>
        <p:txBody>
          <a:bodyPr wrap="square" lIns="25400" tIns="25400" rIns="25400" bIns="25400" rtlCol="0" anchor="t">
            <a:normAutofit/>
          </a:bodyPr>
          <a:lstStyle/>
          <a:p>
            <a:pPr algn="l" indent="0" marL="0">
              <a:lnSpc>
                <a:spcPct val="140000"/>
              </a:lnSpc>
              <a:buNone/>
            </a:pPr>
            <a:r>
              <a:rPr lang="en-US" sz="1238" b="1" dirty="0">
                <a:solidFill>
                  <a:srgbClr val="2B332E"/>
                </a:solidFill>
                <a:latin typeface="Arial" pitchFamily="34" charset="0"/>
                <a:ea typeface="Arial" pitchFamily="34" charset="-122"/>
                <a:cs typeface="Arial" pitchFamily="34" charset="-120"/>
              </a:rPr>
              <a:t>Executive MBA, Management of Technology</a:t>
            </a:r>
            <a:endParaRPr lang="en-US" sz="1238" dirty="0"/>
          </a:p>
        </p:txBody>
      </p:sp>
      <p:sp>
        <p:nvSpPr>
          <p:cNvPr id="32" name="Text 30"/>
          <p:cNvSpPr/>
          <p:nvPr/>
        </p:nvSpPr>
        <p:spPr>
          <a:xfrm>
            <a:off x="8032849" y="3532088"/>
            <a:ext cx="1978621" cy="241300"/>
          </a:xfrm>
          <a:prstGeom prst="rect">
            <a:avLst/>
          </a:prstGeom>
          <a:noFill/>
          <a:ln/>
        </p:spPr>
        <p:txBody>
          <a:bodyPr wrap="square" lIns="0" tIns="0" rIns="0" bIns="0" rtlCol="0" anchor="t">
            <a:normAutofit/>
          </a:bodyPr>
          <a:lstStyle/>
          <a:p>
            <a:pPr algn="l" indent="0" marL="0">
              <a:lnSpc>
                <a:spcPct val="140000"/>
              </a:lnSpc>
              <a:buNone/>
            </a:pPr>
            <a:r>
              <a:rPr lang="en-US" sz="1238" dirty="0">
                <a:solidFill>
                  <a:srgbClr val="2B332E"/>
                </a:solidFill>
                <a:latin typeface="Arial" pitchFamily="34" charset="0"/>
                <a:ea typeface="Arial" pitchFamily="34" charset="-122"/>
                <a:cs typeface="Arial" pitchFamily="34" charset="-120"/>
              </a:rPr>
              <a:t>— Georgia Tech (Dec 2026)</a:t>
            </a:r>
            <a:endParaRPr lang="en-US" sz="1238" dirty="0"/>
          </a:p>
        </p:txBody>
      </p:sp>
      <p:sp>
        <p:nvSpPr>
          <p:cNvPr id="33" name="Text 31"/>
          <p:cNvSpPr/>
          <p:nvPr/>
        </p:nvSpPr>
        <p:spPr>
          <a:xfrm>
            <a:off x="4743450" y="3837781"/>
            <a:ext cx="198834" cy="25806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2C7A58"/>
                </a:solidFill>
                <a:latin typeface="Arial" pitchFamily="34" charset="0"/>
                <a:ea typeface="Arial" pitchFamily="34" charset="-122"/>
                <a:cs typeface="Arial" pitchFamily="34" charset="-120"/>
              </a:rPr>
              <a:t>—</a:t>
            </a:r>
            <a:endParaRPr lang="en-US" sz="1238" dirty="0"/>
          </a:p>
        </p:txBody>
      </p:sp>
      <p:sp>
        <p:nvSpPr>
          <p:cNvPr id="34" name="Text 32"/>
          <p:cNvSpPr/>
          <p:nvPr/>
        </p:nvSpPr>
        <p:spPr>
          <a:xfrm>
            <a:off x="4914900" y="3844131"/>
            <a:ext cx="3044603" cy="241300"/>
          </a:xfrm>
          <a:prstGeom prst="rect">
            <a:avLst/>
          </a:prstGeom>
          <a:noFill/>
          <a:ln/>
        </p:spPr>
        <p:txBody>
          <a:bodyPr wrap="square" lIns="0" tIns="0" rIns="0" bIns="0" rtlCol="0" anchor="t">
            <a:normAutofit/>
          </a:bodyPr>
          <a:lstStyle/>
          <a:p>
            <a:pPr algn="l" indent="0" marL="0">
              <a:lnSpc>
                <a:spcPct val="140000"/>
              </a:lnSpc>
              <a:buNone/>
            </a:pPr>
            <a:r>
              <a:rPr lang="en-US" sz="1238" dirty="0">
                <a:solidFill>
                  <a:srgbClr val="2B332E"/>
                </a:solidFill>
                <a:latin typeface="Arial" pitchFamily="34" charset="0"/>
                <a:ea typeface="Arial" pitchFamily="34" charset="-122"/>
                <a:cs typeface="Arial" pitchFamily="34" charset="-120"/>
              </a:rPr>
              <a:t>Lean Six Sigma Green Belt — Georgia Tech</a:t>
            </a:r>
            <a:endParaRPr lang="en-US" sz="1238" dirty="0"/>
          </a:p>
        </p:txBody>
      </p:sp>
      <p:sp>
        <p:nvSpPr>
          <p:cNvPr id="35" name="Text 33"/>
          <p:cNvSpPr/>
          <p:nvPr/>
        </p:nvSpPr>
        <p:spPr>
          <a:xfrm>
            <a:off x="4743450" y="4143474"/>
            <a:ext cx="198834" cy="25806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2C7A58"/>
                </a:solidFill>
                <a:latin typeface="Arial" pitchFamily="34" charset="0"/>
                <a:ea typeface="Arial" pitchFamily="34" charset="-122"/>
                <a:cs typeface="Arial" pitchFamily="34" charset="-120"/>
              </a:rPr>
              <a:t>—</a:t>
            </a:r>
            <a:endParaRPr lang="en-US" sz="1238" dirty="0"/>
          </a:p>
        </p:txBody>
      </p:sp>
      <p:sp>
        <p:nvSpPr>
          <p:cNvPr id="36" name="Text 34"/>
          <p:cNvSpPr/>
          <p:nvPr/>
        </p:nvSpPr>
        <p:spPr>
          <a:xfrm>
            <a:off x="4914900" y="4149824"/>
            <a:ext cx="3988376" cy="241300"/>
          </a:xfrm>
          <a:prstGeom prst="rect">
            <a:avLst/>
          </a:prstGeom>
          <a:noFill/>
          <a:ln/>
        </p:spPr>
        <p:txBody>
          <a:bodyPr wrap="square" lIns="0" tIns="0" rIns="0" bIns="0" rtlCol="0" anchor="t">
            <a:normAutofit/>
          </a:bodyPr>
          <a:lstStyle/>
          <a:p>
            <a:pPr algn="l" indent="0" marL="0">
              <a:lnSpc>
                <a:spcPct val="140000"/>
              </a:lnSpc>
              <a:buNone/>
            </a:pPr>
            <a:r>
              <a:rPr lang="en-US" sz="1238" dirty="0">
                <a:solidFill>
                  <a:srgbClr val="2B332E"/>
                </a:solidFill>
                <a:latin typeface="Arial" pitchFamily="34" charset="0"/>
                <a:ea typeface="Arial" pitchFamily="34" charset="-122"/>
                <a:cs typeface="Arial" pitchFamily="34" charset="-120"/>
              </a:rPr>
              <a:t>BS, Computer &amp; Information Science — ECPI University</a:t>
            </a:r>
            <a:endParaRPr lang="en-US" sz="1238" dirty="0"/>
          </a:p>
        </p:txBody>
      </p:sp>
      <p:sp>
        <p:nvSpPr>
          <p:cNvPr id="37" name="Shape 35"/>
          <p:cNvSpPr/>
          <p:nvPr/>
        </p:nvSpPr>
        <p:spPr>
          <a:xfrm>
            <a:off x="14439900" y="2343448"/>
            <a:ext cx="3048000" cy="7448252"/>
          </a:xfrm>
          <a:prstGeom prst="roundRect">
            <a:avLst>
              <a:gd name="adj" fmla="val 1875"/>
            </a:avLst>
          </a:prstGeom>
          <a:solidFill>
            <a:srgbClr val="16201C"/>
          </a:solidFill>
          <a:ln/>
        </p:spPr>
      </p:sp>
      <p:sp>
        <p:nvSpPr>
          <p:cNvPr id="38" name="Text 36"/>
          <p:cNvSpPr/>
          <p:nvPr/>
        </p:nvSpPr>
        <p:spPr>
          <a:xfrm>
            <a:off x="14687550" y="2572048"/>
            <a:ext cx="2807970"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7CC79B"/>
                </a:solidFill>
                <a:latin typeface="Courier New" pitchFamily="34" charset="0"/>
                <a:ea typeface="Courier New" pitchFamily="34" charset="-122"/>
                <a:cs typeface="Courier New" pitchFamily="34" charset="-120"/>
              </a:rPr>
              <a:t>CORE SKILLS</a:t>
            </a:r>
            <a:endParaRPr lang="en-US" sz="975" dirty="0"/>
          </a:p>
        </p:txBody>
      </p:sp>
      <p:sp>
        <p:nvSpPr>
          <p:cNvPr id="39" name="Shape 37"/>
          <p:cNvSpPr/>
          <p:nvPr/>
        </p:nvSpPr>
        <p:spPr>
          <a:xfrm>
            <a:off x="14687550" y="2883198"/>
            <a:ext cx="1850827" cy="311150"/>
          </a:xfrm>
          <a:prstGeom prst="roundRect">
            <a:avLst>
              <a:gd name="adj" fmla="val 50000"/>
            </a:avLst>
          </a:prstGeom>
          <a:solidFill>
            <a:srgbClr val="7CC79B">
              <a:alpha val="14000"/>
            </a:srgbClr>
          </a:solidFill>
          <a:ln w="6350">
            <a:solidFill>
              <a:srgbClr val="7CC79B">
                <a:alpha val="30000"/>
              </a:srgbClr>
            </a:solidFill>
            <a:prstDash val="solid"/>
          </a:ln>
        </p:spPr>
      </p:sp>
      <p:sp>
        <p:nvSpPr>
          <p:cNvPr id="40" name="Text 38"/>
          <p:cNvSpPr/>
          <p:nvPr/>
        </p:nvSpPr>
        <p:spPr>
          <a:xfrm>
            <a:off x="14827250" y="2946698"/>
            <a:ext cx="1647627" cy="222250"/>
          </a:xfrm>
          <a:prstGeom prst="rect">
            <a:avLst/>
          </a:prstGeom>
          <a:noFill/>
          <a:ln/>
        </p:spPr>
        <p:txBody>
          <a:bodyPr wrap="square" lIns="25400" tIns="25400" rIns="25400" bIns="25400" rtlCol="0" anchor="t">
            <a:normAutofit/>
          </a:bodyPr>
          <a:lstStyle/>
          <a:p>
            <a:pPr algn="l" indent="0" marL="0">
              <a:buNone/>
            </a:pPr>
            <a:r>
              <a:rPr lang="en-US" sz="1125" dirty="0">
                <a:solidFill>
                  <a:srgbClr val="DFE6DF"/>
                </a:solidFill>
                <a:latin typeface="Arial" pitchFamily="34" charset="0"/>
                <a:ea typeface="Arial" pitchFamily="34" charset="-122"/>
                <a:cs typeface="Arial" pitchFamily="34" charset="-120"/>
              </a:rPr>
              <a:t>Program &amp; project mgmt</a:t>
            </a:r>
            <a:endParaRPr lang="en-US" sz="1125" dirty="0"/>
          </a:p>
        </p:txBody>
      </p:sp>
      <p:sp>
        <p:nvSpPr>
          <p:cNvPr id="41" name="Shape 39"/>
          <p:cNvSpPr/>
          <p:nvPr/>
        </p:nvSpPr>
        <p:spPr>
          <a:xfrm>
            <a:off x="14687550" y="3280073"/>
            <a:ext cx="1721048" cy="311150"/>
          </a:xfrm>
          <a:prstGeom prst="roundRect">
            <a:avLst>
              <a:gd name="adj" fmla="val 50000"/>
            </a:avLst>
          </a:prstGeom>
          <a:solidFill>
            <a:srgbClr val="7CC79B">
              <a:alpha val="14000"/>
            </a:srgbClr>
          </a:solidFill>
          <a:ln w="6350">
            <a:solidFill>
              <a:srgbClr val="7CC79B">
                <a:alpha val="30000"/>
              </a:srgbClr>
            </a:solidFill>
            <a:prstDash val="solid"/>
          </a:ln>
        </p:spPr>
      </p:sp>
      <p:sp>
        <p:nvSpPr>
          <p:cNvPr id="42" name="Text 40"/>
          <p:cNvSpPr/>
          <p:nvPr/>
        </p:nvSpPr>
        <p:spPr>
          <a:xfrm>
            <a:off x="14827250" y="3343573"/>
            <a:ext cx="1517848" cy="222250"/>
          </a:xfrm>
          <a:prstGeom prst="rect">
            <a:avLst/>
          </a:prstGeom>
          <a:noFill/>
          <a:ln/>
        </p:spPr>
        <p:txBody>
          <a:bodyPr wrap="square" lIns="25400" tIns="25400" rIns="25400" bIns="25400" rtlCol="0" anchor="t">
            <a:normAutofit/>
          </a:bodyPr>
          <a:lstStyle/>
          <a:p>
            <a:pPr algn="l" indent="0" marL="0">
              <a:buNone/>
            </a:pPr>
            <a:r>
              <a:rPr lang="en-US" sz="1125" dirty="0">
                <a:solidFill>
                  <a:srgbClr val="DFE6DF"/>
                </a:solidFill>
                <a:latin typeface="Arial" pitchFamily="34" charset="0"/>
                <a:ea typeface="Arial" pitchFamily="34" charset="-122"/>
                <a:cs typeface="Arial" pitchFamily="34" charset="-120"/>
              </a:rPr>
              <a:t>AI-enabled operations</a:t>
            </a:r>
            <a:endParaRPr lang="en-US" sz="1125" dirty="0"/>
          </a:p>
        </p:txBody>
      </p:sp>
      <p:sp>
        <p:nvSpPr>
          <p:cNvPr id="43" name="Shape 41"/>
          <p:cNvSpPr/>
          <p:nvPr/>
        </p:nvSpPr>
        <p:spPr>
          <a:xfrm>
            <a:off x="14687550" y="3676948"/>
            <a:ext cx="2177554" cy="311150"/>
          </a:xfrm>
          <a:prstGeom prst="roundRect">
            <a:avLst>
              <a:gd name="adj" fmla="val 50000"/>
            </a:avLst>
          </a:prstGeom>
          <a:solidFill>
            <a:srgbClr val="7CC79B">
              <a:alpha val="14000"/>
            </a:srgbClr>
          </a:solidFill>
          <a:ln w="6350">
            <a:solidFill>
              <a:srgbClr val="7CC79B">
                <a:alpha val="30000"/>
              </a:srgbClr>
            </a:solidFill>
            <a:prstDash val="solid"/>
          </a:ln>
        </p:spPr>
      </p:sp>
      <p:sp>
        <p:nvSpPr>
          <p:cNvPr id="44" name="Text 42"/>
          <p:cNvSpPr/>
          <p:nvPr/>
        </p:nvSpPr>
        <p:spPr>
          <a:xfrm>
            <a:off x="14827250" y="3740448"/>
            <a:ext cx="1974354" cy="222250"/>
          </a:xfrm>
          <a:prstGeom prst="rect">
            <a:avLst/>
          </a:prstGeom>
          <a:noFill/>
          <a:ln/>
        </p:spPr>
        <p:txBody>
          <a:bodyPr wrap="square" lIns="25400" tIns="25400" rIns="25400" bIns="25400" rtlCol="0" anchor="t">
            <a:normAutofit/>
          </a:bodyPr>
          <a:lstStyle/>
          <a:p>
            <a:pPr algn="l" indent="0" marL="0">
              <a:buNone/>
            </a:pPr>
            <a:r>
              <a:rPr lang="en-US" sz="1125" dirty="0">
                <a:solidFill>
                  <a:srgbClr val="DFE6DF"/>
                </a:solidFill>
                <a:latin typeface="Arial" pitchFamily="34" charset="0"/>
                <a:ea typeface="Arial" pitchFamily="34" charset="-122"/>
                <a:cs typeface="Arial" pitchFamily="34" charset="-120"/>
              </a:rPr>
              <a:t>Compliance &amp; documentation</a:t>
            </a:r>
            <a:endParaRPr lang="en-US" sz="1125" dirty="0"/>
          </a:p>
        </p:txBody>
      </p:sp>
      <p:sp>
        <p:nvSpPr>
          <p:cNvPr id="45" name="Shape 43"/>
          <p:cNvSpPr/>
          <p:nvPr/>
        </p:nvSpPr>
        <p:spPr>
          <a:xfrm>
            <a:off x="14687550" y="4073823"/>
            <a:ext cx="1886049" cy="311150"/>
          </a:xfrm>
          <a:prstGeom prst="roundRect">
            <a:avLst>
              <a:gd name="adj" fmla="val 50000"/>
            </a:avLst>
          </a:prstGeom>
          <a:solidFill>
            <a:srgbClr val="7CC79B">
              <a:alpha val="14000"/>
            </a:srgbClr>
          </a:solidFill>
          <a:ln w="6350">
            <a:solidFill>
              <a:srgbClr val="7CC79B">
                <a:alpha val="30000"/>
              </a:srgbClr>
            </a:solidFill>
            <a:prstDash val="solid"/>
          </a:ln>
        </p:spPr>
      </p:sp>
      <p:sp>
        <p:nvSpPr>
          <p:cNvPr id="46" name="Text 44"/>
          <p:cNvSpPr/>
          <p:nvPr/>
        </p:nvSpPr>
        <p:spPr>
          <a:xfrm>
            <a:off x="14827250" y="4137323"/>
            <a:ext cx="1682849" cy="222250"/>
          </a:xfrm>
          <a:prstGeom prst="rect">
            <a:avLst/>
          </a:prstGeom>
          <a:noFill/>
          <a:ln/>
        </p:spPr>
        <p:txBody>
          <a:bodyPr wrap="square" lIns="25400" tIns="25400" rIns="25400" bIns="25400" rtlCol="0" anchor="t">
            <a:normAutofit/>
          </a:bodyPr>
          <a:lstStyle/>
          <a:p>
            <a:pPr algn="l" indent="0" marL="0">
              <a:buNone/>
            </a:pPr>
            <a:r>
              <a:rPr lang="en-US" sz="1125" dirty="0">
                <a:solidFill>
                  <a:srgbClr val="DFE6DF"/>
                </a:solidFill>
                <a:latin typeface="Arial" pitchFamily="34" charset="0"/>
                <a:ea typeface="Arial" pitchFamily="34" charset="-122"/>
                <a:cs typeface="Arial" pitchFamily="34" charset="-120"/>
              </a:rPr>
              <a:t>Stakeholder engagement</a:t>
            </a:r>
            <a:endParaRPr lang="en-US" sz="1125" dirty="0"/>
          </a:p>
        </p:txBody>
      </p:sp>
      <p:sp>
        <p:nvSpPr>
          <p:cNvPr id="47" name="Shape 45"/>
          <p:cNvSpPr/>
          <p:nvPr/>
        </p:nvSpPr>
        <p:spPr>
          <a:xfrm>
            <a:off x="14687550" y="4470698"/>
            <a:ext cx="1128514" cy="311150"/>
          </a:xfrm>
          <a:prstGeom prst="roundRect">
            <a:avLst>
              <a:gd name="adj" fmla="val 50000"/>
            </a:avLst>
          </a:prstGeom>
          <a:solidFill>
            <a:srgbClr val="7CC79B">
              <a:alpha val="14000"/>
            </a:srgbClr>
          </a:solidFill>
          <a:ln w="6350">
            <a:solidFill>
              <a:srgbClr val="7CC79B">
                <a:alpha val="30000"/>
              </a:srgbClr>
            </a:solidFill>
            <a:prstDash val="solid"/>
          </a:ln>
        </p:spPr>
      </p:sp>
      <p:sp>
        <p:nvSpPr>
          <p:cNvPr id="48" name="Text 46"/>
          <p:cNvSpPr/>
          <p:nvPr/>
        </p:nvSpPr>
        <p:spPr>
          <a:xfrm>
            <a:off x="14827250" y="4534198"/>
            <a:ext cx="925314" cy="222250"/>
          </a:xfrm>
          <a:prstGeom prst="rect">
            <a:avLst/>
          </a:prstGeom>
          <a:noFill/>
          <a:ln/>
        </p:spPr>
        <p:txBody>
          <a:bodyPr wrap="square" lIns="25400" tIns="25400" rIns="25400" bIns="25400" rtlCol="0" anchor="t">
            <a:normAutofit/>
          </a:bodyPr>
          <a:lstStyle/>
          <a:p>
            <a:pPr algn="l" indent="0" marL="0">
              <a:buNone/>
            </a:pPr>
            <a:r>
              <a:rPr lang="en-US" sz="1125" dirty="0">
                <a:solidFill>
                  <a:srgbClr val="DFE6DF"/>
                </a:solidFill>
                <a:latin typeface="Arial" pitchFamily="34" charset="0"/>
                <a:ea typeface="Arial" pitchFamily="34" charset="-122"/>
                <a:cs typeface="Arial" pitchFamily="34" charset="-120"/>
              </a:rPr>
              <a:t>Data analysis</a:t>
            </a:r>
            <a:endParaRPr lang="en-US" sz="1125" dirty="0"/>
          </a:p>
        </p:txBody>
      </p:sp>
      <p:sp>
        <p:nvSpPr>
          <p:cNvPr id="49" name="Shape 47"/>
          <p:cNvSpPr/>
          <p:nvPr/>
        </p:nvSpPr>
        <p:spPr>
          <a:xfrm>
            <a:off x="14687550" y="4867573"/>
            <a:ext cx="1615777" cy="311150"/>
          </a:xfrm>
          <a:prstGeom prst="roundRect">
            <a:avLst>
              <a:gd name="adj" fmla="val 50000"/>
            </a:avLst>
          </a:prstGeom>
          <a:solidFill>
            <a:srgbClr val="7CC79B">
              <a:alpha val="14000"/>
            </a:srgbClr>
          </a:solidFill>
          <a:ln w="6350">
            <a:solidFill>
              <a:srgbClr val="7CC79B">
                <a:alpha val="30000"/>
              </a:srgbClr>
            </a:solidFill>
            <a:prstDash val="solid"/>
          </a:ln>
        </p:spPr>
      </p:sp>
      <p:sp>
        <p:nvSpPr>
          <p:cNvPr id="50" name="Text 48"/>
          <p:cNvSpPr/>
          <p:nvPr/>
        </p:nvSpPr>
        <p:spPr>
          <a:xfrm>
            <a:off x="14827250" y="4931073"/>
            <a:ext cx="1412577" cy="222250"/>
          </a:xfrm>
          <a:prstGeom prst="rect">
            <a:avLst/>
          </a:prstGeom>
          <a:noFill/>
          <a:ln/>
        </p:spPr>
        <p:txBody>
          <a:bodyPr wrap="square" lIns="25400" tIns="25400" rIns="25400" bIns="25400" rtlCol="0" anchor="t">
            <a:normAutofit/>
          </a:bodyPr>
          <a:lstStyle/>
          <a:p>
            <a:pPr algn="l" indent="0" marL="0">
              <a:buNone/>
            </a:pPr>
            <a:r>
              <a:rPr lang="en-US" sz="1125" dirty="0">
                <a:solidFill>
                  <a:srgbClr val="DFE6DF"/>
                </a:solidFill>
                <a:latin typeface="Arial" pitchFamily="34" charset="0"/>
                <a:ea typeface="Arial" pitchFamily="34" charset="-122"/>
                <a:cs typeface="Arial" pitchFamily="34" charset="-120"/>
              </a:rPr>
              <a:t>Process optimization</a:t>
            </a:r>
            <a:endParaRPr lang="en-US" sz="11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00100" y="533400"/>
            <a:ext cx="2211517" cy="215900"/>
          </a:xfrm>
          <a:prstGeom prst="rect">
            <a:avLst/>
          </a:prstGeom>
          <a:noFill/>
          <a:ln/>
        </p:spPr>
        <p:txBody>
          <a:bodyPr wrap="square" lIns="25400" tIns="25400" rIns="25400" bIns="25400" rtlCol="0" anchor="t">
            <a:normAutofit/>
          </a:bodyPr>
          <a:lstStyle/>
          <a:p>
            <a:pPr algn="l" indent="0" marL="0">
              <a:buNone/>
            </a:pPr>
            <a:r>
              <a:rPr lang="en-US" sz="1073" spc="236" kern="0" dirty="0">
                <a:solidFill>
                  <a:srgbClr val="2C7A58"/>
                </a:solidFill>
                <a:latin typeface="Courier New" pitchFamily="34" charset="0"/>
                <a:ea typeface="Courier New" pitchFamily="34" charset="-122"/>
                <a:cs typeface="Courier New" pitchFamily="34" charset="-120"/>
              </a:rPr>
              <a:t>ADVISOR BACKGROUND</a:t>
            </a:r>
            <a:endParaRPr lang="en-US" sz="1073" dirty="0"/>
          </a:p>
        </p:txBody>
      </p:sp>
      <p:sp>
        <p:nvSpPr>
          <p:cNvPr id="3" name="Text 1"/>
          <p:cNvSpPr/>
          <p:nvPr/>
        </p:nvSpPr>
        <p:spPr>
          <a:xfrm>
            <a:off x="15477431" y="533400"/>
            <a:ext cx="2211517" cy="215900"/>
          </a:xfrm>
          <a:prstGeom prst="rect">
            <a:avLst/>
          </a:prstGeom>
          <a:noFill/>
          <a:ln/>
        </p:spPr>
        <p:txBody>
          <a:bodyPr wrap="square" lIns="25400" tIns="25400" rIns="25400" bIns="25400" rtlCol="0" anchor="t">
            <a:normAutofit/>
          </a:bodyPr>
          <a:lstStyle/>
          <a:p>
            <a:pPr algn="l" indent="0" marL="0">
              <a:buNone/>
            </a:pPr>
            <a:r>
              <a:rPr lang="en-US" sz="1073" spc="236" kern="0" dirty="0">
                <a:solidFill>
                  <a:srgbClr val="9AA39D"/>
                </a:solidFill>
                <a:latin typeface="Courier New" pitchFamily="34" charset="0"/>
                <a:ea typeface="Courier New" pitchFamily="34" charset="-122"/>
                <a:cs typeface="Courier New" pitchFamily="34" charset="-120"/>
              </a:rPr>
              <a:t>SETTLEED · 03 / 16</a:t>
            </a:r>
            <a:endParaRPr lang="en-US" sz="1073" dirty="0"/>
          </a:p>
        </p:txBody>
      </p:sp>
      <p:sp>
        <p:nvSpPr>
          <p:cNvPr id="4" name="Text 2"/>
          <p:cNvSpPr/>
          <p:nvPr/>
        </p:nvSpPr>
        <p:spPr>
          <a:xfrm>
            <a:off x="800100" y="3073400"/>
            <a:ext cx="3531870" cy="8001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10201A"/>
                </a:solidFill>
                <a:latin typeface="Arial" pitchFamily="34" charset="0"/>
                <a:ea typeface="Arial" pitchFamily="34" charset="-122"/>
                <a:cs typeface="Arial" pitchFamily="34" charset="-120"/>
              </a:rPr>
              <a:t>Dr. Brandi B. Kenner</a:t>
            </a:r>
            <a:endParaRPr lang="en-US" sz="3000" dirty="0"/>
          </a:p>
        </p:txBody>
      </p:sp>
      <p:sp>
        <p:nvSpPr>
          <p:cNvPr id="5" name="Text 3"/>
          <p:cNvSpPr/>
          <p:nvPr/>
        </p:nvSpPr>
        <p:spPr>
          <a:xfrm>
            <a:off x="800100" y="3968750"/>
            <a:ext cx="3771900"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105" kern="0" dirty="0">
                <a:solidFill>
                  <a:srgbClr val="2C7A58"/>
                </a:solidFill>
                <a:latin typeface="Courier New" pitchFamily="34" charset="0"/>
                <a:ea typeface="Courier New" pitchFamily="34" charset="-122"/>
                <a:cs typeface="Courier New" pitchFamily="34" charset="-120"/>
              </a:rPr>
              <a:t>STRATEGIC ADVISOR</a:t>
            </a:r>
            <a:endParaRPr lang="en-US" sz="1050" dirty="0"/>
          </a:p>
        </p:txBody>
      </p:sp>
      <p:sp>
        <p:nvSpPr>
          <p:cNvPr id="6" name="Text 4"/>
          <p:cNvSpPr/>
          <p:nvPr/>
        </p:nvSpPr>
        <p:spPr>
          <a:xfrm>
            <a:off x="800100" y="4206875"/>
            <a:ext cx="3531870" cy="51812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3A443E"/>
                </a:solidFill>
                <a:latin typeface="Arial" pitchFamily="34" charset="0"/>
                <a:ea typeface="Arial" pitchFamily="34" charset="-122"/>
                <a:cs typeface="Arial" pitchFamily="34" charset="-120"/>
              </a:rPr>
              <a:t>Developmental Psychologist · Data Scientist · Educator</a:t>
            </a:r>
            <a:endParaRPr lang="en-US" sz="1350" dirty="0"/>
          </a:p>
        </p:txBody>
      </p:sp>
      <p:sp>
        <p:nvSpPr>
          <p:cNvPr id="7" name="Shape 5"/>
          <p:cNvSpPr/>
          <p:nvPr/>
        </p:nvSpPr>
        <p:spPr>
          <a:xfrm>
            <a:off x="800100" y="4915495"/>
            <a:ext cx="3429000" cy="1489075"/>
          </a:xfrm>
          <a:prstGeom prst="roundRect">
            <a:avLst>
              <a:gd name="adj" fmla="val 3198"/>
            </a:avLst>
          </a:prstGeom>
          <a:solidFill>
            <a:srgbClr val="FFFFFF"/>
          </a:solidFill>
          <a:ln/>
        </p:spPr>
      </p:sp>
      <p:sp>
        <p:nvSpPr>
          <p:cNvPr id="8" name="Shape 6"/>
          <p:cNvSpPr/>
          <p:nvPr/>
        </p:nvSpPr>
        <p:spPr>
          <a:xfrm>
            <a:off x="800100" y="6398220"/>
            <a:ext cx="3429000" cy="9525"/>
          </a:xfrm>
          <a:prstGeom prst="rect">
            <a:avLst/>
          </a:prstGeom>
          <a:solidFill>
            <a:srgbClr val="18221E">
              <a:alpha val="12000"/>
            </a:srgbClr>
          </a:solidFill>
          <a:ln/>
        </p:spPr>
      </p:sp>
      <p:sp>
        <p:nvSpPr>
          <p:cNvPr id="9" name="Shape 7"/>
          <p:cNvSpPr/>
          <p:nvPr/>
        </p:nvSpPr>
        <p:spPr>
          <a:xfrm>
            <a:off x="800100" y="4915495"/>
            <a:ext cx="3429000" cy="9525"/>
          </a:xfrm>
          <a:prstGeom prst="rect">
            <a:avLst/>
          </a:prstGeom>
          <a:solidFill>
            <a:srgbClr val="18221E">
              <a:alpha val="12000"/>
            </a:srgbClr>
          </a:solidFill>
          <a:ln/>
        </p:spPr>
      </p:sp>
      <p:sp>
        <p:nvSpPr>
          <p:cNvPr id="10" name="Shape 8"/>
          <p:cNvSpPr/>
          <p:nvPr/>
        </p:nvSpPr>
        <p:spPr>
          <a:xfrm>
            <a:off x="800100" y="4915495"/>
            <a:ext cx="38100" cy="1489075"/>
          </a:xfrm>
          <a:prstGeom prst="rect">
            <a:avLst/>
          </a:prstGeom>
          <a:solidFill>
            <a:srgbClr val="2C7A58"/>
          </a:solidFill>
          <a:ln/>
        </p:spPr>
      </p:sp>
      <p:sp>
        <p:nvSpPr>
          <p:cNvPr id="11" name="Shape 9"/>
          <p:cNvSpPr/>
          <p:nvPr/>
        </p:nvSpPr>
        <p:spPr>
          <a:xfrm>
            <a:off x="4222750" y="4915495"/>
            <a:ext cx="9525" cy="1489075"/>
          </a:xfrm>
          <a:prstGeom prst="rect">
            <a:avLst/>
          </a:prstGeom>
          <a:solidFill>
            <a:srgbClr val="18221E">
              <a:alpha val="12000"/>
            </a:srgbClr>
          </a:solidFill>
          <a:ln/>
        </p:spPr>
      </p:sp>
      <p:sp>
        <p:nvSpPr>
          <p:cNvPr id="12" name="Text 10"/>
          <p:cNvSpPr/>
          <p:nvPr/>
        </p:nvSpPr>
        <p:spPr>
          <a:xfrm>
            <a:off x="1066800" y="5131396"/>
            <a:ext cx="3015171" cy="1095375"/>
          </a:xfrm>
          <a:prstGeom prst="rect">
            <a:avLst/>
          </a:prstGeom>
          <a:noFill/>
          <a:ln/>
        </p:spPr>
        <p:txBody>
          <a:bodyPr wrap="square" lIns="25400" tIns="25400" rIns="25400" bIns="25400" rtlCol="0" anchor="t">
            <a:normAutofit/>
          </a:bodyPr>
          <a:lstStyle/>
          <a:p>
            <a:pPr algn="l" indent="0" marL="0">
              <a:lnSpc>
                <a:spcPct val="150000"/>
              </a:lnSpc>
              <a:buNone/>
            </a:pPr>
            <a:r>
              <a:rPr lang="en-US" sz="1388" i="1" dirty="0">
                <a:solidFill>
                  <a:srgbClr val="2B332E"/>
                </a:solidFill>
                <a:latin typeface="Arial" pitchFamily="34" charset="0"/>
                <a:ea typeface="Arial" pitchFamily="34" charset="-122"/>
                <a:cs typeface="Arial" pitchFamily="34" charset="-120"/>
              </a:rPr>
              <a:t>"Seasoned </a:t>
            </a:r>
            <a:pPr algn="l" indent="0" marL="0">
              <a:lnSpc>
                <a:spcPct val="150000"/>
              </a:lnSpc>
              <a:buNone/>
            </a:pPr>
            <a:r>
              <a:rPr lang="en-US" sz="1388" b="1" dirty="0">
                <a:solidFill>
                  <a:srgbClr val="10201A"/>
                </a:solidFill>
                <a:latin typeface="Arial" pitchFamily="34" charset="0"/>
                <a:ea typeface="Arial" pitchFamily="34" charset="-122"/>
                <a:cs typeface="Arial" pitchFamily="34" charset="-120"/>
              </a:rPr>
              <a:t>social-sector entrepreneur </a:t>
            </a:r>
            <a:pPr algn="l" indent="0" marL="0">
              <a:lnSpc>
                <a:spcPct val="150000"/>
              </a:lnSpc>
              <a:buNone/>
            </a:pPr>
            <a:r>
              <a:rPr lang="en-US" sz="1388" i="1" dirty="0">
                <a:solidFill>
                  <a:srgbClr val="2B332E"/>
                </a:solidFill>
                <a:latin typeface="Arial" pitchFamily="34" charset="0"/>
                <a:ea typeface="Arial" pitchFamily="34" charset="-122"/>
                <a:cs typeface="Arial" pitchFamily="34" charset="-120"/>
              </a:rPr>
              <a:t>bridging child development, data science &amp; machine learning."</a:t>
            </a:r>
            <a:endParaRPr lang="en-US" sz="1388" dirty="0"/>
          </a:p>
        </p:txBody>
      </p:sp>
      <p:sp>
        <p:nvSpPr>
          <p:cNvPr id="13" name="Text 11"/>
          <p:cNvSpPr/>
          <p:nvPr/>
        </p:nvSpPr>
        <p:spPr>
          <a:xfrm>
            <a:off x="800100" y="9337080"/>
            <a:ext cx="3531870" cy="492720"/>
          </a:xfrm>
          <a:prstGeom prst="rect">
            <a:avLst/>
          </a:prstGeom>
          <a:noFill/>
          <a:ln/>
        </p:spPr>
        <p:txBody>
          <a:bodyPr wrap="square" lIns="25400" tIns="25400" rIns="25400" bIns="25400" rtlCol="0" anchor="t">
            <a:normAutofit/>
          </a:bodyPr>
          <a:lstStyle/>
          <a:p>
            <a:pPr algn="l" indent="0" marL="0">
              <a:lnSpc>
                <a:spcPct val="145000"/>
              </a:lnSpc>
              <a:buNone/>
            </a:pPr>
            <a:r>
              <a:rPr lang="en-US" sz="1200" dirty="0">
                <a:solidFill>
                  <a:srgbClr val="4A534B"/>
                </a:solidFill>
                <a:latin typeface="Arial" pitchFamily="34" charset="0"/>
                <a:ea typeface="Arial" pitchFamily="34" charset="-122"/>
                <a:cs typeface="Arial" pitchFamily="34" charset="-120"/>
              </a:rPr>
              <a:t>Brings </a:t>
            </a:r>
            <a:pPr algn="l" indent="0" marL="0">
              <a:lnSpc>
                <a:spcPct val="145000"/>
              </a:lnSpc>
              <a:buNone/>
            </a:pPr>
            <a:r>
              <a:rPr lang="en-US" sz="1200" b="1" dirty="0">
                <a:solidFill>
                  <a:srgbClr val="15533A"/>
                </a:solidFill>
                <a:latin typeface="Arial" pitchFamily="34" charset="0"/>
                <a:ea typeface="Arial" pitchFamily="34" charset="-122"/>
                <a:cs typeface="Arial" pitchFamily="34" charset="-120"/>
              </a:rPr>
              <a:t>research credibility, ML depth &amp; a social-impact network </a:t>
            </a:r>
            <a:pPr algn="l" indent="0" marL="0">
              <a:lnSpc>
                <a:spcPct val="145000"/>
              </a:lnSpc>
              <a:buNone/>
            </a:pPr>
            <a:r>
              <a:rPr lang="en-US" sz="1200" dirty="0">
                <a:solidFill>
                  <a:srgbClr val="4A534B"/>
                </a:solidFill>
                <a:latin typeface="Arial" pitchFamily="34" charset="0"/>
                <a:ea typeface="Arial" pitchFamily="34" charset="-122"/>
                <a:cs typeface="Arial" pitchFamily="34" charset="-120"/>
              </a:rPr>
              <a:t>to Settleed.</a:t>
            </a:r>
            <a:endParaRPr lang="en-US" sz="1200" dirty="0"/>
          </a:p>
        </p:txBody>
      </p:sp>
      <p:sp>
        <p:nvSpPr>
          <p:cNvPr id="14" name="Shape 12"/>
          <p:cNvSpPr/>
          <p:nvPr/>
        </p:nvSpPr>
        <p:spPr>
          <a:xfrm>
            <a:off x="4743450" y="920750"/>
            <a:ext cx="3071813" cy="1178818"/>
          </a:xfrm>
          <a:prstGeom prst="roundRect">
            <a:avLst>
              <a:gd name="adj" fmla="val 4848"/>
            </a:avLst>
          </a:prstGeom>
          <a:solidFill>
            <a:srgbClr val="FFFFFF"/>
          </a:solidFill>
          <a:ln w="6350">
            <a:solidFill>
              <a:srgbClr val="18221E">
                <a:alpha val="12000"/>
              </a:srgbClr>
            </a:solidFill>
            <a:prstDash val="solid"/>
          </a:ln>
        </p:spPr>
      </p:sp>
      <p:sp>
        <p:nvSpPr>
          <p:cNvPr id="15" name="Text 13"/>
          <p:cNvSpPr/>
          <p:nvPr/>
        </p:nvSpPr>
        <p:spPr>
          <a:xfrm>
            <a:off x="4959350" y="1117600"/>
            <a:ext cx="2904014" cy="329505"/>
          </a:xfrm>
          <a:prstGeom prst="rect">
            <a:avLst/>
          </a:prstGeom>
          <a:noFill/>
          <a:ln/>
        </p:spPr>
        <p:txBody>
          <a:bodyPr wrap="square" lIns="25400" tIns="25400" rIns="25400" bIns="25400" rtlCol="0" anchor="t">
            <a:normAutofit/>
          </a:bodyPr>
          <a:lstStyle/>
          <a:p>
            <a:pPr algn="l" indent="0" marL="0">
              <a:lnSpc>
                <a:spcPct val="90000"/>
              </a:lnSpc>
              <a:buNone/>
            </a:pPr>
            <a:r>
              <a:rPr lang="en-US" sz="2550" b="1" dirty="0">
                <a:solidFill>
                  <a:srgbClr val="2C7A58"/>
                </a:solidFill>
                <a:latin typeface="Arial" pitchFamily="34" charset="0"/>
                <a:ea typeface="Arial" pitchFamily="34" charset="-122"/>
                <a:cs typeface="Arial" pitchFamily="34" charset="-120"/>
              </a:rPr>
              <a:t>PhD</a:t>
            </a:r>
            <a:endParaRPr lang="en-US" sz="2550" dirty="0"/>
          </a:p>
        </p:txBody>
      </p:sp>
      <p:sp>
        <p:nvSpPr>
          <p:cNvPr id="16" name="Text 14"/>
          <p:cNvSpPr/>
          <p:nvPr/>
        </p:nvSpPr>
        <p:spPr>
          <a:xfrm>
            <a:off x="4959350" y="1504256"/>
            <a:ext cx="2719213" cy="436563"/>
          </a:xfrm>
          <a:prstGeom prst="rect">
            <a:avLst/>
          </a:prstGeom>
          <a:noFill/>
          <a:ln/>
        </p:spPr>
        <p:txBody>
          <a:bodyPr wrap="square" lIns="25400" tIns="25400" rIns="25400" bIns="25400" rtlCol="0" anchor="t">
            <a:normAutofit/>
          </a:bodyPr>
          <a:lstStyle/>
          <a:p>
            <a:pPr algn="l" indent="0" marL="0">
              <a:lnSpc>
                <a:spcPct val="135000"/>
              </a:lnSpc>
              <a:buNone/>
            </a:pPr>
            <a:r>
              <a:rPr lang="en-US" sz="1125" dirty="0">
                <a:solidFill>
                  <a:srgbClr val="3A443E"/>
                </a:solidFill>
                <a:latin typeface="Arial" pitchFamily="34" charset="0"/>
                <a:ea typeface="Arial" pitchFamily="34" charset="-122"/>
                <a:cs typeface="Arial" pitchFamily="34" charset="-120"/>
              </a:rPr>
              <a:t>Developmental Psychology — </a:t>
            </a:r>
            <a:pPr algn="l" indent="0" marL="0">
              <a:lnSpc>
                <a:spcPct val="135000"/>
              </a:lnSpc>
              <a:buNone/>
            </a:pPr>
            <a:r>
              <a:rPr lang="en-US" sz="1125" b="1" dirty="0">
                <a:solidFill>
                  <a:srgbClr val="3A443E"/>
                </a:solidFill>
                <a:latin typeface="Arial" pitchFamily="34" charset="0"/>
                <a:ea typeface="Arial" pitchFamily="34" charset="-122"/>
                <a:cs typeface="Arial" pitchFamily="34" charset="-120"/>
              </a:rPr>
              <a:t>Emory University</a:t>
            </a:r>
            <a:endParaRPr lang="en-US" sz="1125" dirty="0"/>
          </a:p>
        </p:txBody>
      </p:sp>
      <p:sp>
        <p:nvSpPr>
          <p:cNvPr id="17" name="Shape 15"/>
          <p:cNvSpPr/>
          <p:nvPr/>
        </p:nvSpPr>
        <p:spPr>
          <a:xfrm>
            <a:off x="7967662" y="920750"/>
            <a:ext cx="3071813" cy="1178818"/>
          </a:xfrm>
          <a:prstGeom prst="roundRect">
            <a:avLst>
              <a:gd name="adj" fmla="val 4848"/>
            </a:avLst>
          </a:prstGeom>
          <a:solidFill>
            <a:srgbClr val="FFFFFF"/>
          </a:solidFill>
          <a:ln w="6350">
            <a:solidFill>
              <a:srgbClr val="18221E">
                <a:alpha val="12000"/>
              </a:srgbClr>
            </a:solidFill>
            <a:prstDash val="solid"/>
          </a:ln>
        </p:spPr>
      </p:sp>
      <p:sp>
        <p:nvSpPr>
          <p:cNvPr id="18" name="Text 16"/>
          <p:cNvSpPr/>
          <p:nvPr/>
        </p:nvSpPr>
        <p:spPr>
          <a:xfrm>
            <a:off x="8183563" y="1117600"/>
            <a:ext cx="2904014" cy="329505"/>
          </a:xfrm>
          <a:prstGeom prst="rect">
            <a:avLst/>
          </a:prstGeom>
          <a:noFill/>
          <a:ln/>
        </p:spPr>
        <p:txBody>
          <a:bodyPr wrap="square" lIns="25400" tIns="25400" rIns="25400" bIns="25400" rtlCol="0" anchor="t">
            <a:normAutofit/>
          </a:bodyPr>
          <a:lstStyle/>
          <a:p>
            <a:pPr algn="l" indent="0" marL="0">
              <a:lnSpc>
                <a:spcPct val="90000"/>
              </a:lnSpc>
              <a:buNone/>
            </a:pPr>
            <a:r>
              <a:rPr lang="en-US" sz="2550" b="1" dirty="0">
                <a:solidFill>
                  <a:srgbClr val="2C7A58"/>
                </a:solidFill>
                <a:latin typeface="Arial" pitchFamily="34" charset="0"/>
                <a:ea typeface="Arial" pitchFamily="34" charset="-122"/>
                <a:cs typeface="Arial" pitchFamily="34" charset="-120"/>
              </a:rPr>
              <a:t>MS</a:t>
            </a:r>
            <a:endParaRPr lang="en-US" sz="2550" dirty="0"/>
          </a:p>
        </p:txBody>
      </p:sp>
      <p:sp>
        <p:nvSpPr>
          <p:cNvPr id="19" name="Text 17"/>
          <p:cNvSpPr/>
          <p:nvPr/>
        </p:nvSpPr>
        <p:spPr>
          <a:xfrm>
            <a:off x="8183563" y="1504256"/>
            <a:ext cx="2719213" cy="436563"/>
          </a:xfrm>
          <a:prstGeom prst="rect">
            <a:avLst/>
          </a:prstGeom>
          <a:noFill/>
          <a:ln/>
        </p:spPr>
        <p:txBody>
          <a:bodyPr wrap="square" lIns="25400" tIns="25400" rIns="25400" bIns="25400" rtlCol="0" anchor="t">
            <a:normAutofit/>
          </a:bodyPr>
          <a:lstStyle/>
          <a:p>
            <a:pPr algn="l" indent="0" marL="0">
              <a:lnSpc>
                <a:spcPct val="135000"/>
              </a:lnSpc>
              <a:buNone/>
            </a:pPr>
            <a:r>
              <a:rPr lang="en-US" sz="1125" dirty="0">
                <a:solidFill>
                  <a:srgbClr val="3A443E"/>
                </a:solidFill>
                <a:latin typeface="Arial" pitchFamily="34" charset="0"/>
                <a:ea typeface="Arial" pitchFamily="34" charset="-122"/>
                <a:cs typeface="Arial" pitchFamily="34" charset="-120"/>
              </a:rPr>
              <a:t>Machine Learning Engineering — </a:t>
            </a:r>
            <a:pPr algn="l" indent="0" marL="0">
              <a:lnSpc>
                <a:spcPct val="135000"/>
              </a:lnSpc>
              <a:buNone/>
            </a:pPr>
            <a:r>
              <a:rPr lang="en-US" sz="1125" b="1" dirty="0">
                <a:solidFill>
                  <a:srgbClr val="3A443E"/>
                </a:solidFill>
                <a:latin typeface="Arial" pitchFamily="34" charset="0"/>
                <a:ea typeface="Arial" pitchFamily="34" charset="-122"/>
                <a:cs typeface="Arial" pitchFamily="34" charset="-120"/>
              </a:rPr>
              <a:t>Mercer University</a:t>
            </a:r>
            <a:endParaRPr lang="en-US" sz="1125" dirty="0"/>
          </a:p>
        </p:txBody>
      </p:sp>
      <p:sp>
        <p:nvSpPr>
          <p:cNvPr id="20" name="Shape 18"/>
          <p:cNvSpPr/>
          <p:nvPr/>
        </p:nvSpPr>
        <p:spPr>
          <a:xfrm>
            <a:off x="11191875" y="920750"/>
            <a:ext cx="3071813" cy="1178818"/>
          </a:xfrm>
          <a:prstGeom prst="roundRect">
            <a:avLst>
              <a:gd name="adj" fmla="val 4848"/>
            </a:avLst>
          </a:prstGeom>
          <a:solidFill>
            <a:srgbClr val="FFFFFF"/>
          </a:solidFill>
          <a:ln w="6350">
            <a:solidFill>
              <a:srgbClr val="18221E">
                <a:alpha val="12000"/>
              </a:srgbClr>
            </a:solidFill>
            <a:prstDash val="solid"/>
          </a:ln>
        </p:spPr>
      </p:sp>
      <p:sp>
        <p:nvSpPr>
          <p:cNvPr id="21" name="Text 19"/>
          <p:cNvSpPr/>
          <p:nvPr/>
        </p:nvSpPr>
        <p:spPr>
          <a:xfrm>
            <a:off x="11407776" y="1117600"/>
            <a:ext cx="2904014" cy="329505"/>
          </a:xfrm>
          <a:prstGeom prst="rect">
            <a:avLst/>
          </a:prstGeom>
          <a:noFill/>
          <a:ln/>
        </p:spPr>
        <p:txBody>
          <a:bodyPr wrap="square" lIns="25400" tIns="25400" rIns="25400" bIns="25400" rtlCol="0" anchor="t">
            <a:normAutofit/>
          </a:bodyPr>
          <a:lstStyle/>
          <a:p>
            <a:pPr algn="l" indent="0" marL="0">
              <a:lnSpc>
                <a:spcPct val="90000"/>
              </a:lnSpc>
              <a:buNone/>
            </a:pPr>
            <a:r>
              <a:rPr lang="en-US" sz="2550" b="1" dirty="0">
                <a:solidFill>
                  <a:srgbClr val="2C7A58"/>
                </a:solidFill>
                <a:latin typeface="Arial" pitchFamily="34" charset="0"/>
                <a:ea typeface="Arial" pitchFamily="34" charset="-122"/>
                <a:cs typeface="Arial" pitchFamily="34" charset="-120"/>
              </a:rPr>
              <a:t>Yale</a:t>
            </a:r>
            <a:endParaRPr lang="en-US" sz="2550" dirty="0"/>
          </a:p>
        </p:txBody>
      </p:sp>
      <p:sp>
        <p:nvSpPr>
          <p:cNvPr id="22" name="Text 20"/>
          <p:cNvSpPr/>
          <p:nvPr/>
        </p:nvSpPr>
        <p:spPr>
          <a:xfrm>
            <a:off x="11407776" y="1504256"/>
            <a:ext cx="2904014" cy="237331"/>
          </a:xfrm>
          <a:prstGeom prst="rect">
            <a:avLst/>
          </a:prstGeom>
          <a:noFill/>
          <a:ln/>
        </p:spPr>
        <p:txBody>
          <a:bodyPr wrap="square" lIns="25400" tIns="25400" rIns="25400" bIns="25400" rtlCol="0" anchor="t">
            <a:normAutofit/>
          </a:bodyPr>
          <a:lstStyle/>
          <a:p>
            <a:pPr algn="l" indent="0" marL="0">
              <a:lnSpc>
                <a:spcPct val="135000"/>
              </a:lnSpc>
              <a:buNone/>
            </a:pPr>
            <a:r>
              <a:rPr lang="en-US" sz="1125" dirty="0">
                <a:solidFill>
                  <a:srgbClr val="3A443E"/>
                </a:solidFill>
                <a:latin typeface="Arial" pitchFamily="34" charset="0"/>
                <a:ea typeface="Arial" pitchFamily="34" charset="-122"/>
                <a:cs typeface="Arial" pitchFamily="34" charset="-120"/>
              </a:rPr>
              <a:t>Affiliated </a:t>
            </a:r>
            <a:pPr algn="l" indent="0" marL="0">
              <a:lnSpc>
                <a:spcPct val="135000"/>
              </a:lnSpc>
              <a:buNone/>
            </a:pPr>
            <a:r>
              <a:rPr lang="en-US" sz="1125" b="1" dirty="0">
                <a:solidFill>
                  <a:srgbClr val="3A443E"/>
                </a:solidFill>
                <a:latin typeface="Arial" pitchFamily="34" charset="0"/>
                <a:ea typeface="Arial" pitchFamily="34" charset="-122"/>
                <a:cs typeface="Arial" pitchFamily="34" charset="-120"/>
              </a:rPr>
              <a:t>Research Scientist</a:t>
            </a:r>
            <a:endParaRPr lang="en-US" sz="1125" dirty="0"/>
          </a:p>
        </p:txBody>
      </p:sp>
      <p:sp>
        <p:nvSpPr>
          <p:cNvPr id="23" name="Shape 21"/>
          <p:cNvSpPr/>
          <p:nvPr/>
        </p:nvSpPr>
        <p:spPr>
          <a:xfrm>
            <a:off x="14416088" y="920750"/>
            <a:ext cx="3071813" cy="1178818"/>
          </a:xfrm>
          <a:prstGeom prst="roundRect">
            <a:avLst>
              <a:gd name="adj" fmla="val 4848"/>
            </a:avLst>
          </a:prstGeom>
          <a:solidFill>
            <a:srgbClr val="FFFFFF"/>
          </a:solidFill>
          <a:ln w="6350">
            <a:solidFill>
              <a:srgbClr val="18221E">
                <a:alpha val="12000"/>
              </a:srgbClr>
            </a:solidFill>
            <a:prstDash val="solid"/>
          </a:ln>
        </p:spPr>
      </p:sp>
      <p:sp>
        <p:nvSpPr>
          <p:cNvPr id="24" name="Text 22"/>
          <p:cNvSpPr/>
          <p:nvPr/>
        </p:nvSpPr>
        <p:spPr>
          <a:xfrm>
            <a:off x="14631988" y="1117600"/>
            <a:ext cx="2904014" cy="329505"/>
          </a:xfrm>
          <a:prstGeom prst="rect">
            <a:avLst/>
          </a:prstGeom>
          <a:noFill/>
          <a:ln/>
        </p:spPr>
        <p:txBody>
          <a:bodyPr wrap="square" lIns="25400" tIns="25400" rIns="25400" bIns="25400" rtlCol="0" anchor="t">
            <a:normAutofit/>
          </a:bodyPr>
          <a:lstStyle/>
          <a:p>
            <a:pPr algn="l" indent="0" marL="0">
              <a:lnSpc>
                <a:spcPct val="90000"/>
              </a:lnSpc>
              <a:buNone/>
            </a:pPr>
            <a:r>
              <a:rPr lang="en-US" sz="2550" b="1" dirty="0">
                <a:solidFill>
                  <a:srgbClr val="2C7A58"/>
                </a:solidFill>
                <a:latin typeface="Arial" pitchFamily="34" charset="0"/>
                <a:ea typeface="Arial" pitchFamily="34" charset="-122"/>
                <a:cs typeface="Arial" pitchFamily="34" charset="-120"/>
              </a:rPr>
              <a:t>$800M</a:t>
            </a:r>
            <a:endParaRPr lang="en-US" sz="2550" dirty="0"/>
          </a:p>
        </p:txBody>
      </p:sp>
      <p:sp>
        <p:nvSpPr>
          <p:cNvPr id="25" name="Text 23"/>
          <p:cNvSpPr/>
          <p:nvPr/>
        </p:nvSpPr>
        <p:spPr>
          <a:xfrm>
            <a:off x="14631988" y="1504256"/>
            <a:ext cx="2719213" cy="430213"/>
          </a:xfrm>
          <a:prstGeom prst="rect">
            <a:avLst/>
          </a:prstGeom>
          <a:noFill/>
          <a:ln/>
        </p:spPr>
        <p:txBody>
          <a:bodyPr wrap="square" lIns="25400" tIns="25400" rIns="25400" bIns="25400" rtlCol="0" anchor="t">
            <a:normAutofit/>
          </a:bodyPr>
          <a:lstStyle/>
          <a:p>
            <a:pPr algn="l" indent="0" marL="0">
              <a:lnSpc>
                <a:spcPct val="135000"/>
              </a:lnSpc>
              <a:buNone/>
            </a:pPr>
            <a:r>
              <a:rPr lang="en-US" sz="1125" b="1" dirty="0">
                <a:solidFill>
                  <a:srgbClr val="3A443E"/>
                </a:solidFill>
                <a:latin typeface="Arial" pitchFamily="34" charset="0"/>
                <a:ea typeface="Arial" pitchFamily="34" charset="-122"/>
                <a:cs typeface="Arial" pitchFamily="34" charset="-120"/>
              </a:rPr>
              <a:t>Lovevery </a:t>
            </a:r>
            <a:pPr algn="l" indent="0" marL="0">
              <a:lnSpc>
                <a:spcPct val="135000"/>
              </a:lnSpc>
              <a:buNone/>
            </a:pPr>
            <a:r>
              <a:rPr lang="en-US" sz="1125" dirty="0">
                <a:solidFill>
                  <a:srgbClr val="3A443E"/>
                </a:solidFill>
                <a:latin typeface="Arial" pitchFamily="34" charset="0"/>
                <a:ea typeface="Arial" pitchFamily="34" charset="-122"/>
                <a:cs typeface="Arial" pitchFamily="34" charset="-120"/>
              </a:rPr>
              <a:t>advisory board — playkit co. valuation</a:t>
            </a:r>
            <a:endParaRPr lang="en-US" sz="1125" dirty="0"/>
          </a:p>
        </p:txBody>
      </p:sp>
      <p:sp>
        <p:nvSpPr>
          <p:cNvPr id="26" name="Text 24"/>
          <p:cNvSpPr/>
          <p:nvPr/>
        </p:nvSpPr>
        <p:spPr>
          <a:xfrm>
            <a:off x="4743450" y="2309118"/>
            <a:ext cx="10393680"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2C7A58"/>
                </a:solidFill>
                <a:latin typeface="Courier New" pitchFamily="34" charset="0"/>
                <a:ea typeface="Courier New" pitchFamily="34" charset="-122"/>
                <a:cs typeface="Courier New" pitchFamily="34" charset="-120"/>
              </a:rPr>
              <a:t>RECOGNITION</a:t>
            </a:r>
            <a:endParaRPr lang="en-US" sz="975" dirty="0"/>
          </a:p>
        </p:txBody>
      </p:sp>
      <p:sp>
        <p:nvSpPr>
          <p:cNvPr id="27" name="Text 25"/>
          <p:cNvSpPr/>
          <p:nvPr/>
        </p:nvSpPr>
        <p:spPr>
          <a:xfrm>
            <a:off x="4743450" y="2563118"/>
            <a:ext cx="198834" cy="25806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2C7A58"/>
                </a:solidFill>
                <a:latin typeface="Arial" pitchFamily="34" charset="0"/>
                <a:ea typeface="Arial" pitchFamily="34" charset="-122"/>
                <a:cs typeface="Arial" pitchFamily="34" charset="-120"/>
              </a:rPr>
              <a:t>—</a:t>
            </a:r>
            <a:endParaRPr lang="en-US" sz="1238" dirty="0"/>
          </a:p>
        </p:txBody>
      </p:sp>
      <p:sp>
        <p:nvSpPr>
          <p:cNvPr id="28" name="Text 26"/>
          <p:cNvSpPr/>
          <p:nvPr/>
        </p:nvSpPr>
        <p:spPr>
          <a:xfrm>
            <a:off x="4914900" y="2569468"/>
            <a:ext cx="453430" cy="241300"/>
          </a:xfrm>
          <a:prstGeom prst="rect">
            <a:avLst/>
          </a:prstGeom>
          <a:noFill/>
          <a:ln/>
        </p:spPr>
        <p:txBody>
          <a:bodyPr wrap="square" lIns="0" tIns="0" rIns="0" bIns="0" rtlCol="0" anchor="t">
            <a:normAutofit/>
          </a:bodyPr>
          <a:lstStyle/>
          <a:p>
            <a:pPr algn="l" indent="0" marL="0">
              <a:lnSpc>
                <a:spcPct val="140000"/>
              </a:lnSpc>
              <a:buNone/>
            </a:pPr>
            <a:r>
              <a:rPr lang="en-US" sz="1238" dirty="0">
                <a:solidFill>
                  <a:srgbClr val="2B332E"/>
                </a:solidFill>
                <a:latin typeface="Arial" pitchFamily="34" charset="0"/>
                <a:ea typeface="Arial" pitchFamily="34" charset="-122"/>
                <a:cs typeface="Arial" pitchFamily="34" charset="-120"/>
              </a:rPr>
              <a:t>2024</a:t>
            </a:r>
            <a:endParaRPr lang="en-US" sz="1238" dirty="0"/>
          </a:p>
        </p:txBody>
      </p:sp>
      <p:sp>
        <p:nvSpPr>
          <p:cNvPr id="29" name="Text 27"/>
          <p:cNvSpPr/>
          <p:nvPr/>
        </p:nvSpPr>
        <p:spPr>
          <a:xfrm>
            <a:off x="5329238" y="2588518"/>
            <a:ext cx="1595199" cy="209550"/>
          </a:xfrm>
          <a:prstGeom prst="rect">
            <a:avLst/>
          </a:prstGeom>
          <a:noFill/>
          <a:ln/>
        </p:spPr>
        <p:txBody>
          <a:bodyPr wrap="square" lIns="25400" tIns="25400" rIns="25400" bIns="25400" rtlCol="0" anchor="t">
            <a:normAutofit/>
          </a:bodyPr>
          <a:lstStyle/>
          <a:p>
            <a:pPr algn="l" indent="0" marL="0">
              <a:lnSpc>
                <a:spcPct val="140000"/>
              </a:lnSpc>
              <a:buNone/>
            </a:pPr>
            <a:r>
              <a:rPr lang="en-US" sz="1238" b="1" dirty="0">
                <a:solidFill>
                  <a:srgbClr val="2B332E"/>
                </a:solidFill>
                <a:latin typeface="Arial" pitchFamily="34" charset="0"/>
                <a:ea typeface="Arial" pitchFamily="34" charset="-122"/>
                <a:cs typeface="Arial" pitchFamily="34" charset="-120"/>
              </a:rPr>
              <a:t>Camelback Ventures</a:t>
            </a:r>
            <a:endParaRPr lang="en-US" sz="1238" dirty="0"/>
          </a:p>
        </p:txBody>
      </p:sp>
      <p:sp>
        <p:nvSpPr>
          <p:cNvPr id="30" name="Text 28"/>
          <p:cNvSpPr/>
          <p:nvPr/>
        </p:nvSpPr>
        <p:spPr>
          <a:xfrm>
            <a:off x="6816428" y="2569468"/>
            <a:ext cx="1671240" cy="241300"/>
          </a:xfrm>
          <a:prstGeom prst="rect">
            <a:avLst/>
          </a:prstGeom>
          <a:noFill/>
          <a:ln/>
        </p:spPr>
        <p:txBody>
          <a:bodyPr wrap="square" lIns="0" tIns="0" rIns="0" bIns="0" rtlCol="0" anchor="t">
            <a:normAutofit/>
          </a:bodyPr>
          <a:lstStyle/>
          <a:p>
            <a:pPr algn="l" indent="0" marL="0">
              <a:lnSpc>
                <a:spcPct val="140000"/>
              </a:lnSpc>
              <a:buNone/>
            </a:pPr>
            <a:r>
              <a:rPr lang="en-US" sz="1238" dirty="0">
                <a:solidFill>
                  <a:srgbClr val="2B332E"/>
                </a:solidFill>
                <a:latin typeface="Arial" pitchFamily="34" charset="0"/>
                <a:ea typeface="Arial" pitchFamily="34" charset="-122"/>
                <a:cs typeface="Arial" pitchFamily="34" charset="-120"/>
              </a:rPr>
              <a:t>Conscious Tech Fellow</a:t>
            </a:r>
            <a:endParaRPr lang="en-US" sz="1238" dirty="0"/>
          </a:p>
        </p:txBody>
      </p:sp>
      <p:sp>
        <p:nvSpPr>
          <p:cNvPr id="31" name="Text 29"/>
          <p:cNvSpPr/>
          <p:nvPr/>
        </p:nvSpPr>
        <p:spPr>
          <a:xfrm>
            <a:off x="4743450" y="2875161"/>
            <a:ext cx="198834" cy="25806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2C7A58"/>
                </a:solidFill>
                <a:latin typeface="Arial" pitchFamily="34" charset="0"/>
                <a:ea typeface="Arial" pitchFamily="34" charset="-122"/>
                <a:cs typeface="Arial" pitchFamily="34" charset="-120"/>
              </a:rPr>
              <a:t>—</a:t>
            </a:r>
            <a:endParaRPr lang="en-US" sz="1238" dirty="0"/>
          </a:p>
        </p:txBody>
      </p:sp>
      <p:sp>
        <p:nvSpPr>
          <p:cNvPr id="32" name="Text 30"/>
          <p:cNvSpPr/>
          <p:nvPr/>
        </p:nvSpPr>
        <p:spPr>
          <a:xfrm>
            <a:off x="4914900" y="2881511"/>
            <a:ext cx="453430" cy="241300"/>
          </a:xfrm>
          <a:prstGeom prst="rect">
            <a:avLst/>
          </a:prstGeom>
          <a:noFill/>
          <a:ln/>
        </p:spPr>
        <p:txBody>
          <a:bodyPr wrap="square" lIns="0" tIns="0" rIns="0" bIns="0" rtlCol="0" anchor="t">
            <a:normAutofit/>
          </a:bodyPr>
          <a:lstStyle/>
          <a:p>
            <a:pPr algn="l" indent="0" marL="0">
              <a:lnSpc>
                <a:spcPct val="140000"/>
              </a:lnSpc>
              <a:buNone/>
            </a:pPr>
            <a:r>
              <a:rPr lang="en-US" sz="1238" dirty="0">
                <a:solidFill>
                  <a:srgbClr val="2B332E"/>
                </a:solidFill>
                <a:latin typeface="Arial" pitchFamily="34" charset="0"/>
                <a:ea typeface="Arial" pitchFamily="34" charset="-122"/>
                <a:cs typeface="Arial" pitchFamily="34" charset="-120"/>
              </a:rPr>
              <a:t>2024</a:t>
            </a:r>
            <a:endParaRPr lang="en-US" sz="1238" dirty="0"/>
          </a:p>
        </p:txBody>
      </p:sp>
      <p:sp>
        <p:nvSpPr>
          <p:cNvPr id="33" name="Text 31"/>
          <p:cNvSpPr/>
          <p:nvPr/>
        </p:nvSpPr>
        <p:spPr>
          <a:xfrm>
            <a:off x="5329238" y="2900561"/>
            <a:ext cx="1374408" cy="209550"/>
          </a:xfrm>
          <a:prstGeom prst="rect">
            <a:avLst/>
          </a:prstGeom>
          <a:noFill/>
          <a:ln/>
        </p:spPr>
        <p:txBody>
          <a:bodyPr wrap="square" lIns="25400" tIns="25400" rIns="25400" bIns="25400" rtlCol="0" anchor="t">
            <a:normAutofit/>
          </a:bodyPr>
          <a:lstStyle/>
          <a:p>
            <a:pPr algn="l" indent="0" marL="0">
              <a:lnSpc>
                <a:spcPct val="140000"/>
              </a:lnSpc>
              <a:buNone/>
            </a:pPr>
            <a:r>
              <a:rPr lang="en-US" sz="1238" b="1" dirty="0">
                <a:solidFill>
                  <a:srgbClr val="2B332E"/>
                </a:solidFill>
                <a:latin typeface="Arial" pitchFamily="34" charset="0"/>
                <a:ea typeface="Arial" pitchFamily="34" charset="-122"/>
                <a:cs typeface="Arial" pitchFamily="34" charset="-120"/>
              </a:rPr>
              <a:t>Gates Foundation</a:t>
            </a:r>
            <a:endParaRPr lang="en-US" sz="1238" dirty="0"/>
          </a:p>
        </p:txBody>
      </p:sp>
      <p:sp>
        <p:nvSpPr>
          <p:cNvPr id="34" name="Text 32"/>
          <p:cNvSpPr/>
          <p:nvPr/>
        </p:nvSpPr>
        <p:spPr>
          <a:xfrm>
            <a:off x="6615708" y="2881511"/>
            <a:ext cx="3478729" cy="241300"/>
          </a:xfrm>
          <a:prstGeom prst="rect">
            <a:avLst/>
          </a:prstGeom>
          <a:noFill/>
          <a:ln/>
        </p:spPr>
        <p:txBody>
          <a:bodyPr wrap="square" lIns="0" tIns="0" rIns="0" bIns="0" rtlCol="0" anchor="t">
            <a:normAutofit/>
          </a:bodyPr>
          <a:lstStyle/>
          <a:p>
            <a:pPr algn="l" indent="0" marL="0">
              <a:lnSpc>
                <a:spcPct val="140000"/>
              </a:lnSpc>
              <a:buNone/>
            </a:pPr>
            <a:r>
              <a:rPr lang="en-US" sz="1238" dirty="0">
                <a:solidFill>
                  <a:srgbClr val="2B332E"/>
                </a:solidFill>
                <a:latin typeface="Arial" pitchFamily="34" charset="0"/>
                <a:ea typeface="Arial" pitchFamily="34" charset="-122"/>
                <a:cs typeface="Arial" pitchFamily="34" charset="-120"/>
              </a:rPr>
              <a:t>ASU + GSV Promising Entrepreneur sponsorship</a:t>
            </a:r>
            <a:endParaRPr lang="en-US" sz="1238" dirty="0"/>
          </a:p>
        </p:txBody>
      </p:sp>
      <p:sp>
        <p:nvSpPr>
          <p:cNvPr id="35" name="Text 33"/>
          <p:cNvSpPr/>
          <p:nvPr/>
        </p:nvSpPr>
        <p:spPr>
          <a:xfrm>
            <a:off x="4743450" y="3187204"/>
            <a:ext cx="198834" cy="25806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2C7A58"/>
                </a:solidFill>
                <a:latin typeface="Arial" pitchFamily="34" charset="0"/>
                <a:ea typeface="Arial" pitchFamily="34" charset="-122"/>
                <a:cs typeface="Arial" pitchFamily="34" charset="-120"/>
              </a:rPr>
              <a:t>—</a:t>
            </a:r>
            <a:endParaRPr lang="en-US" sz="1238" dirty="0"/>
          </a:p>
        </p:txBody>
      </p:sp>
      <p:sp>
        <p:nvSpPr>
          <p:cNvPr id="36" name="Text 34"/>
          <p:cNvSpPr/>
          <p:nvPr/>
        </p:nvSpPr>
        <p:spPr>
          <a:xfrm>
            <a:off x="4914900" y="3212604"/>
            <a:ext cx="1720165" cy="209550"/>
          </a:xfrm>
          <a:prstGeom prst="rect">
            <a:avLst/>
          </a:prstGeom>
          <a:noFill/>
          <a:ln/>
        </p:spPr>
        <p:txBody>
          <a:bodyPr wrap="square" lIns="25400" tIns="25400" rIns="25400" bIns="25400" rtlCol="0" anchor="t">
            <a:normAutofit/>
          </a:bodyPr>
          <a:lstStyle/>
          <a:p>
            <a:pPr algn="l" indent="0" marL="0">
              <a:lnSpc>
                <a:spcPct val="140000"/>
              </a:lnSpc>
              <a:buNone/>
            </a:pPr>
            <a:r>
              <a:rPr lang="en-US" sz="1238" b="1" dirty="0">
                <a:solidFill>
                  <a:srgbClr val="2B332E"/>
                </a:solidFill>
                <a:latin typeface="Arial" pitchFamily="34" charset="0"/>
                <a:ea typeface="Arial" pitchFamily="34" charset="-122"/>
                <a:cs typeface="Arial" pitchFamily="34" charset="-120"/>
              </a:rPr>
              <a:t>Self-Directed Learning</a:t>
            </a:r>
            <a:endParaRPr lang="en-US" sz="1238" dirty="0"/>
          </a:p>
        </p:txBody>
      </p:sp>
      <p:sp>
        <p:nvSpPr>
          <p:cNvPr id="37" name="Text 35"/>
          <p:cNvSpPr/>
          <p:nvPr/>
        </p:nvSpPr>
        <p:spPr>
          <a:xfrm>
            <a:off x="6515695" y="3193554"/>
            <a:ext cx="2096988" cy="241300"/>
          </a:xfrm>
          <a:prstGeom prst="rect">
            <a:avLst/>
          </a:prstGeom>
          <a:noFill/>
          <a:ln/>
        </p:spPr>
        <p:txBody>
          <a:bodyPr wrap="square" lIns="0" tIns="0" rIns="0" bIns="0" rtlCol="0" anchor="t">
            <a:normAutofit/>
          </a:bodyPr>
          <a:lstStyle/>
          <a:p>
            <a:pPr algn="l" indent="0" marL="0">
              <a:lnSpc>
                <a:spcPct val="140000"/>
              </a:lnSpc>
              <a:buNone/>
            </a:pPr>
            <a:r>
              <a:rPr lang="en-US" sz="1238" dirty="0">
                <a:solidFill>
                  <a:srgbClr val="2B332E"/>
                </a:solidFill>
                <a:latin typeface="Arial" pitchFamily="34" charset="0"/>
                <a:ea typeface="Arial" pitchFamily="34" charset="-122"/>
                <a:cs typeface="Arial" pitchFamily="34" charset="-120"/>
              </a:rPr>
              <a:t>Lifetime Achievement Award</a:t>
            </a:r>
            <a:endParaRPr lang="en-US" sz="1238" dirty="0"/>
          </a:p>
        </p:txBody>
      </p:sp>
      <p:sp>
        <p:nvSpPr>
          <p:cNvPr id="38" name="Text 36"/>
          <p:cNvSpPr/>
          <p:nvPr/>
        </p:nvSpPr>
        <p:spPr>
          <a:xfrm>
            <a:off x="4743450" y="3584972"/>
            <a:ext cx="10393680"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2C7A58"/>
                </a:solidFill>
                <a:latin typeface="Courier New" pitchFamily="34" charset="0"/>
                <a:ea typeface="Courier New" pitchFamily="34" charset="-122"/>
                <a:cs typeface="Courier New" pitchFamily="34" charset="-120"/>
              </a:rPr>
              <a:t>FOCUS</a:t>
            </a:r>
            <a:endParaRPr lang="en-US" sz="975" dirty="0"/>
          </a:p>
        </p:txBody>
      </p:sp>
      <p:sp>
        <p:nvSpPr>
          <p:cNvPr id="39" name="Text 37"/>
          <p:cNvSpPr/>
          <p:nvPr/>
        </p:nvSpPr>
        <p:spPr>
          <a:xfrm>
            <a:off x="4743450" y="3838972"/>
            <a:ext cx="10393680" cy="25806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2B332E"/>
                </a:solidFill>
                <a:latin typeface="Arial" pitchFamily="34" charset="0"/>
                <a:ea typeface="Arial" pitchFamily="34" charset="-122"/>
                <a:cs typeface="Arial" pitchFamily="34" charset="-120"/>
              </a:rPr>
              <a:t>Educator, developmental psychologist, and data scientist &amp; machine-learning engineer — applying learning science to product.</a:t>
            </a:r>
            <a:endParaRPr lang="en-US" sz="1238" dirty="0"/>
          </a:p>
        </p:txBody>
      </p:sp>
      <p:sp>
        <p:nvSpPr>
          <p:cNvPr id="40" name="Shape 38"/>
          <p:cNvSpPr/>
          <p:nvPr/>
        </p:nvSpPr>
        <p:spPr>
          <a:xfrm>
            <a:off x="14439900" y="2309118"/>
            <a:ext cx="3048000" cy="7482582"/>
          </a:xfrm>
          <a:prstGeom prst="roundRect">
            <a:avLst>
              <a:gd name="adj" fmla="val 1875"/>
            </a:avLst>
          </a:prstGeom>
          <a:solidFill>
            <a:srgbClr val="16201C"/>
          </a:solidFill>
          <a:ln/>
        </p:spPr>
      </p:sp>
      <p:sp>
        <p:nvSpPr>
          <p:cNvPr id="41" name="Text 39"/>
          <p:cNvSpPr/>
          <p:nvPr/>
        </p:nvSpPr>
        <p:spPr>
          <a:xfrm>
            <a:off x="14687550" y="2537718"/>
            <a:ext cx="2807970"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7CC79B"/>
                </a:solidFill>
                <a:latin typeface="Courier New" pitchFamily="34" charset="0"/>
                <a:ea typeface="Courier New" pitchFamily="34" charset="-122"/>
                <a:cs typeface="Courier New" pitchFamily="34" charset="-120"/>
              </a:rPr>
              <a:t>BOARDS &amp; ADVISORY</a:t>
            </a:r>
            <a:endParaRPr lang="en-US" sz="975" dirty="0"/>
          </a:p>
        </p:txBody>
      </p:sp>
      <p:sp>
        <p:nvSpPr>
          <p:cNvPr id="42" name="Text 40"/>
          <p:cNvSpPr/>
          <p:nvPr/>
        </p:nvSpPr>
        <p:spPr>
          <a:xfrm>
            <a:off x="14687550" y="2848868"/>
            <a:ext cx="232271" cy="318095"/>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7CC79B"/>
                </a:solidFill>
                <a:latin typeface="Arial" pitchFamily="34" charset="0"/>
                <a:ea typeface="Arial" pitchFamily="34" charset="-122"/>
                <a:cs typeface="Arial" pitchFamily="34" charset="-120"/>
              </a:rPr>
              <a:t>—</a:t>
            </a:r>
            <a:endParaRPr lang="en-US" sz="1575" dirty="0"/>
          </a:p>
        </p:txBody>
      </p:sp>
      <p:sp>
        <p:nvSpPr>
          <p:cNvPr id="43" name="Text 41"/>
          <p:cNvSpPr/>
          <p:nvPr/>
        </p:nvSpPr>
        <p:spPr>
          <a:xfrm>
            <a:off x="14859000" y="2855218"/>
            <a:ext cx="2010073" cy="578445"/>
          </a:xfrm>
          <a:prstGeom prst="rect">
            <a:avLst/>
          </a:prstGeom>
          <a:noFill/>
          <a:ln/>
        </p:spPr>
        <p:txBody>
          <a:bodyPr wrap="square" lIns="0" tIns="0" rIns="0" bIns="0" rtlCol="0" anchor="t">
            <a:normAutofit/>
          </a:bodyPr>
          <a:lstStyle/>
          <a:p>
            <a:pPr algn="l" indent="0" marL="0">
              <a:lnSpc>
                <a:spcPct val="140000"/>
              </a:lnSpc>
              <a:buNone/>
            </a:pPr>
            <a:r>
              <a:rPr lang="en-US" sz="1575" dirty="0">
                <a:solidFill>
                  <a:srgbClr val="DFE6DF"/>
                </a:solidFill>
                <a:latin typeface="Arial" pitchFamily="34" charset="0"/>
                <a:ea typeface="Arial" pitchFamily="34" charset="-122"/>
                <a:cs typeface="Arial" pitchFamily="34" charset="-120"/>
              </a:rPr>
              <a:t>Sr. Advisor, Education Ventures —</a:t>
            </a:r>
            <a:endParaRPr lang="en-US" sz="1575" dirty="0"/>
          </a:p>
        </p:txBody>
      </p:sp>
      <p:sp>
        <p:nvSpPr>
          <p:cNvPr id="44" name="Text 42"/>
          <p:cNvSpPr/>
          <p:nvPr/>
        </p:nvSpPr>
        <p:spPr>
          <a:xfrm>
            <a:off x="14859000" y="3154263"/>
            <a:ext cx="1877219" cy="546695"/>
          </a:xfrm>
          <a:prstGeom prst="rect">
            <a:avLst/>
          </a:prstGeom>
          <a:noFill/>
          <a:ln/>
        </p:spPr>
        <p:txBody>
          <a:bodyPr wrap="square" lIns="25400" tIns="25400" rIns="25400" bIns="25400" rtlCol="0" anchor="t">
            <a:normAutofit/>
          </a:bodyPr>
          <a:lstStyle/>
          <a:p>
            <a:pPr algn="l" indent="0" marL="0">
              <a:lnSpc>
                <a:spcPct val="140000"/>
              </a:lnSpc>
              <a:buNone/>
            </a:pPr>
            <a:r>
              <a:rPr lang="en-US" sz="1575" b="1" dirty="0">
                <a:solidFill>
                  <a:srgbClr val="FFFFFF"/>
                </a:solidFill>
                <a:latin typeface="Arial" pitchFamily="34" charset="0"/>
                <a:ea typeface="Arial" pitchFamily="34" charset="-122"/>
                <a:cs typeface="Arial" pitchFamily="34" charset="-120"/>
              </a:rPr>
              <a:t>Chan Zuckerberg Initiative</a:t>
            </a:r>
            <a:endParaRPr lang="en-US" sz="1575" dirty="0"/>
          </a:p>
        </p:txBody>
      </p:sp>
      <p:sp>
        <p:nvSpPr>
          <p:cNvPr id="45" name="Text 43"/>
          <p:cNvSpPr/>
          <p:nvPr/>
        </p:nvSpPr>
        <p:spPr>
          <a:xfrm>
            <a:off x="14687550" y="3803154"/>
            <a:ext cx="232271" cy="318095"/>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7CC79B"/>
                </a:solidFill>
                <a:latin typeface="Arial" pitchFamily="34" charset="0"/>
                <a:ea typeface="Arial" pitchFamily="34" charset="-122"/>
                <a:cs typeface="Arial" pitchFamily="34" charset="-120"/>
              </a:rPr>
              <a:t>—</a:t>
            </a:r>
            <a:endParaRPr lang="en-US" sz="1575" dirty="0"/>
          </a:p>
        </p:txBody>
      </p:sp>
      <p:sp>
        <p:nvSpPr>
          <p:cNvPr id="46" name="Text 44"/>
          <p:cNvSpPr/>
          <p:nvPr/>
        </p:nvSpPr>
        <p:spPr>
          <a:xfrm>
            <a:off x="14859000" y="3809504"/>
            <a:ext cx="2434928" cy="298450"/>
          </a:xfrm>
          <a:prstGeom prst="rect">
            <a:avLst/>
          </a:prstGeom>
          <a:noFill/>
          <a:ln/>
        </p:spPr>
        <p:txBody>
          <a:bodyPr wrap="square" lIns="0" tIns="0" rIns="0" bIns="0" rtlCol="0" anchor="t">
            <a:normAutofit/>
          </a:bodyPr>
          <a:lstStyle/>
          <a:p>
            <a:pPr algn="l" indent="0" marL="0">
              <a:lnSpc>
                <a:spcPct val="140000"/>
              </a:lnSpc>
              <a:buNone/>
            </a:pPr>
            <a:r>
              <a:rPr lang="en-US" sz="1575" dirty="0">
                <a:solidFill>
                  <a:srgbClr val="DFE6DF"/>
                </a:solidFill>
                <a:latin typeface="Arial" pitchFamily="34" charset="0"/>
                <a:ea typeface="Arial" pitchFamily="34" charset="-122"/>
                <a:cs typeface="Arial" pitchFamily="34" charset="-120"/>
              </a:rPr>
              <a:t>Advisory Board Member —</a:t>
            </a:r>
            <a:endParaRPr lang="en-US" sz="1575" dirty="0"/>
          </a:p>
        </p:txBody>
      </p:sp>
      <p:sp>
        <p:nvSpPr>
          <p:cNvPr id="47" name="Text 45"/>
          <p:cNvSpPr/>
          <p:nvPr/>
        </p:nvSpPr>
        <p:spPr>
          <a:xfrm>
            <a:off x="14859000" y="4108549"/>
            <a:ext cx="887909" cy="266700"/>
          </a:xfrm>
          <a:prstGeom prst="rect">
            <a:avLst/>
          </a:prstGeom>
          <a:noFill/>
          <a:ln/>
        </p:spPr>
        <p:txBody>
          <a:bodyPr wrap="square" lIns="25400" tIns="25400" rIns="25400" bIns="25400" rtlCol="0" anchor="t">
            <a:normAutofit/>
          </a:bodyPr>
          <a:lstStyle/>
          <a:p>
            <a:pPr algn="l" indent="0" marL="0">
              <a:lnSpc>
                <a:spcPct val="140000"/>
              </a:lnSpc>
              <a:buNone/>
            </a:pPr>
            <a:r>
              <a:rPr lang="en-US" sz="1575" b="1" dirty="0">
                <a:solidFill>
                  <a:srgbClr val="FFFFFF"/>
                </a:solidFill>
                <a:latin typeface="Arial" pitchFamily="34" charset="0"/>
                <a:ea typeface="Arial" pitchFamily="34" charset="-122"/>
                <a:cs typeface="Arial" pitchFamily="34" charset="-120"/>
              </a:rPr>
              <a:t>Lovevery</a:t>
            </a:r>
            <a:endParaRPr lang="en-US" sz="1575" dirty="0"/>
          </a:p>
        </p:txBody>
      </p:sp>
      <p:sp>
        <p:nvSpPr>
          <p:cNvPr id="48" name="Text 46"/>
          <p:cNvSpPr/>
          <p:nvPr/>
        </p:nvSpPr>
        <p:spPr>
          <a:xfrm>
            <a:off x="14687550" y="4477445"/>
            <a:ext cx="232271" cy="318095"/>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7CC79B"/>
                </a:solidFill>
                <a:latin typeface="Arial" pitchFamily="34" charset="0"/>
                <a:ea typeface="Arial" pitchFamily="34" charset="-122"/>
                <a:cs typeface="Arial" pitchFamily="34" charset="-120"/>
              </a:rPr>
              <a:t>—</a:t>
            </a:r>
            <a:endParaRPr lang="en-US" sz="1575" dirty="0"/>
          </a:p>
        </p:txBody>
      </p:sp>
      <p:sp>
        <p:nvSpPr>
          <p:cNvPr id="49" name="Text 47"/>
          <p:cNvSpPr/>
          <p:nvPr/>
        </p:nvSpPr>
        <p:spPr>
          <a:xfrm>
            <a:off x="14859000" y="4483795"/>
            <a:ext cx="954584" cy="298450"/>
          </a:xfrm>
          <a:prstGeom prst="rect">
            <a:avLst/>
          </a:prstGeom>
          <a:noFill/>
          <a:ln/>
        </p:spPr>
        <p:txBody>
          <a:bodyPr wrap="square" lIns="0" tIns="0" rIns="0" bIns="0" rtlCol="0" anchor="t">
            <a:normAutofit/>
          </a:bodyPr>
          <a:lstStyle/>
          <a:p>
            <a:pPr algn="l" indent="0" marL="0">
              <a:lnSpc>
                <a:spcPct val="140000"/>
              </a:lnSpc>
              <a:buNone/>
            </a:pPr>
            <a:r>
              <a:rPr lang="en-US" sz="1575" dirty="0">
                <a:solidFill>
                  <a:srgbClr val="DFE6DF"/>
                </a:solidFill>
                <a:latin typeface="Arial" pitchFamily="34" charset="0"/>
                <a:ea typeface="Arial" pitchFamily="34" charset="-122"/>
                <a:cs typeface="Arial" pitchFamily="34" charset="-120"/>
              </a:rPr>
              <a:t>Serves on</a:t>
            </a:r>
            <a:endParaRPr lang="en-US" sz="1575" dirty="0"/>
          </a:p>
        </p:txBody>
      </p:sp>
      <p:sp>
        <p:nvSpPr>
          <p:cNvPr id="50" name="Text 48"/>
          <p:cNvSpPr/>
          <p:nvPr/>
        </p:nvSpPr>
        <p:spPr>
          <a:xfrm>
            <a:off x="14859000" y="4502845"/>
            <a:ext cx="1646634" cy="546695"/>
          </a:xfrm>
          <a:prstGeom prst="rect">
            <a:avLst/>
          </a:prstGeom>
          <a:noFill/>
          <a:ln/>
        </p:spPr>
        <p:txBody>
          <a:bodyPr wrap="square" lIns="25400" tIns="25400" rIns="25400" bIns="25400" rtlCol="0" anchor="t">
            <a:normAutofit/>
          </a:bodyPr>
          <a:lstStyle/>
          <a:p>
            <a:pPr algn="l" indent="0" marL="0">
              <a:lnSpc>
                <a:spcPct val="140000"/>
              </a:lnSpc>
              <a:buNone/>
            </a:pPr>
            <a:r>
              <a:rPr lang="en-US" sz="1575" b="1" dirty="0">
                <a:solidFill>
                  <a:srgbClr val="FFFFFF"/>
                </a:solidFill>
                <a:latin typeface="Arial" pitchFamily="34" charset="0"/>
                <a:ea typeface="Arial" pitchFamily="34" charset="-122"/>
                <a:cs typeface="Arial" pitchFamily="34" charset="-120"/>
              </a:rPr>
              <a:t>several nonprofit boards</a:t>
            </a:r>
            <a:endParaRPr lang="en-US" sz="15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800100" y="1424384"/>
            <a:ext cx="16687800" cy="9525"/>
          </a:xfrm>
          <a:prstGeom prst="rect">
            <a:avLst/>
          </a:prstGeom>
          <a:solidFill>
            <a:srgbClr val="18221E">
              <a:alpha val="16000"/>
            </a:srgbClr>
          </a:solidFill>
          <a:ln/>
        </p:spPr>
      </p:sp>
      <p:sp>
        <p:nvSpPr>
          <p:cNvPr id="3" name="Text 1"/>
          <p:cNvSpPr/>
          <p:nvPr/>
        </p:nvSpPr>
        <p:spPr>
          <a:xfrm>
            <a:off x="800100" y="609600"/>
            <a:ext cx="10850106" cy="215900"/>
          </a:xfrm>
          <a:prstGeom prst="rect">
            <a:avLst/>
          </a:prstGeom>
          <a:noFill/>
          <a:ln/>
        </p:spPr>
        <p:txBody>
          <a:bodyPr wrap="square" lIns="25400" tIns="25400" rIns="25400" bIns="25400" rtlCol="0" anchor="t">
            <a:normAutofit/>
          </a:bodyPr>
          <a:lstStyle/>
          <a:p>
            <a:pPr algn="l" indent="0" marL="0">
              <a:buNone/>
            </a:pPr>
            <a:r>
              <a:rPr lang="en-US" sz="1073" spc="215" kern="0" dirty="0">
                <a:solidFill>
                  <a:srgbClr val="2C7A58"/>
                </a:solidFill>
                <a:latin typeface="Courier New" pitchFamily="34" charset="0"/>
                <a:ea typeface="Courier New" pitchFamily="34" charset="-122"/>
                <a:cs typeface="Courier New" pitchFamily="34" charset="-120"/>
              </a:rPr>
              <a:t>MARKET OPPORTUNITY</a:t>
            </a:r>
            <a:endParaRPr lang="en-US" sz="1073" dirty="0"/>
          </a:p>
        </p:txBody>
      </p:sp>
      <p:sp>
        <p:nvSpPr>
          <p:cNvPr id="4" name="Text 2"/>
          <p:cNvSpPr/>
          <p:nvPr/>
        </p:nvSpPr>
        <p:spPr>
          <a:xfrm>
            <a:off x="800100" y="844550"/>
            <a:ext cx="10850106" cy="465534"/>
          </a:xfrm>
          <a:prstGeom prst="rect">
            <a:avLst/>
          </a:prstGeom>
          <a:noFill/>
          <a:ln/>
        </p:spPr>
        <p:txBody>
          <a:bodyPr wrap="square" lIns="25400" tIns="25400" rIns="25400" bIns="25400" rtlCol="0" anchor="t">
            <a:normAutofit/>
          </a:bodyPr>
          <a:lstStyle/>
          <a:p>
            <a:pPr algn="l" indent="0" marL="0">
              <a:lnSpc>
                <a:spcPct val="102000"/>
              </a:lnSpc>
              <a:buNone/>
            </a:pPr>
            <a:r>
              <a:rPr lang="en-US" sz="3300" b="1" spc="-66" kern="0" dirty="0">
                <a:solidFill>
                  <a:srgbClr val="14201A"/>
                </a:solidFill>
                <a:latin typeface="Arial" pitchFamily="34" charset="0"/>
                <a:ea typeface="Arial" pitchFamily="34" charset="-122"/>
                <a:cs typeface="Arial" pitchFamily="34" charset="-120"/>
              </a:rPr>
              <a:t>A large market with no modern platform built for it.</a:t>
            </a:r>
            <a:endParaRPr lang="en-US" sz="3300" dirty="0"/>
          </a:p>
        </p:txBody>
      </p:sp>
      <p:sp>
        <p:nvSpPr>
          <p:cNvPr id="5" name="Text 3"/>
          <p:cNvSpPr/>
          <p:nvPr/>
        </p:nvSpPr>
        <p:spPr>
          <a:xfrm>
            <a:off x="16017379" y="1113234"/>
            <a:ext cx="1617573"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SECTION 8 · HCV</a:t>
            </a:r>
            <a:endParaRPr lang="en-US" sz="990" dirty="0"/>
          </a:p>
        </p:txBody>
      </p:sp>
      <p:sp>
        <p:nvSpPr>
          <p:cNvPr id="6" name="Shape 4"/>
          <p:cNvSpPr/>
          <p:nvPr/>
        </p:nvSpPr>
        <p:spPr>
          <a:xfrm>
            <a:off x="800100" y="1678384"/>
            <a:ext cx="5410200" cy="6762849"/>
          </a:xfrm>
          <a:prstGeom prst="roundRect">
            <a:avLst>
              <a:gd name="adj" fmla="val 1408"/>
            </a:avLst>
          </a:prstGeom>
          <a:solidFill>
            <a:srgbClr val="FFFFFF"/>
          </a:solidFill>
          <a:ln/>
        </p:spPr>
      </p:sp>
      <p:sp>
        <p:nvSpPr>
          <p:cNvPr id="7" name="Shape 5"/>
          <p:cNvSpPr/>
          <p:nvPr/>
        </p:nvSpPr>
        <p:spPr>
          <a:xfrm>
            <a:off x="800100" y="8434884"/>
            <a:ext cx="5410200" cy="9525"/>
          </a:xfrm>
          <a:prstGeom prst="rect">
            <a:avLst/>
          </a:prstGeom>
          <a:solidFill>
            <a:srgbClr val="18221E">
              <a:alpha val="12000"/>
            </a:srgbClr>
          </a:solidFill>
          <a:ln/>
        </p:spPr>
      </p:sp>
      <p:sp>
        <p:nvSpPr>
          <p:cNvPr id="8" name="Shape 6"/>
          <p:cNvSpPr/>
          <p:nvPr/>
        </p:nvSpPr>
        <p:spPr>
          <a:xfrm>
            <a:off x="800100" y="1678384"/>
            <a:ext cx="5410200" cy="44450"/>
          </a:xfrm>
          <a:prstGeom prst="rect">
            <a:avLst/>
          </a:prstGeom>
          <a:solidFill>
            <a:srgbClr val="2C7A58"/>
          </a:solidFill>
          <a:ln/>
        </p:spPr>
      </p:sp>
      <p:sp>
        <p:nvSpPr>
          <p:cNvPr id="9" name="Shape 7"/>
          <p:cNvSpPr/>
          <p:nvPr/>
        </p:nvSpPr>
        <p:spPr>
          <a:xfrm>
            <a:off x="800100" y="1678384"/>
            <a:ext cx="9525" cy="6762849"/>
          </a:xfrm>
          <a:prstGeom prst="rect">
            <a:avLst/>
          </a:prstGeom>
          <a:solidFill>
            <a:srgbClr val="18221E">
              <a:alpha val="12000"/>
            </a:srgbClr>
          </a:solidFill>
          <a:ln/>
        </p:spPr>
      </p:sp>
      <p:sp>
        <p:nvSpPr>
          <p:cNvPr id="10" name="Shape 8"/>
          <p:cNvSpPr/>
          <p:nvPr/>
        </p:nvSpPr>
        <p:spPr>
          <a:xfrm>
            <a:off x="6203950" y="1678384"/>
            <a:ext cx="9525" cy="6762849"/>
          </a:xfrm>
          <a:prstGeom prst="rect">
            <a:avLst/>
          </a:prstGeom>
          <a:solidFill>
            <a:srgbClr val="18221E">
              <a:alpha val="12000"/>
            </a:srgbClr>
          </a:solidFill>
          <a:ln/>
        </p:spPr>
      </p:sp>
      <p:sp>
        <p:nvSpPr>
          <p:cNvPr id="11" name="Text 9"/>
          <p:cNvSpPr/>
          <p:nvPr/>
        </p:nvSpPr>
        <p:spPr>
          <a:xfrm>
            <a:off x="1111250" y="2046684"/>
            <a:ext cx="5266690" cy="669528"/>
          </a:xfrm>
          <a:prstGeom prst="rect">
            <a:avLst/>
          </a:prstGeom>
          <a:noFill/>
          <a:ln/>
        </p:spPr>
        <p:txBody>
          <a:bodyPr wrap="square" lIns="25400" tIns="25400" rIns="25400" bIns="25400" rtlCol="0" anchor="t">
            <a:normAutofit/>
          </a:bodyPr>
          <a:lstStyle/>
          <a:p>
            <a:pPr algn="l" indent="0" marL="0">
              <a:lnSpc>
                <a:spcPct val="85000"/>
              </a:lnSpc>
              <a:buNone/>
            </a:pPr>
            <a:r>
              <a:rPr lang="en-US" sz="5850" b="1" spc="-175" kern="0" dirty="0">
                <a:solidFill>
                  <a:srgbClr val="10201A"/>
                </a:solidFill>
                <a:latin typeface="Arial" pitchFamily="34" charset="0"/>
                <a:ea typeface="Arial" pitchFamily="34" charset="-122"/>
                <a:cs typeface="Arial" pitchFamily="34" charset="-120"/>
              </a:rPr>
              <a:t>2.3M+</a:t>
            </a:r>
            <a:endParaRPr lang="en-US" sz="5850" dirty="0"/>
          </a:p>
        </p:txBody>
      </p:sp>
      <p:sp>
        <p:nvSpPr>
          <p:cNvPr id="12" name="Text 10"/>
          <p:cNvSpPr/>
          <p:nvPr/>
        </p:nvSpPr>
        <p:spPr>
          <a:xfrm>
            <a:off x="1111250" y="2849563"/>
            <a:ext cx="4931537" cy="59690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3A443E"/>
                </a:solidFill>
                <a:latin typeface="Arial" pitchFamily="34" charset="0"/>
                <a:ea typeface="Arial" pitchFamily="34" charset="-122"/>
                <a:cs typeface="Arial" pitchFamily="34" charset="-120"/>
              </a:rPr>
              <a:t>Housing Choice Voucher holders </a:t>
            </a:r>
            <a:pPr algn="l" indent="0" marL="0">
              <a:lnSpc>
                <a:spcPct val="145000"/>
              </a:lnSpc>
              <a:buNone/>
            </a:pPr>
            <a:r>
              <a:rPr lang="en-US" sz="1500" b="1" dirty="0">
                <a:solidFill>
                  <a:srgbClr val="3A443E"/>
                </a:solidFill>
                <a:latin typeface="Arial" pitchFamily="34" charset="0"/>
                <a:ea typeface="Arial" pitchFamily="34" charset="-122"/>
                <a:cs typeface="Arial" pitchFamily="34" charset="-120"/>
              </a:rPr>
              <a:t>nationally </a:t>
            </a:r>
            <a:pPr algn="l" indent="0" marL="0">
              <a:lnSpc>
                <a:spcPct val="145000"/>
              </a:lnSpc>
              <a:buNone/>
            </a:pPr>
            <a:r>
              <a:rPr lang="en-US" sz="1500" dirty="0">
                <a:solidFill>
                  <a:srgbClr val="3A443E"/>
                </a:solidFill>
                <a:latin typeface="Arial" pitchFamily="34" charset="0"/>
                <a:ea typeface="Arial" pitchFamily="34" charset="-122"/>
                <a:cs typeface="Arial" pitchFamily="34" charset="-120"/>
              </a:rPr>
              <a:t>— the total addressable population.</a:t>
            </a:r>
            <a:endParaRPr lang="en-US" sz="1500" dirty="0"/>
          </a:p>
        </p:txBody>
      </p:sp>
      <p:sp>
        <p:nvSpPr>
          <p:cNvPr id="13" name="Shape 11"/>
          <p:cNvSpPr/>
          <p:nvPr/>
        </p:nvSpPr>
        <p:spPr>
          <a:xfrm>
            <a:off x="6438900" y="1678384"/>
            <a:ext cx="5410200" cy="6762849"/>
          </a:xfrm>
          <a:prstGeom prst="roundRect">
            <a:avLst>
              <a:gd name="adj" fmla="val 1408"/>
            </a:avLst>
          </a:prstGeom>
          <a:solidFill>
            <a:srgbClr val="FFFFFF"/>
          </a:solidFill>
          <a:ln/>
        </p:spPr>
      </p:sp>
      <p:sp>
        <p:nvSpPr>
          <p:cNvPr id="14" name="Shape 12"/>
          <p:cNvSpPr/>
          <p:nvPr/>
        </p:nvSpPr>
        <p:spPr>
          <a:xfrm>
            <a:off x="6438900" y="8434884"/>
            <a:ext cx="5410200" cy="9525"/>
          </a:xfrm>
          <a:prstGeom prst="rect">
            <a:avLst/>
          </a:prstGeom>
          <a:solidFill>
            <a:srgbClr val="18221E">
              <a:alpha val="12000"/>
            </a:srgbClr>
          </a:solidFill>
          <a:ln/>
        </p:spPr>
      </p:sp>
      <p:sp>
        <p:nvSpPr>
          <p:cNvPr id="15" name="Shape 13"/>
          <p:cNvSpPr/>
          <p:nvPr/>
        </p:nvSpPr>
        <p:spPr>
          <a:xfrm>
            <a:off x="6438900" y="1678384"/>
            <a:ext cx="5410200" cy="44450"/>
          </a:xfrm>
          <a:prstGeom prst="rect">
            <a:avLst/>
          </a:prstGeom>
          <a:solidFill>
            <a:srgbClr val="2C7A58"/>
          </a:solidFill>
          <a:ln/>
        </p:spPr>
      </p:sp>
      <p:sp>
        <p:nvSpPr>
          <p:cNvPr id="16" name="Shape 14"/>
          <p:cNvSpPr/>
          <p:nvPr/>
        </p:nvSpPr>
        <p:spPr>
          <a:xfrm>
            <a:off x="6438900" y="1678384"/>
            <a:ext cx="9525" cy="6762849"/>
          </a:xfrm>
          <a:prstGeom prst="rect">
            <a:avLst/>
          </a:prstGeom>
          <a:solidFill>
            <a:srgbClr val="18221E">
              <a:alpha val="12000"/>
            </a:srgbClr>
          </a:solidFill>
          <a:ln/>
        </p:spPr>
      </p:sp>
      <p:sp>
        <p:nvSpPr>
          <p:cNvPr id="17" name="Shape 15"/>
          <p:cNvSpPr/>
          <p:nvPr/>
        </p:nvSpPr>
        <p:spPr>
          <a:xfrm>
            <a:off x="11842750" y="1678384"/>
            <a:ext cx="9525" cy="6762849"/>
          </a:xfrm>
          <a:prstGeom prst="rect">
            <a:avLst/>
          </a:prstGeom>
          <a:solidFill>
            <a:srgbClr val="18221E">
              <a:alpha val="12000"/>
            </a:srgbClr>
          </a:solidFill>
          <a:ln/>
        </p:spPr>
      </p:sp>
      <p:sp>
        <p:nvSpPr>
          <p:cNvPr id="18" name="Text 16"/>
          <p:cNvSpPr/>
          <p:nvPr/>
        </p:nvSpPr>
        <p:spPr>
          <a:xfrm>
            <a:off x="6750050" y="2046684"/>
            <a:ext cx="5266690" cy="669528"/>
          </a:xfrm>
          <a:prstGeom prst="rect">
            <a:avLst/>
          </a:prstGeom>
          <a:noFill/>
          <a:ln/>
        </p:spPr>
        <p:txBody>
          <a:bodyPr wrap="square" lIns="25400" tIns="25400" rIns="25400" bIns="25400" rtlCol="0" anchor="t">
            <a:normAutofit/>
          </a:bodyPr>
          <a:lstStyle/>
          <a:p>
            <a:pPr algn="l" indent="0" marL="0">
              <a:lnSpc>
                <a:spcPct val="85000"/>
              </a:lnSpc>
              <a:buNone/>
            </a:pPr>
            <a:r>
              <a:rPr lang="en-US" sz="5850" b="1" spc="-175" kern="0" dirty="0">
                <a:solidFill>
                  <a:srgbClr val="10201A"/>
                </a:solidFill>
                <a:latin typeface="Arial" pitchFamily="34" charset="0"/>
                <a:ea typeface="Arial" pitchFamily="34" charset="-122"/>
                <a:cs typeface="Arial" pitchFamily="34" charset="-120"/>
              </a:rPr>
              <a:t>25K+</a:t>
            </a:r>
            <a:endParaRPr lang="en-US" sz="5850" dirty="0"/>
          </a:p>
        </p:txBody>
      </p:sp>
      <p:sp>
        <p:nvSpPr>
          <p:cNvPr id="19" name="Text 17"/>
          <p:cNvSpPr/>
          <p:nvPr/>
        </p:nvSpPr>
        <p:spPr>
          <a:xfrm>
            <a:off x="6750050" y="2849563"/>
            <a:ext cx="4931537" cy="59690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3A443E"/>
                </a:solidFill>
                <a:latin typeface="Arial" pitchFamily="34" charset="0"/>
                <a:ea typeface="Arial" pitchFamily="34" charset="-122"/>
                <a:cs typeface="Arial" pitchFamily="34" charset="-120"/>
              </a:rPr>
              <a:t>Voucher holders in </a:t>
            </a:r>
            <a:pPr algn="l" indent="0" marL="0">
              <a:lnSpc>
                <a:spcPct val="145000"/>
              </a:lnSpc>
              <a:buNone/>
            </a:pPr>
            <a:r>
              <a:rPr lang="en-US" sz="1500" b="1" dirty="0">
                <a:solidFill>
                  <a:srgbClr val="3A443E"/>
                </a:solidFill>
                <a:latin typeface="Arial" pitchFamily="34" charset="0"/>
                <a:ea typeface="Arial" pitchFamily="34" charset="-122"/>
                <a:cs typeface="Arial" pitchFamily="34" charset="-120"/>
              </a:rPr>
              <a:t>metro Atlanta </a:t>
            </a:r>
            <a:pPr algn="l" indent="0" marL="0">
              <a:lnSpc>
                <a:spcPct val="145000"/>
              </a:lnSpc>
              <a:buNone/>
            </a:pPr>
            <a:r>
              <a:rPr lang="en-US" sz="1500" dirty="0">
                <a:solidFill>
                  <a:srgbClr val="3A443E"/>
                </a:solidFill>
                <a:latin typeface="Arial" pitchFamily="34" charset="0"/>
                <a:ea typeface="Arial" pitchFamily="34" charset="-122"/>
                <a:cs typeface="Arial" pitchFamily="34" charset="-120"/>
              </a:rPr>
              <a:t>across AHA &amp; Georgia DCA — our beachhead.</a:t>
            </a:r>
            <a:endParaRPr lang="en-US" sz="1500" dirty="0"/>
          </a:p>
        </p:txBody>
      </p:sp>
      <p:sp>
        <p:nvSpPr>
          <p:cNvPr id="20" name="Shape 18"/>
          <p:cNvSpPr/>
          <p:nvPr/>
        </p:nvSpPr>
        <p:spPr>
          <a:xfrm>
            <a:off x="12077700" y="1678384"/>
            <a:ext cx="5410200" cy="6762849"/>
          </a:xfrm>
          <a:prstGeom prst="roundRect">
            <a:avLst>
              <a:gd name="adj" fmla="val 1408"/>
            </a:avLst>
          </a:prstGeom>
          <a:solidFill>
            <a:srgbClr val="FFFFFF"/>
          </a:solidFill>
          <a:ln/>
        </p:spPr>
      </p:sp>
      <p:sp>
        <p:nvSpPr>
          <p:cNvPr id="21" name="Shape 19"/>
          <p:cNvSpPr/>
          <p:nvPr/>
        </p:nvSpPr>
        <p:spPr>
          <a:xfrm>
            <a:off x="12077700" y="8434884"/>
            <a:ext cx="5410200" cy="9525"/>
          </a:xfrm>
          <a:prstGeom prst="rect">
            <a:avLst/>
          </a:prstGeom>
          <a:solidFill>
            <a:srgbClr val="18221E">
              <a:alpha val="12000"/>
            </a:srgbClr>
          </a:solidFill>
          <a:ln/>
        </p:spPr>
      </p:sp>
      <p:sp>
        <p:nvSpPr>
          <p:cNvPr id="22" name="Shape 20"/>
          <p:cNvSpPr/>
          <p:nvPr/>
        </p:nvSpPr>
        <p:spPr>
          <a:xfrm>
            <a:off x="12077700" y="1678384"/>
            <a:ext cx="5410200" cy="44450"/>
          </a:xfrm>
          <a:prstGeom prst="rect">
            <a:avLst/>
          </a:prstGeom>
          <a:solidFill>
            <a:srgbClr val="2C7A58"/>
          </a:solidFill>
          <a:ln/>
        </p:spPr>
      </p:sp>
      <p:sp>
        <p:nvSpPr>
          <p:cNvPr id="23" name="Shape 21"/>
          <p:cNvSpPr/>
          <p:nvPr/>
        </p:nvSpPr>
        <p:spPr>
          <a:xfrm>
            <a:off x="12077700" y="1678384"/>
            <a:ext cx="9525" cy="6762849"/>
          </a:xfrm>
          <a:prstGeom prst="rect">
            <a:avLst/>
          </a:prstGeom>
          <a:solidFill>
            <a:srgbClr val="18221E">
              <a:alpha val="12000"/>
            </a:srgbClr>
          </a:solidFill>
          <a:ln/>
        </p:spPr>
      </p:sp>
      <p:sp>
        <p:nvSpPr>
          <p:cNvPr id="24" name="Shape 22"/>
          <p:cNvSpPr/>
          <p:nvPr/>
        </p:nvSpPr>
        <p:spPr>
          <a:xfrm>
            <a:off x="17481550" y="1678384"/>
            <a:ext cx="9525" cy="6762849"/>
          </a:xfrm>
          <a:prstGeom prst="rect">
            <a:avLst/>
          </a:prstGeom>
          <a:solidFill>
            <a:srgbClr val="18221E">
              <a:alpha val="12000"/>
            </a:srgbClr>
          </a:solidFill>
          <a:ln/>
        </p:spPr>
      </p:sp>
      <p:sp>
        <p:nvSpPr>
          <p:cNvPr id="25" name="Text 23"/>
          <p:cNvSpPr/>
          <p:nvPr/>
        </p:nvSpPr>
        <p:spPr>
          <a:xfrm>
            <a:off x="12388851" y="2046684"/>
            <a:ext cx="5266690" cy="669528"/>
          </a:xfrm>
          <a:prstGeom prst="rect">
            <a:avLst/>
          </a:prstGeom>
          <a:noFill/>
          <a:ln/>
        </p:spPr>
        <p:txBody>
          <a:bodyPr wrap="square" lIns="25400" tIns="25400" rIns="25400" bIns="25400" rtlCol="0" anchor="t">
            <a:normAutofit/>
          </a:bodyPr>
          <a:lstStyle/>
          <a:p>
            <a:pPr algn="l" indent="0" marL="0">
              <a:lnSpc>
                <a:spcPct val="85000"/>
              </a:lnSpc>
              <a:buNone/>
            </a:pPr>
            <a:r>
              <a:rPr lang="en-US" sz="5850" b="1" spc="-175" kern="0" dirty="0">
                <a:solidFill>
                  <a:srgbClr val="10201A"/>
                </a:solidFill>
                <a:latin typeface="Arial" pitchFamily="34" charset="0"/>
                <a:ea typeface="Arial" pitchFamily="34" charset="-122"/>
                <a:cs typeface="Arial" pitchFamily="34" charset="-120"/>
              </a:rPr>
              <a:t>$30B+</a:t>
            </a:r>
            <a:endParaRPr lang="en-US" sz="5850" dirty="0"/>
          </a:p>
        </p:txBody>
      </p:sp>
      <p:sp>
        <p:nvSpPr>
          <p:cNvPr id="26" name="Text 24"/>
          <p:cNvSpPr/>
          <p:nvPr/>
        </p:nvSpPr>
        <p:spPr>
          <a:xfrm>
            <a:off x="12388851" y="2849563"/>
            <a:ext cx="4931537" cy="59690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3A443E"/>
                </a:solidFill>
                <a:latin typeface="Arial" pitchFamily="34" charset="0"/>
                <a:ea typeface="Arial" pitchFamily="34" charset="-122"/>
                <a:cs typeface="Arial" pitchFamily="34" charset="-120"/>
              </a:rPr>
              <a:t>In annual </a:t>
            </a:r>
            <a:pPr algn="l" indent="0" marL="0">
              <a:lnSpc>
                <a:spcPct val="145000"/>
              </a:lnSpc>
              <a:buNone/>
            </a:pPr>
            <a:r>
              <a:rPr lang="en-US" sz="1500" b="1" dirty="0">
                <a:solidFill>
                  <a:srgbClr val="3A443E"/>
                </a:solidFill>
                <a:latin typeface="Arial" pitchFamily="34" charset="0"/>
                <a:ea typeface="Arial" pitchFamily="34" charset="-122"/>
                <a:cs typeface="Arial" pitchFamily="34" charset="-120"/>
              </a:rPr>
              <a:t>HAP payments </a:t>
            </a:r>
            <a:pPr algn="l" indent="0" marL="0">
              <a:lnSpc>
                <a:spcPct val="145000"/>
              </a:lnSpc>
              <a:buNone/>
            </a:pPr>
            <a:r>
              <a:rPr lang="en-US" sz="1500" dirty="0">
                <a:solidFill>
                  <a:srgbClr val="3A443E"/>
                </a:solidFill>
                <a:latin typeface="Arial" pitchFamily="34" charset="0"/>
                <a:ea typeface="Arial" pitchFamily="34" charset="-122"/>
                <a:cs typeface="Arial" pitchFamily="34" charset="-120"/>
              </a:rPr>
              <a:t>flowing through the Section 8 system every year.</a:t>
            </a:r>
            <a:endParaRPr lang="en-US" sz="1500" dirty="0"/>
          </a:p>
        </p:txBody>
      </p:sp>
      <p:sp>
        <p:nvSpPr>
          <p:cNvPr id="27" name="Shape 25"/>
          <p:cNvSpPr/>
          <p:nvPr/>
        </p:nvSpPr>
        <p:spPr>
          <a:xfrm>
            <a:off x="800100" y="8669834"/>
            <a:ext cx="16687800" cy="753566"/>
          </a:xfrm>
          <a:prstGeom prst="roundRect">
            <a:avLst>
              <a:gd name="adj" fmla="val 10112"/>
            </a:avLst>
          </a:prstGeom>
          <a:solidFill>
            <a:srgbClr val="16201C"/>
          </a:solidFill>
          <a:ln/>
        </p:spPr>
      </p:sp>
      <p:sp>
        <p:nvSpPr>
          <p:cNvPr id="28" name="Text 26"/>
          <p:cNvSpPr/>
          <p:nvPr/>
        </p:nvSpPr>
        <p:spPr>
          <a:xfrm>
            <a:off x="1104900" y="8967192"/>
            <a:ext cx="1760220" cy="196850"/>
          </a:xfrm>
          <a:prstGeom prst="rect">
            <a:avLst/>
          </a:prstGeom>
          <a:noFill/>
          <a:ln/>
        </p:spPr>
        <p:txBody>
          <a:bodyPr wrap="square" lIns="25400" tIns="25400" rIns="25400" bIns="25400" rtlCol="0" anchor="t">
            <a:normAutofit/>
          </a:bodyPr>
          <a:lstStyle/>
          <a:p>
            <a:pPr algn="l" indent="0" marL="0">
              <a:buNone/>
            </a:pPr>
            <a:r>
              <a:rPr lang="en-US" sz="975" spc="156" kern="0" dirty="0">
                <a:solidFill>
                  <a:srgbClr val="7CC79B"/>
                </a:solidFill>
                <a:latin typeface="Courier New" pitchFamily="34" charset="0"/>
                <a:ea typeface="Courier New" pitchFamily="34" charset="-122"/>
                <a:cs typeface="Courier New" pitchFamily="34" charset="-120"/>
              </a:rPr>
              <a:t>UNFAIR ADVANTAGE</a:t>
            </a:r>
            <a:endParaRPr lang="en-US" sz="975" dirty="0"/>
          </a:p>
        </p:txBody>
      </p:sp>
      <p:sp>
        <p:nvSpPr>
          <p:cNvPr id="29" name="Text 27"/>
          <p:cNvSpPr/>
          <p:nvPr/>
        </p:nvSpPr>
        <p:spPr>
          <a:xfrm>
            <a:off x="2971800" y="8898434"/>
            <a:ext cx="14844326" cy="334466"/>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DFE6DF"/>
                </a:solidFill>
                <a:latin typeface="Arial" pitchFamily="34" charset="0"/>
                <a:ea typeface="Arial" pitchFamily="34" charset="-122"/>
                <a:cs typeface="Arial" pitchFamily="34" charset="-120"/>
              </a:rPr>
              <a:t>No modern, mobile-first platform exists for this market — and our edge is </a:t>
            </a:r>
            <a:pPr algn="l" indent="0" marL="0">
              <a:lnSpc>
                <a:spcPct val="145000"/>
              </a:lnSpc>
              <a:buNone/>
            </a:pPr>
            <a:r>
              <a:rPr lang="en-US" sz="1575" b="1" dirty="0">
                <a:solidFill>
                  <a:srgbClr val="FFFFFF"/>
                </a:solidFill>
                <a:latin typeface="Arial" pitchFamily="34" charset="0"/>
                <a:ea typeface="Arial" pitchFamily="34" charset="-122"/>
                <a:cs typeface="Arial" pitchFamily="34" charset="-120"/>
              </a:rPr>
              <a:t>insider knowledge of AHA processes, HQS timelines &amp; HAP contract structure.</a:t>
            </a:r>
            <a:endParaRPr lang="en-US" sz="1575" dirty="0"/>
          </a:p>
        </p:txBody>
      </p:sp>
      <p:sp>
        <p:nvSpPr>
          <p:cNvPr id="30" name="Text 28"/>
          <p:cNvSpPr/>
          <p:nvPr/>
        </p:nvSpPr>
        <p:spPr>
          <a:xfrm>
            <a:off x="800100" y="9594850"/>
            <a:ext cx="3127206"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SETTLEED · MARKET OPPORTUNITY</a:t>
            </a:r>
            <a:endParaRPr lang="en-US" sz="990" dirty="0"/>
          </a:p>
        </p:txBody>
      </p:sp>
      <p:sp>
        <p:nvSpPr>
          <p:cNvPr id="31" name="Text 29"/>
          <p:cNvSpPr/>
          <p:nvPr/>
        </p:nvSpPr>
        <p:spPr>
          <a:xfrm>
            <a:off x="16801605" y="9594850"/>
            <a:ext cx="762496"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04 / 16</a:t>
            </a:r>
            <a:endParaRPr lang="en-US" sz="99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762000" y="1556147"/>
            <a:ext cx="16764000" cy="12700"/>
          </a:xfrm>
          <a:prstGeom prst="rect">
            <a:avLst/>
          </a:prstGeom>
          <a:solidFill>
            <a:srgbClr val="2C7A58"/>
          </a:solidFill>
          <a:ln/>
        </p:spPr>
      </p:sp>
      <p:sp>
        <p:nvSpPr>
          <p:cNvPr id="3" name="Text 1"/>
          <p:cNvSpPr/>
          <p:nvPr/>
        </p:nvSpPr>
        <p:spPr>
          <a:xfrm>
            <a:off x="762000" y="721122"/>
            <a:ext cx="5856923" cy="215900"/>
          </a:xfrm>
          <a:prstGeom prst="rect">
            <a:avLst/>
          </a:prstGeom>
          <a:noFill/>
          <a:ln/>
        </p:spPr>
        <p:txBody>
          <a:bodyPr wrap="square" lIns="25400" tIns="25400" rIns="25400" bIns="25400" rtlCol="0" anchor="t">
            <a:normAutofit/>
          </a:bodyPr>
          <a:lstStyle/>
          <a:p>
            <a:pPr algn="l" indent="0" marL="0">
              <a:buNone/>
            </a:pPr>
            <a:r>
              <a:rPr lang="en-US" sz="1073" spc="215" kern="0" dirty="0">
                <a:solidFill>
                  <a:srgbClr val="2C7A58"/>
                </a:solidFill>
                <a:latin typeface="Courier New" pitchFamily="34" charset="0"/>
                <a:ea typeface="Courier New" pitchFamily="34" charset="-122"/>
                <a:cs typeface="Courier New" pitchFamily="34" charset="-120"/>
              </a:rPr>
              <a:t>CUSTOMER DISCOVERY REPORT</a:t>
            </a:r>
            <a:endParaRPr lang="en-US" sz="1073" dirty="0"/>
          </a:p>
        </p:txBody>
      </p:sp>
      <p:sp>
        <p:nvSpPr>
          <p:cNvPr id="4" name="Text 2"/>
          <p:cNvSpPr/>
          <p:nvPr/>
        </p:nvSpPr>
        <p:spPr>
          <a:xfrm>
            <a:off x="762000" y="975122"/>
            <a:ext cx="5856923" cy="466725"/>
          </a:xfrm>
          <a:prstGeom prst="rect">
            <a:avLst/>
          </a:prstGeom>
          <a:noFill/>
          <a:ln/>
        </p:spPr>
        <p:txBody>
          <a:bodyPr wrap="square" lIns="25400" tIns="25400" rIns="25400" bIns="25400" rtlCol="0" anchor="t">
            <a:normAutofit/>
          </a:bodyPr>
          <a:lstStyle/>
          <a:p>
            <a:pPr algn="l" indent="0" marL="0">
              <a:lnSpc>
                <a:spcPct val="100000"/>
              </a:lnSpc>
              <a:buNone/>
            </a:pPr>
            <a:r>
              <a:rPr lang="en-US" sz="3375" b="1" spc="-67" kern="0" dirty="0">
                <a:solidFill>
                  <a:srgbClr val="18221E"/>
                </a:solidFill>
                <a:latin typeface="Arial" pitchFamily="34" charset="0"/>
                <a:ea typeface="Arial" pitchFamily="34" charset="-122"/>
                <a:cs typeface="Arial" pitchFamily="34" charset="-120"/>
              </a:rPr>
              <a:t>Landlords </a:t>
            </a:r>
            <a:pPr algn="l" indent="0" marL="0">
              <a:lnSpc>
                <a:spcPct val="100000"/>
              </a:lnSpc>
              <a:buNone/>
            </a:pPr>
            <a:r>
              <a:rPr lang="en-US" sz="3375" spc="-67" kern="0" dirty="0">
                <a:solidFill>
                  <a:srgbClr val="9AA39D"/>
                </a:solidFill>
                <a:latin typeface="Arial" pitchFamily="34" charset="0"/>
                <a:ea typeface="Arial" pitchFamily="34" charset="-122"/>
                <a:cs typeface="Arial" pitchFamily="34" charset="-120"/>
              </a:rPr>
              <a:t>· the supply side</a:t>
            </a:r>
            <a:endParaRPr lang="en-US" sz="3375" dirty="0"/>
          </a:p>
        </p:txBody>
      </p:sp>
      <p:sp>
        <p:nvSpPr>
          <p:cNvPr id="5" name="Text 3"/>
          <p:cNvSpPr/>
          <p:nvPr/>
        </p:nvSpPr>
        <p:spPr>
          <a:xfrm>
            <a:off x="13685144" y="609600"/>
            <a:ext cx="1021457" cy="641548"/>
          </a:xfrm>
          <a:prstGeom prst="rect">
            <a:avLst/>
          </a:prstGeom>
          <a:noFill/>
          <a:ln/>
        </p:spPr>
        <p:txBody>
          <a:bodyPr wrap="square" lIns="25400" tIns="25400" rIns="25400" bIns="25400" rtlCol="0" anchor="t">
            <a:normAutofit/>
          </a:bodyPr>
          <a:lstStyle/>
          <a:p>
            <a:pPr algn="r" indent="0" marL="0">
              <a:lnSpc>
                <a:spcPct val="80000"/>
              </a:lnSpc>
              <a:buNone/>
            </a:pPr>
            <a:r>
              <a:rPr lang="en-US" sz="5940" b="1" dirty="0">
                <a:solidFill>
                  <a:srgbClr val="2C7A58"/>
                </a:solidFill>
                <a:latin typeface="Arial" pitchFamily="34" charset="0"/>
                <a:ea typeface="Arial" pitchFamily="34" charset="-122"/>
                <a:cs typeface="Arial" pitchFamily="34" charset="-120"/>
              </a:rPr>
              <a:t>40</a:t>
            </a:r>
            <a:endParaRPr lang="en-US" sz="5940" dirty="0"/>
          </a:p>
        </p:txBody>
      </p:sp>
      <p:sp>
        <p:nvSpPr>
          <p:cNvPr id="6" name="Text 4"/>
          <p:cNvSpPr/>
          <p:nvPr/>
        </p:nvSpPr>
        <p:spPr>
          <a:xfrm>
            <a:off x="14798612" y="1022350"/>
            <a:ext cx="2727389" cy="419497"/>
          </a:xfrm>
          <a:prstGeom prst="rect">
            <a:avLst/>
          </a:prstGeom>
          <a:noFill/>
          <a:ln/>
        </p:spPr>
        <p:txBody>
          <a:bodyPr wrap="square" lIns="25400" tIns="25400" rIns="25400" bIns="25400" rtlCol="0" anchor="t">
            <a:normAutofit/>
          </a:bodyPr>
          <a:lstStyle/>
          <a:p>
            <a:pPr algn="r" indent="0" marL="0">
              <a:lnSpc>
                <a:spcPct val="140000"/>
              </a:lnSpc>
              <a:buNone/>
            </a:pPr>
            <a:r>
              <a:rPr lang="en-US" sz="1073" spc="129" kern="0" dirty="0">
                <a:solidFill>
                  <a:srgbClr val="5C6660"/>
                </a:solidFill>
                <a:latin typeface="Courier New" pitchFamily="34" charset="0"/>
                <a:ea typeface="Courier New" pitchFamily="34" charset="-122"/>
                <a:cs typeface="Courier New" pitchFamily="34" charset="-120"/>
              </a:rPr>
              <a:t>INTERVIEWS 1–310 UNITS · 5 AUTHORITIES · 3 COHORTS</a:t>
            </a:r>
            <a:endParaRPr lang="en-US" sz="1073" dirty="0"/>
          </a:p>
        </p:txBody>
      </p:sp>
      <p:sp>
        <p:nvSpPr>
          <p:cNvPr id="7" name="Shape 5"/>
          <p:cNvSpPr/>
          <p:nvPr/>
        </p:nvSpPr>
        <p:spPr>
          <a:xfrm>
            <a:off x="762000" y="1778397"/>
            <a:ext cx="8286750" cy="3708202"/>
          </a:xfrm>
          <a:prstGeom prst="roundRect">
            <a:avLst>
              <a:gd name="adj" fmla="val 1541"/>
            </a:avLst>
          </a:prstGeom>
          <a:solidFill>
            <a:srgbClr val="FFFFFF"/>
          </a:solidFill>
          <a:ln w="6350">
            <a:solidFill>
              <a:srgbClr val="18221E">
                <a:alpha val="12000"/>
              </a:srgbClr>
            </a:solidFill>
            <a:prstDash val="solid"/>
          </a:ln>
        </p:spPr>
      </p:sp>
      <p:sp>
        <p:nvSpPr>
          <p:cNvPr id="8" name="Text 6"/>
          <p:cNvSpPr/>
          <p:nvPr/>
        </p:nvSpPr>
        <p:spPr>
          <a:xfrm>
            <a:off x="1073150" y="2051447"/>
            <a:ext cx="7894384" cy="336550"/>
          </a:xfrm>
          <a:prstGeom prst="rect">
            <a:avLst/>
          </a:prstGeom>
          <a:noFill/>
          <a:ln/>
        </p:spPr>
        <p:txBody>
          <a:bodyPr wrap="square" lIns="25400" tIns="25400" rIns="25400" bIns="25400" rtlCol="0" anchor="t">
            <a:normAutofit/>
          </a:bodyPr>
          <a:lstStyle/>
          <a:p>
            <a:pPr algn="l" indent="0" marL="0">
              <a:buNone/>
            </a:pPr>
            <a:r>
              <a:rPr lang="en-US" sz="1815" b="1" spc="150" kern="0" dirty="0">
                <a:solidFill>
                  <a:srgbClr val="2C7A58"/>
                </a:solidFill>
                <a:latin typeface="Arial" pitchFamily="34" charset="0"/>
                <a:ea typeface="Arial" pitchFamily="34" charset="-122"/>
                <a:cs typeface="Arial" pitchFamily="34" charset="-120"/>
              </a:rPr>
              <a:t>1 </a:t>
            </a:r>
            <a:pPr algn="l" indent="0" marL="0">
              <a:buNone/>
            </a:pPr>
            <a:r>
              <a:rPr lang="en-US" sz="1073" spc="150" kern="0" dirty="0">
                <a:solidFill>
                  <a:srgbClr val="2C7A58"/>
                </a:solidFill>
                <a:latin typeface="Courier New" pitchFamily="34" charset="0"/>
                <a:ea typeface="Courier New" pitchFamily="34" charset="-122"/>
                <a:cs typeface="Courier New" pitchFamily="34" charset="-120"/>
              </a:rPr>
              <a:t>WHAT DID WE THINK?</a:t>
            </a:r>
            <a:endParaRPr lang="en-US" sz="1073" dirty="0"/>
          </a:p>
        </p:txBody>
      </p:sp>
      <p:sp>
        <p:nvSpPr>
          <p:cNvPr id="9" name="Text 7"/>
          <p:cNvSpPr/>
          <p:nvPr/>
        </p:nvSpPr>
        <p:spPr>
          <a:xfrm>
            <a:off x="1073150" y="2521347"/>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C7A58"/>
                </a:solidFill>
                <a:latin typeface="Arial" pitchFamily="34" charset="0"/>
                <a:ea typeface="Arial" pitchFamily="34" charset="-122"/>
                <a:cs typeface="Arial" pitchFamily="34" charset="-120"/>
              </a:rPr>
              <a:t>—</a:t>
            </a:r>
            <a:endParaRPr lang="en-US" sz="1568" dirty="0"/>
          </a:p>
        </p:txBody>
      </p:sp>
      <p:sp>
        <p:nvSpPr>
          <p:cNvPr id="10" name="Text 8"/>
          <p:cNvSpPr/>
          <p:nvPr/>
        </p:nvSpPr>
        <p:spPr>
          <a:xfrm>
            <a:off x="1263650" y="2527697"/>
            <a:ext cx="7590046" cy="57705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Landlords avoid Section 8 because they fear bad tenants — so the problem to solve was</a:t>
            </a:r>
            <a:endParaRPr lang="en-US" sz="1568" dirty="0"/>
          </a:p>
        </p:txBody>
      </p:sp>
      <p:sp>
        <p:nvSpPr>
          <p:cNvPr id="11" name="Text 9"/>
          <p:cNvSpPr/>
          <p:nvPr/>
        </p:nvSpPr>
        <p:spPr>
          <a:xfrm>
            <a:off x="1664891" y="2831703"/>
            <a:ext cx="1260078"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tenant quality</a:t>
            </a:r>
            <a:endParaRPr lang="en-US" sz="1568" dirty="0"/>
          </a:p>
        </p:txBody>
      </p:sp>
      <p:sp>
        <p:nvSpPr>
          <p:cNvPr id="12" name="Text 10"/>
          <p:cNvSpPr/>
          <p:nvPr/>
        </p:nvSpPr>
        <p:spPr>
          <a:xfrm>
            <a:off x="2848769" y="2806303"/>
            <a:ext cx="130373"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a:t>
            </a:r>
            <a:endParaRPr lang="en-US" sz="1568" dirty="0"/>
          </a:p>
        </p:txBody>
      </p:sp>
      <p:sp>
        <p:nvSpPr>
          <p:cNvPr id="13" name="Text 11"/>
          <p:cNvSpPr/>
          <p:nvPr/>
        </p:nvSpPr>
        <p:spPr>
          <a:xfrm>
            <a:off x="1073150" y="3189684"/>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C7A58"/>
                </a:solidFill>
                <a:latin typeface="Arial" pitchFamily="34" charset="0"/>
                <a:ea typeface="Arial" pitchFamily="34" charset="-122"/>
                <a:cs typeface="Arial" pitchFamily="34" charset="-120"/>
              </a:rPr>
              <a:t>—</a:t>
            </a:r>
            <a:endParaRPr lang="en-US" sz="1568" dirty="0"/>
          </a:p>
        </p:txBody>
      </p:sp>
      <p:sp>
        <p:nvSpPr>
          <p:cNvPr id="14" name="Text 12"/>
          <p:cNvSpPr/>
          <p:nvPr/>
        </p:nvSpPr>
        <p:spPr>
          <a:xfrm>
            <a:off x="1263650" y="3196035"/>
            <a:ext cx="6524966"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The few who do it are "in it for the mission" and just tolerate the hassle.</a:t>
            </a:r>
            <a:endParaRPr lang="en-US" sz="1568" dirty="0"/>
          </a:p>
        </p:txBody>
      </p:sp>
      <p:sp>
        <p:nvSpPr>
          <p:cNvPr id="15" name="Shape 13"/>
          <p:cNvSpPr/>
          <p:nvPr/>
        </p:nvSpPr>
        <p:spPr>
          <a:xfrm>
            <a:off x="9239250" y="1778397"/>
            <a:ext cx="8286750" cy="3708202"/>
          </a:xfrm>
          <a:prstGeom prst="roundRect">
            <a:avLst>
              <a:gd name="adj" fmla="val 1541"/>
            </a:avLst>
          </a:prstGeom>
          <a:solidFill>
            <a:srgbClr val="FFFFFF"/>
          </a:solidFill>
          <a:ln w="6350">
            <a:solidFill>
              <a:srgbClr val="18221E">
                <a:alpha val="12000"/>
              </a:srgbClr>
            </a:solidFill>
            <a:prstDash val="solid"/>
          </a:ln>
        </p:spPr>
      </p:sp>
      <p:sp>
        <p:nvSpPr>
          <p:cNvPr id="16" name="Text 14"/>
          <p:cNvSpPr/>
          <p:nvPr/>
        </p:nvSpPr>
        <p:spPr>
          <a:xfrm>
            <a:off x="9550400" y="2051447"/>
            <a:ext cx="7894384" cy="336550"/>
          </a:xfrm>
          <a:prstGeom prst="rect">
            <a:avLst/>
          </a:prstGeom>
          <a:noFill/>
          <a:ln/>
        </p:spPr>
        <p:txBody>
          <a:bodyPr wrap="square" lIns="25400" tIns="25400" rIns="25400" bIns="25400" rtlCol="0" anchor="t">
            <a:normAutofit/>
          </a:bodyPr>
          <a:lstStyle/>
          <a:p>
            <a:pPr algn="l" indent="0" marL="0">
              <a:buNone/>
            </a:pPr>
            <a:r>
              <a:rPr lang="en-US" sz="1815" b="1" spc="150" kern="0" dirty="0">
                <a:solidFill>
                  <a:srgbClr val="2C7A58"/>
                </a:solidFill>
                <a:latin typeface="Arial" pitchFamily="34" charset="0"/>
                <a:ea typeface="Arial" pitchFamily="34" charset="-122"/>
                <a:cs typeface="Arial" pitchFamily="34" charset="-120"/>
              </a:rPr>
              <a:t>2 </a:t>
            </a:r>
            <a:pPr algn="l" indent="0" marL="0">
              <a:buNone/>
            </a:pPr>
            <a:r>
              <a:rPr lang="en-US" sz="1073" spc="150" kern="0" dirty="0">
                <a:solidFill>
                  <a:srgbClr val="2C7A58"/>
                </a:solidFill>
                <a:latin typeface="Courier New" pitchFamily="34" charset="0"/>
                <a:ea typeface="Courier New" pitchFamily="34" charset="-122"/>
                <a:cs typeface="Courier New" pitchFamily="34" charset="-120"/>
              </a:rPr>
              <a:t>WHAT DID WE DO?</a:t>
            </a:r>
            <a:endParaRPr lang="en-US" sz="1073" dirty="0"/>
          </a:p>
        </p:txBody>
      </p:sp>
      <p:sp>
        <p:nvSpPr>
          <p:cNvPr id="17" name="Text 15"/>
          <p:cNvSpPr/>
          <p:nvPr/>
        </p:nvSpPr>
        <p:spPr>
          <a:xfrm>
            <a:off x="9550400" y="2521347"/>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C7A58"/>
                </a:solidFill>
                <a:latin typeface="Arial" pitchFamily="34" charset="0"/>
                <a:ea typeface="Arial" pitchFamily="34" charset="-122"/>
                <a:cs typeface="Arial" pitchFamily="34" charset="-120"/>
              </a:rPr>
              <a:t>—</a:t>
            </a:r>
            <a:endParaRPr lang="en-US" sz="1568" dirty="0"/>
          </a:p>
        </p:txBody>
      </p:sp>
      <p:sp>
        <p:nvSpPr>
          <p:cNvPr id="18" name="Text 16"/>
          <p:cNvSpPr/>
          <p:nvPr/>
        </p:nvSpPr>
        <p:spPr>
          <a:xfrm>
            <a:off x="9740900" y="2527697"/>
            <a:ext cx="1154708"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Interviewed</a:t>
            </a:r>
            <a:endParaRPr lang="en-US" sz="1568" dirty="0"/>
          </a:p>
        </p:txBody>
      </p:sp>
      <p:sp>
        <p:nvSpPr>
          <p:cNvPr id="19" name="Text 17"/>
          <p:cNvSpPr/>
          <p:nvPr/>
        </p:nvSpPr>
        <p:spPr>
          <a:xfrm>
            <a:off x="10866339" y="2553097"/>
            <a:ext cx="1160463"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40 landlords</a:t>
            </a:r>
            <a:endParaRPr lang="en-US" sz="1568" dirty="0"/>
          </a:p>
        </p:txBody>
      </p:sp>
      <p:sp>
        <p:nvSpPr>
          <p:cNvPr id="20" name="Text 18"/>
          <p:cNvSpPr/>
          <p:nvPr/>
        </p:nvSpPr>
        <p:spPr>
          <a:xfrm>
            <a:off x="9740900" y="2527697"/>
            <a:ext cx="6946931" cy="58340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 from a 1-unit first-timer to 310-unit institutional operators &amp; PMs.</a:t>
            </a:r>
            <a:endParaRPr lang="en-US" sz="1568" dirty="0"/>
          </a:p>
        </p:txBody>
      </p:sp>
      <p:sp>
        <p:nvSpPr>
          <p:cNvPr id="21" name="Text 19"/>
          <p:cNvSpPr/>
          <p:nvPr/>
        </p:nvSpPr>
        <p:spPr>
          <a:xfrm>
            <a:off x="9550400" y="3189684"/>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C7A58"/>
                </a:solidFill>
                <a:latin typeface="Arial" pitchFamily="34" charset="0"/>
                <a:ea typeface="Arial" pitchFamily="34" charset="-122"/>
                <a:cs typeface="Arial" pitchFamily="34" charset="-120"/>
              </a:rPr>
              <a:t>—</a:t>
            </a:r>
            <a:endParaRPr lang="en-US" sz="1568" dirty="0"/>
          </a:p>
        </p:txBody>
      </p:sp>
      <p:sp>
        <p:nvSpPr>
          <p:cNvPr id="22" name="Text 20"/>
          <p:cNvSpPr/>
          <p:nvPr/>
        </p:nvSpPr>
        <p:spPr>
          <a:xfrm>
            <a:off x="9740900" y="3221434"/>
            <a:ext cx="850602"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Cohort A</a:t>
            </a:r>
            <a:endParaRPr lang="en-US" sz="1568" dirty="0"/>
          </a:p>
        </p:txBody>
      </p:sp>
      <p:sp>
        <p:nvSpPr>
          <p:cNvPr id="23" name="Text 21"/>
          <p:cNvSpPr/>
          <p:nvPr/>
        </p:nvSpPr>
        <p:spPr>
          <a:xfrm>
            <a:off x="10562233" y="3196035"/>
            <a:ext cx="2508548"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mom-and-pop (1–9 units) ·</a:t>
            </a:r>
            <a:endParaRPr lang="en-US" sz="1568" dirty="0"/>
          </a:p>
        </p:txBody>
      </p:sp>
      <p:sp>
        <p:nvSpPr>
          <p:cNvPr id="24" name="Text 22"/>
          <p:cNvSpPr/>
          <p:nvPr/>
        </p:nvSpPr>
        <p:spPr>
          <a:xfrm>
            <a:off x="13041611" y="3221434"/>
            <a:ext cx="861616"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Cohort B</a:t>
            </a:r>
            <a:endParaRPr lang="en-US" sz="1568" dirty="0"/>
          </a:p>
        </p:txBody>
      </p:sp>
      <p:sp>
        <p:nvSpPr>
          <p:cNvPr id="25" name="Text 23"/>
          <p:cNvSpPr/>
          <p:nvPr/>
        </p:nvSpPr>
        <p:spPr>
          <a:xfrm>
            <a:off x="13873957" y="3196035"/>
            <a:ext cx="3344138"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
                corporate &amp; institutional (10+ units). · 
                <a:r>
                  <a:rPr lang="en-US" dirty="0" b="1"/>
                  <a:t>Cohort C</a:t>
                </a:r>
                <a:r>
                  <a:rPr lang="en-US" dirty="0"/>
                  <a:t> mid-market PMs &amp; leasing agents (10+ units, mixed-income).</a:t>
                </a:r>
              </a:t>
            </a:r>
            <a:endParaRPr lang="en-US" sz="1568" dirty="0"/>
          </a:p>
        </p:txBody>
      </p:sp>
      <p:sp>
        <p:nvSpPr>
          <p:cNvPr id="26" name="Text 24"/>
          <p:cNvSpPr/>
          <p:nvPr/>
        </p:nvSpPr>
        <p:spPr>
          <a:xfrm>
            <a:off x="9550400" y="3579416"/>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C7A58"/>
                </a:solidFill>
                <a:latin typeface="Arial" pitchFamily="34" charset="0"/>
                <a:ea typeface="Arial" pitchFamily="34" charset="-122"/>
                <a:cs typeface="Arial" pitchFamily="34" charset="-120"/>
              </a:rPr>
              <a:t>—</a:t>
            </a:r>
            <a:endParaRPr lang="en-US" sz="1568" dirty="0"/>
          </a:p>
        </p:txBody>
      </p:sp>
      <p:sp>
        <p:nvSpPr>
          <p:cNvPr id="27" name="Text 25"/>
          <p:cNvSpPr/>
          <p:nvPr/>
        </p:nvSpPr>
        <p:spPr>
          <a:xfrm>
            <a:off x="9740900" y="3585766"/>
            <a:ext cx="5828403"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Mostly Atlanta Housing, plus GA DCA, DeKalb, Fulton &amp; Clayton.</a:t>
            </a:r>
            <a:endParaRPr lang="en-US" sz="1568" dirty="0"/>
          </a:p>
        </p:txBody>
      </p:sp>
      <p:sp>
        <p:nvSpPr>
          <p:cNvPr id="28" name="Shape 26"/>
          <p:cNvSpPr/>
          <p:nvPr/>
        </p:nvSpPr>
        <p:spPr>
          <a:xfrm>
            <a:off x="762000" y="5677099"/>
            <a:ext cx="8286750" cy="3708202"/>
          </a:xfrm>
          <a:prstGeom prst="roundRect">
            <a:avLst>
              <a:gd name="adj" fmla="val 1541"/>
            </a:avLst>
          </a:prstGeom>
          <a:solidFill>
            <a:srgbClr val="16201C"/>
          </a:solidFill>
          <a:ln/>
        </p:spPr>
      </p:sp>
      <p:sp>
        <p:nvSpPr>
          <p:cNvPr id="29" name="Text 27"/>
          <p:cNvSpPr/>
          <p:nvPr/>
        </p:nvSpPr>
        <p:spPr>
          <a:xfrm>
            <a:off x="1066800" y="5943799"/>
            <a:ext cx="7907465" cy="336550"/>
          </a:xfrm>
          <a:prstGeom prst="rect">
            <a:avLst/>
          </a:prstGeom>
          <a:noFill/>
          <a:ln/>
        </p:spPr>
        <p:txBody>
          <a:bodyPr wrap="square" lIns="25400" tIns="25400" rIns="25400" bIns="25400" rtlCol="0" anchor="t">
            <a:normAutofit/>
          </a:bodyPr>
          <a:lstStyle/>
          <a:p>
            <a:pPr algn="l" indent="0" marL="0">
              <a:buNone/>
            </a:pPr>
            <a:r>
              <a:rPr lang="en-US" sz="1815" b="1" spc="150" kern="0" dirty="0">
                <a:solidFill>
                  <a:srgbClr val="F4F6F1"/>
                </a:solidFill>
                <a:latin typeface="Arial" pitchFamily="34" charset="0"/>
                <a:ea typeface="Arial" pitchFamily="34" charset="-122"/>
                <a:cs typeface="Arial" pitchFamily="34" charset="-120"/>
              </a:rPr>
              <a:t>3 </a:t>
            </a:r>
            <a:pPr algn="l" indent="0" marL="0">
              <a:buNone/>
            </a:pPr>
            <a:r>
              <a:rPr lang="en-US" sz="1073" spc="150" kern="0" dirty="0">
                <a:solidFill>
                  <a:srgbClr val="7CC79B"/>
                </a:solidFill>
                <a:latin typeface="Courier New" pitchFamily="34" charset="0"/>
                <a:ea typeface="Courier New" pitchFamily="34" charset="-122"/>
                <a:cs typeface="Courier New" pitchFamily="34" charset="-120"/>
              </a:rPr>
              <a:t>WHAT DID WE LEARN?</a:t>
            </a:r>
            <a:endParaRPr lang="en-US" sz="1073" dirty="0"/>
          </a:p>
        </p:txBody>
      </p:sp>
      <p:sp>
        <p:nvSpPr>
          <p:cNvPr id="30" name="Text 28"/>
          <p:cNvSpPr/>
          <p:nvPr/>
        </p:nvSpPr>
        <p:spPr>
          <a:xfrm>
            <a:off x="1066800" y="6413699"/>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7CC79B"/>
                </a:solidFill>
                <a:latin typeface="Arial" pitchFamily="34" charset="0"/>
                <a:ea typeface="Arial" pitchFamily="34" charset="-122"/>
                <a:cs typeface="Arial" pitchFamily="34" charset="-120"/>
              </a:rPr>
              <a:t>—</a:t>
            </a:r>
            <a:endParaRPr lang="en-US" sz="1568" dirty="0"/>
          </a:p>
        </p:txBody>
      </p:sp>
      <p:sp>
        <p:nvSpPr>
          <p:cNvPr id="31" name="Text 29"/>
          <p:cNvSpPr/>
          <p:nvPr/>
        </p:nvSpPr>
        <p:spPr>
          <a:xfrm>
            <a:off x="1257300" y="6420049"/>
            <a:ext cx="3557623"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D2D9D2"/>
                </a:solidFill>
                <a:latin typeface="Arial" pitchFamily="34" charset="0"/>
                <a:ea typeface="Arial" pitchFamily="34" charset="-122"/>
                <a:cs typeface="Arial" pitchFamily="34" charset="-120"/>
              </a:rPr>
              <a:t>The dealbreaker isn't tenants — it's the</a:t>
            </a:r>
            <a:endParaRPr lang="en-US" sz="1568" dirty="0"/>
          </a:p>
        </p:txBody>
      </p:sp>
      <p:sp>
        <p:nvSpPr>
          <p:cNvPr id="32" name="Text 30"/>
          <p:cNvSpPr/>
          <p:nvPr/>
        </p:nvSpPr>
        <p:spPr>
          <a:xfrm>
            <a:off x="4758333" y="6445448"/>
            <a:ext cx="2397056"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FFFFFF"/>
                </a:solidFill>
                <a:latin typeface="Arial" pitchFamily="34" charset="0"/>
                <a:ea typeface="Arial" pitchFamily="34" charset="-122"/>
                <a:cs typeface="Arial" pitchFamily="34" charset="-120"/>
              </a:rPr>
              <a:t>administrative black hole</a:t>
            </a:r>
            <a:endParaRPr lang="en-US" sz="1568" dirty="0"/>
          </a:p>
        </p:txBody>
      </p:sp>
      <p:sp>
        <p:nvSpPr>
          <p:cNvPr id="33" name="Text 31"/>
          <p:cNvSpPr/>
          <p:nvPr/>
        </p:nvSpPr>
        <p:spPr>
          <a:xfrm>
            <a:off x="1257300" y="6420049"/>
            <a:ext cx="7481208" cy="58340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D2D9D2"/>
                </a:solidFill>
                <a:latin typeface="Arial" pitchFamily="34" charset="0"/>
                <a:ea typeface="Arial" pitchFamily="34" charset="-122"/>
                <a:cs typeface="Arial" pitchFamily="34" charset="-120"/>
              </a:rPr>
              <a:t>: "48 days vacant, $2,800 in holding costs." Mid-market PMs cap voucher apps to protect leasing-agent bonuses.</a:t>
            </a:r>
            <a:endParaRPr lang="en-US" sz="1568" dirty="0"/>
          </a:p>
        </p:txBody>
      </p:sp>
      <p:sp>
        <p:nvSpPr>
          <p:cNvPr id="34" name="Text 32"/>
          <p:cNvSpPr/>
          <p:nvPr/>
        </p:nvSpPr>
        <p:spPr>
          <a:xfrm>
            <a:off x="1066800" y="7082036"/>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7CC79B"/>
                </a:solidFill>
                <a:latin typeface="Arial" pitchFamily="34" charset="0"/>
                <a:ea typeface="Arial" pitchFamily="34" charset="-122"/>
                <a:cs typeface="Arial" pitchFamily="34" charset="-120"/>
              </a:rPr>
              <a:t>—</a:t>
            </a:r>
            <a:endParaRPr lang="en-US" sz="1568" dirty="0"/>
          </a:p>
        </p:txBody>
      </p:sp>
      <p:sp>
        <p:nvSpPr>
          <p:cNvPr id="35" name="Text 33"/>
          <p:cNvSpPr/>
          <p:nvPr/>
        </p:nvSpPr>
        <p:spPr>
          <a:xfrm>
            <a:off x="1257300" y="7088386"/>
            <a:ext cx="7575637" cy="577057"/>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D2D9D2"/>
                </a:solidFill>
                <a:latin typeface="Arial" pitchFamily="34" charset="0"/>
                <a:ea typeface="Arial" pitchFamily="34" charset="-122"/>
                <a:cs typeface="Arial" pitchFamily="34" charset="-120"/>
              </a:rPr>
              <a:t>"Vouchers welcome" floods inboxes; paperwork lost in portals; caseworkers ghost; utility-math errors void leases.</a:t>
            </a:r>
            <a:endParaRPr lang="en-US" sz="1568" dirty="0"/>
          </a:p>
        </p:txBody>
      </p:sp>
      <p:sp>
        <p:nvSpPr>
          <p:cNvPr id="36" name="Text 34"/>
          <p:cNvSpPr/>
          <p:nvPr/>
        </p:nvSpPr>
        <p:spPr>
          <a:xfrm>
            <a:off x="1066800" y="7744024"/>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7CC79B"/>
                </a:solidFill>
                <a:latin typeface="Arial" pitchFamily="34" charset="0"/>
                <a:ea typeface="Arial" pitchFamily="34" charset="-122"/>
                <a:cs typeface="Arial" pitchFamily="34" charset="-120"/>
              </a:rPr>
              <a:t>—</a:t>
            </a:r>
            <a:endParaRPr lang="en-US" sz="1568" dirty="0"/>
          </a:p>
        </p:txBody>
      </p:sp>
      <p:sp>
        <p:nvSpPr>
          <p:cNvPr id="37" name="Text 35"/>
          <p:cNvSpPr/>
          <p:nvPr/>
        </p:nvSpPr>
        <p:spPr>
          <a:xfrm>
            <a:off x="1257300" y="7750373"/>
            <a:ext cx="2581176"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D2D9D2"/>
                </a:solidFill>
                <a:latin typeface="Arial" pitchFamily="34" charset="0"/>
                <a:ea typeface="Arial" pitchFamily="34" charset="-122"/>
                <a:cs typeface="Arial" pitchFamily="34" charset="-120"/>
              </a:rPr>
              <a:t>Clear appetite for a tool that</a:t>
            </a:r>
            <a:endParaRPr lang="en-US" sz="1568" dirty="0"/>
          </a:p>
        </p:txBody>
      </p:sp>
      <p:sp>
        <p:nvSpPr>
          <p:cNvPr id="38" name="Text 36"/>
          <p:cNvSpPr/>
          <p:nvPr/>
        </p:nvSpPr>
        <p:spPr>
          <a:xfrm>
            <a:off x="3809206" y="7775774"/>
            <a:ext cx="1447750"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FFFFFF"/>
                </a:solidFill>
                <a:latin typeface="Arial" pitchFamily="34" charset="0"/>
                <a:ea typeface="Arial" pitchFamily="34" charset="-122"/>
                <a:cs typeface="Arial" pitchFamily="34" charset="-120"/>
              </a:rPr>
              <a:t>fills units faster</a:t>
            </a:r>
            <a:endParaRPr lang="en-US" sz="1568" dirty="0"/>
          </a:p>
        </p:txBody>
      </p:sp>
      <p:sp>
        <p:nvSpPr>
          <p:cNvPr id="39" name="Text 37"/>
          <p:cNvSpPr/>
          <p:nvPr/>
        </p:nvSpPr>
        <p:spPr>
          <a:xfrm>
            <a:off x="5172274" y="7750373"/>
            <a:ext cx="3118183"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D2D9D2"/>
                </a:solidFill>
                <a:latin typeface="Arial" pitchFamily="34" charset="0"/>
                <a:ea typeface="Arial" pitchFamily="34" charset="-122"/>
                <a:cs typeface="Arial" pitchFamily="34" charset="-120"/>
              </a:rPr>
              <a:t>and keeps them inspection-ready.</a:t>
            </a:r>
            <a:endParaRPr lang="en-US" sz="1568" dirty="0"/>
          </a:p>
        </p:txBody>
      </p:sp>
      <p:sp>
        <p:nvSpPr>
          <p:cNvPr id="40" name="Shape 38"/>
          <p:cNvSpPr/>
          <p:nvPr/>
        </p:nvSpPr>
        <p:spPr>
          <a:xfrm>
            <a:off x="9239250" y="5677099"/>
            <a:ext cx="8286750" cy="3708202"/>
          </a:xfrm>
          <a:prstGeom prst="roundRect">
            <a:avLst>
              <a:gd name="adj" fmla="val 1541"/>
            </a:avLst>
          </a:prstGeom>
          <a:solidFill>
            <a:srgbClr val="FFFFFF"/>
          </a:solidFill>
          <a:ln w="6350">
            <a:solidFill>
              <a:srgbClr val="18221E">
                <a:alpha val="12000"/>
              </a:srgbClr>
            </a:solidFill>
            <a:prstDash val="solid"/>
          </a:ln>
        </p:spPr>
      </p:sp>
      <p:sp>
        <p:nvSpPr>
          <p:cNvPr id="41" name="Text 39"/>
          <p:cNvSpPr/>
          <p:nvPr/>
        </p:nvSpPr>
        <p:spPr>
          <a:xfrm>
            <a:off x="9550400" y="5950148"/>
            <a:ext cx="7894384" cy="336550"/>
          </a:xfrm>
          <a:prstGeom prst="rect">
            <a:avLst/>
          </a:prstGeom>
          <a:noFill/>
          <a:ln/>
        </p:spPr>
        <p:txBody>
          <a:bodyPr wrap="square" lIns="25400" tIns="25400" rIns="25400" bIns="25400" rtlCol="0" anchor="t">
            <a:normAutofit/>
          </a:bodyPr>
          <a:lstStyle/>
          <a:p>
            <a:pPr algn="l" indent="0" marL="0">
              <a:buNone/>
            </a:pPr>
            <a:r>
              <a:rPr lang="en-US" sz="1815" b="1" spc="150" kern="0" dirty="0">
                <a:solidFill>
                  <a:srgbClr val="2C7A58"/>
                </a:solidFill>
                <a:latin typeface="Arial" pitchFamily="34" charset="0"/>
                <a:ea typeface="Arial" pitchFamily="34" charset="-122"/>
                <a:cs typeface="Arial" pitchFamily="34" charset="-120"/>
              </a:rPr>
              <a:t>4 </a:t>
            </a:r>
            <a:pPr algn="l" indent="0" marL="0">
              <a:buNone/>
            </a:pPr>
            <a:r>
              <a:rPr lang="en-US" sz="1073" spc="150" kern="0" dirty="0">
                <a:solidFill>
                  <a:srgbClr val="2C7A58"/>
                </a:solidFill>
                <a:latin typeface="Courier New" pitchFamily="34" charset="0"/>
                <a:ea typeface="Courier New" pitchFamily="34" charset="-122"/>
                <a:cs typeface="Courier New" pitchFamily="34" charset="-120"/>
              </a:rPr>
              <a:t>WHAT TO DO NEXT?</a:t>
            </a:r>
            <a:endParaRPr lang="en-US" sz="1073" dirty="0"/>
          </a:p>
        </p:txBody>
      </p:sp>
      <p:sp>
        <p:nvSpPr>
          <p:cNvPr id="42" name="Text 40"/>
          <p:cNvSpPr/>
          <p:nvPr/>
        </p:nvSpPr>
        <p:spPr>
          <a:xfrm>
            <a:off x="9550400" y="6420049"/>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C7A58"/>
                </a:solidFill>
                <a:latin typeface="Arial" pitchFamily="34" charset="0"/>
                <a:ea typeface="Arial" pitchFamily="34" charset="-122"/>
                <a:cs typeface="Arial" pitchFamily="34" charset="-120"/>
              </a:rPr>
              <a:t>—</a:t>
            </a:r>
            <a:endParaRPr lang="en-US" sz="1568" dirty="0"/>
          </a:p>
        </p:txBody>
      </p:sp>
      <p:sp>
        <p:nvSpPr>
          <p:cNvPr id="43" name="Text 41"/>
          <p:cNvSpPr/>
          <p:nvPr/>
        </p:nvSpPr>
        <p:spPr>
          <a:xfrm>
            <a:off x="9740900" y="6426398"/>
            <a:ext cx="1377355"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Spec a bulk-upload / Yardi + AppFolio integration —</a:t>
            </a:r>
            <a:endParaRPr lang="en-US" sz="1568" dirty="0"/>
          </a:p>
        </p:txBody>
      </p:sp>
      <p:sp>
        <p:nvSpPr>
          <p:cNvPr id="44" name="Text 42"/>
          <p:cNvSpPr/>
          <p:nvPr/>
        </p:nvSpPr>
        <p:spPr>
          <a:xfrm>
            <a:off x="11089085" y="6451799"/>
            <a:ext cx="1606004"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
            </a:r>
            <a:endParaRPr lang="en-US" sz="1568" dirty="0"/>
          </a:p>
        </p:txBody>
      </p:sp>
      <p:sp>
        <p:nvSpPr>
          <p:cNvPr id="45" name="Text 43"/>
          <p:cNvSpPr/>
          <p:nvPr/>
        </p:nvSpPr>
        <p:spPr>
          <a:xfrm>
            <a:off x="12596020" y="6426398"/>
            <a:ext cx="4162006"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PM cohort will not upload listings one by one.</a:t>
            </a:r>
            <a:endParaRPr lang="en-US" sz="1568" dirty="0"/>
          </a:p>
        </p:txBody>
      </p:sp>
      <p:sp>
        <p:nvSpPr>
          <p:cNvPr id="46" name="Text 44"/>
          <p:cNvSpPr/>
          <p:nvPr/>
        </p:nvSpPr>
        <p:spPr>
          <a:xfrm>
            <a:off x="9550400" y="6809780"/>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C7A58"/>
                </a:solidFill>
                <a:latin typeface="Arial" pitchFamily="34" charset="0"/>
                <a:ea typeface="Arial" pitchFamily="34" charset="-122"/>
                <a:cs typeface="Arial" pitchFamily="34" charset="-120"/>
              </a:rPr>
              <a:t>—</a:t>
            </a:r>
            <a:endParaRPr lang="en-US" sz="1568" dirty="0"/>
          </a:p>
        </p:txBody>
      </p:sp>
      <p:sp>
        <p:nvSpPr>
          <p:cNvPr id="47" name="Text 45"/>
          <p:cNvSpPr/>
          <p:nvPr/>
        </p:nvSpPr>
        <p:spPr>
          <a:xfrm>
            <a:off x="9740900" y="6816130"/>
            <a:ext cx="3583684"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Cross-check the bottleneck against the</a:t>
            </a:r>
            <a:endParaRPr lang="en-US" sz="1568" dirty="0"/>
          </a:p>
        </p:txBody>
      </p:sp>
      <p:sp>
        <p:nvSpPr>
          <p:cNvPr id="48" name="Text 46"/>
          <p:cNvSpPr/>
          <p:nvPr/>
        </p:nvSpPr>
        <p:spPr>
          <a:xfrm>
            <a:off x="13267234" y="6841530"/>
            <a:ext cx="2494082"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caseworkers &amp; inspectors</a:t>
            </a:r>
            <a:endParaRPr lang="en-US" sz="1568" dirty="0"/>
          </a:p>
        </p:txBody>
      </p:sp>
      <p:sp>
        <p:nvSpPr>
          <p:cNvPr id="49" name="Text 47"/>
          <p:cNvSpPr/>
          <p:nvPr/>
        </p:nvSpPr>
        <p:spPr>
          <a:xfrm>
            <a:off x="15581512" y="6816130"/>
            <a:ext cx="1487091"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we interviewed.</a:t>
            </a:r>
            <a:endParaRPr lang="en-US" sz="1568" dirty="0"/>
          </a:p>
        </p:txBody>
      </p:sp>
      <p:sp>
        <p:nvSpPr>
          <p:cNvPr id="50" name="Text 48"/>
          <p:cNvSpPr/>
          <p:nvPr/>
        </p:nvSpPr>
        <p:spPr>
          <a:xfrm>
            <a:off x="9550400" y="7199511"/>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C7A58"/>
                </a:solidFill>
                <a:latin typeface="Arial" pitchFamily="34" charset="0"/>
                <a:ea typeface="Arial" pitchFamily="34" charset="-122"/>
                <a:cs typeface="Arial" pitchFamily="34" charset="-120"/>
              </a:rPr>
              <a:t>—</a:t>
            </a:r>
            <a:endParaRPr lang="en-US" sz="1568" dirty="0"/>
          </a:p>
        </p:txBody>
      </p:sp>
      <p:sp>
        <p:nvSpPr>
          <p:cNvPr id="51" name="Text 49"/>
          <p:cNvSpPr/>
          <p:nvPr/>
        </p:nvSpPr>
        <p:spPr>
          <a:xfrm>
            <a:off x="9740900" y="7205861"/>
            <a:ext cx="4688108"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Recruit the first pilot landlords in two AH zip codes.</a:t>
            </a:r>
            <a:endParaRPr lang="en-US" sz="1568" dirty="0"/>
          </a:p>
        </p:txBody>
      </p:sp>
      <p:sp>
        <p:nvSpPr>
          <p:cNvPr id="52" name="Text 50"/>
          <p:cNvSpPr/>
          <p:nvPr/>
        </p:nvSpPr>
        <p:spPr>
          <a:xfrm>
            <a:off x="762000" y="9556750"/>
            <a:ext cx="4421287"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SETTLEED · CUSTOMER DISCOVERY · LANDLORDS</a:t>
            </a:r>
            <a:endParaRPr lang="en-US" sz="990" dirty="0"/>
          </a:p>
        </p:txBody>
      </p:sp>
      <p:sp>
        <p:nvSpPr>
          <p:cNvPr id="53" name="Text 51"/>
          <p:cNvSpPr/>
          <p:nvPr/>
        </p:nvSpPr>
        <p:spPr>
          <a:xfrm>
            <a:off x="16839705" y="9556750"/>
            <a:ext cx="762496"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05 / 16</a:t>
            </a:r>
            <a:endParaRPr lang="en-US" sz="99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762000" y="1556147"/>
            <a:ext cx="16764000" cy="12700"/>
          </a:xfrm>
          <a:prstGeom prst="rect">
            <a:avLst/>
          </a:prstGeom>
          <a:solidFill>
            <a:srgbClr val="B0673E"/>
          </a:solidFill>
          <a:ln/>
        </p:spPr>
      </p:sp>
      <p:sp>
        <p:nvSpPr>
          <p:cNvPr id="3" name="Text 1"/>
          <p:cNvSpPr/>
          <p:nvPr/>
        </p:nvSpPr>
        <p:spPr>
          <a:xfrm>
            <a:off x="762000" y="721122"/>
            <a:ext cx="7629366" cy="215900"/>
          </a:xfrm>
          <a:prstGeom prst="rect">
            <a:avLst/>
          </a:prstGeom>
          <a:noFill/>
          <a:ln/>
        </p:spPr>
        <p:txBody>
          <a:bodyPr wrap="square" lIns="25400" tIns="25400" rIns="25400" bIns="25400" rtlCol="0" anchor="t">
            <a:normAutofit/>
          </a:bodyPr>
          <a:lstStyle/>
          <a:p>
            <a:pPr algn="l" indent="0" marL="0">
              <a:buNone/>
            </a:pPr>
            <a:r>
              <a:rPr lang="en-US" sz="1073" spc="215" kern="0" dirty="0">
                <a:solidFill>
                  <a:srgbClr val="B0673E"/>
                </a:solidFill>
                <a:latin typeface="Courier New" pitchFamily="34" charset="0"/>
                <a:ea typeface="Courier New" pitchFamily="34" charset="-122"/>
                <a:cs typeface="Courier New" pitchFamily="34" charset="-120"/>
              </a:rPr>
              <a:t>CUSTOMER DISCOVERY REPORT</a:t>
            </a:r>
            <a:endParaRPr lang="en-US" sz="1073" dirty="0"/>
          </a:p>
        </p:txBody>
      </p:sp>
      <p:sp>
        <p:nvSpPr>
          <p:cNvPr id="4" name="Text 2"/>
          <p:cNvSpPr/>
          <p:nvPr/>
        </p:nvSpPr>
        <p:spPr>
          <a:xfrm>
            <a:off x="762000" y="975122"/>
            <a:ext cx="7629366" cy="466725"/>
          </a:xfrm>
          <a:prstGeom prst="rect">
            <a:avLst/>
          </a:prstGeom>
          <a:noFill/>
          <a:ln/>
        </p:spPr>
        <p:txBody>
          <a:bodyPr wrap="square" lIns="25400" tIns="25400" rIns="25400" bIns="25400" rtlCol="0" anchor="t">
            <a:normAutofit/>
          </a:bodyPr>
          <a:lstStyle/>
          <a:p>
            <a:pPr algn="l" indent="0" marL="0">
              <a:lnSpc>
                <a:spcPct val="100000"/>
              </a:lnSpc>
              <a:buNone/>
            </a:pPr>
            <a:r>
              <a:rPr lang="en-US" sz="3375" b="1" spc="-67" kern="0" dirty="0">
                <a:solidFill>
                  <a:srgbClr val="18221E"/>
                </a:solidFill>
                <a:latin typeface="Arial" pitchFamily="34" charset="0"/>
                <a:ea typeface="Arial" pitchFamily="34" charset="-122"/>
                <a:cs typeface="Arial" pitchFamily="34" charset="-120"/>
              </a:rPr>
              <a:t>Voucher tenants </a:t>
            </a:r>
            <a:pPr algn="l" indent="0" marL="0">
              <a:lnSpc>
                <a:spcPct val="100000"/>
              </a:lnSpc>
              <a:buNone/>
            </a:pPr>
            <a:r>
              <a:rPr lang="en-US" sz="3375" spc="-67" kern="0" dirty="0">
                <a:solidFill>
                  <a:srgbClr val="9AA39D"/>
                </a:solidFill>
                <a:latin typeface="Arial" pitchFamily="34" charset="0"/>
                <a:ea typeface="Arial" pitchFamily="34" charset="-122"/>
                <a:cs typeface="Arial" pitchFamily="34" charset="-120"/>
              </a:rPr>
              <a:t>· the demand side</a:t>
            </a:r>
            <a:endParaRPr lang="en-US" sz="3375" dirty="0"/>
          </a:p>
        </p:txBody>
      </p:sp>
      <p:sp>
        <p:nvSpPr>
          <p:cNvPr id="5" name="Text 3"/>
          <p:cNvSpPr/>
          <p:nvPr/>
        </p:nvSpPr>
        <p:spPr>
          <a:xfrm>
            <a:off x="14185305" y="609600"/>
            <a:ext cx="1011634" cy="641548"/>
          </a:xfrm>
          <a:prstGeom prst="rect">
            <a:avLst/>
          </a:prstGeom>
          <a:noFill/>
          <a:ln/>
        </p:spPr>
        <p:txBody>
          <a:bodyPr wrap="square" lIns="25400" tIns="25400" rIns="25400" bIns="25400" rtlCol="0" anchor="t">
            <a:normAutofit/>
          </a:bodyPr>
          <a:lstStyle/>
          <a:p>
            <a:pPr algn="r" indent="0" marL="0">
              <a:lnSpc>
                <a:spcPct val="80000"/>
              </a:lnSpc>
              <a:buNone/>
            </a:pPr>
            <a:r>
              <a:rPr lang="en-US" sz="5940" b="1" dirty="0">
                <a:solidFill>
                  <a:srgbClr val="B0673E"/>
                </a:solidFill>
                <a:latin typeface="Arial" pitchFamily="34" charset="0"/>
                <a:ea typeface="Arial" pitchFamily="34" charset="-122"/>
                <a:cs typeface="Arial" pitchFamily="34" charset="-120"/>
              </a:rPr>
              <a:t>43</a:t>
            </a:r>
            <a:endParaRPr lang="en-US" sz="5940" dirty="0"/>
          </a:p>
        </p:txBody>
      </p:sp>
      <p:sp>
        <p:nvSpPr>
          <p:cNvPr id="6" name="Text 4"/>
          <p:cNvSpPr/>
          <p:nvPr/>
        </p:nvSpPr>
        <p:spPr>
          <a:xfrm>
            <a:off x="15292190" y="1022350"/>
            <a:ext cx="2233811" cy="419497"/>
          </a:xfrm>
          <a:prstGeom prst="rect">
            <a:avLst/>
          </a:prstGeom>
          <a:noFill/>
          <a:ln/>
        </p:spPr>
        <p:txBody>
          <a:bodyPr wrap="square" lIns="25400" tIns="25400" rIns="25400" bIns="25400" rtlCol="0" anchor="t">
            <a:normAutofit/>
          </a:bodyPr>
          <a:lstStyle/>
          <a:p>
            <a:pPr algn="r" indent="0" marL="0">
              <a:lnSpc>
                <a:spcPct val="140000"/>
              </a:lnSpc>
              <a:buNone/>
            </a:pPr>
            <a:r>
              <a:rPr lang="en-US" sz="1073" spc="129" kern="0" dirty="0">
                <a:solidFill>
                  <a:srgbClr val="5C6660"/>
                </a:solidFill>
                <a:latin typeface="Courier New" pitchFamily="34" charset="0"/>
                <a:ea typeface="Courier New" pitchFamily="34" charset="-122"/>
                <a:cs typeface="Courier New" pitchFamily="34" charset="-120"/>
              </a:rPr>
              <a:t>INTERVIEWS 1–4 BR · 5 AUTHORITIES</a:t>
            </a:r>
            <a:endParaRPr lang="en-US" sz="1073" dirty="0"/>
          </a:p>
        </p:txBody>
      </p:sp>
      <p:sp>
        <p:nvSpPr>
          <p:cNvPr id="7" name="Shape 5"/>
          <p:cNvSpPr/>
          <p:nvPr/>
        </p:nvSpPr>
        <p:spPr>
          <a:xfrm>
            <a:off x="762000" y="1778397"/>
            <a:ext cx="8286750" cy="3708202"/>
          </a:xfrm>
          <a:prstGeom prst="roundRect">
            <a:avLst>
              <a:gd name="adj" fmla="val 1541"/>
            </a:avLst>
          </a:prstGeom>
          <a:solidFill>
            <a:srgbClr val="FFFFFF"/>
          </a:solidFill>
          <a:ln w="6350">
            <a:solidFill>
              <a:srgbClr val="18221E">
                <a:alpha val="12000"/>
              </a:srgbClr>
            </a:solidFill>
            <a:prstDash val="solid"/>
          </a:ln>
        </p:spPr>
      </p:sp>
      <p:sp>
        <p:nvSpPr>
          <p:cNvPr id="8" name="Text 6"/>
          <p:cNvSpPr/>
          <p:nvPr/>
        </p:nvSpPr>
        <p:spPr>
          <a:xfrm>
            <a:off x="1073150" y="2051447"/>
            <a:ext cx="7894384" cy="336550"/>
          </a:xfrm>
          <a:prstGeom prst="rect">
            <a:avLst/>
          </a:prstGeom>
          <a:noFill/>
          <a:ln/>
        </p:spPr>
        <p:txBody>
          <a:bodyPr wrap="square" lIns="25400" tIns="25400" rIns="25400" bIns="25400" rtlCol="0" anchor="t">
            <a:normAutofit/>
          </a:bodyPr>
          <a:lstStyle/>
          <a:p>
            <a:pPr algn="l" indent="0" marL="0">
              <a:buNone/>
            </a:pPr>
            <a:r>
              <a:rPr lang="en-US" sz="1815" b="1" spc="150" kern="0" dirty="0">
                <a:solidFill>
                  <a:srgbClr val="B0673E"/>
                </a:solidFill>
                <a:latin typeface="Arial" pitchFamily="34" charset="0"/>
                <a:ea typeface="Arial" pitchFamily="34" charset="-122"/>
                <a:cs typeface="Arial" pitchFamily="34" charset="-120"/>
              </a:rPr>
              <a:t>1 </a:t>
            </a:r>
            <a:pPr algn="l" indent="0" marL="0">
              <a:buNone/>
            </a:pPr>
            <a:r>
              <a:rPr lang="en-US" sz="1073" spc="150" kern="0" dirty="0">
                <a:solidFill>
                  <a:srgbClr val="B0673E"/>
                </a:solidFill>
                <a:latin typeface="Courier New" pitchFamily="34" charset="0"/>
                <a:ea typeface="Courier New" pitchFamily="34" charset="-122"/>
                <a:cs typeface="Courier New" pitchFamily="34" charset="-120"/>
              </a:rPr>
              <a:t>WHAT DID WE THINK?</a:t>
            </a:r>
            <a:endParaRPr lang="en-US" sz="1073" dirty="0"/>
          </a:p>
        </p:txBody>
      </p:sp>
      <p:sp>
        <p:nvSpPr>
          <p:cNvPr id="9" name="Text 7"/>
          <p:cNvSpPr/>
          <p:nvPr/>
        </p:nvSpPr>
        <p:spPr>
          <a:xfrm>
            <a:off x="1073150" y="2521347"/>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B0673E"/>
                </a:solidFill>
                <a:latin typeface="Arial" pitchFamily="34" charset="0"/>
                <a:ea typeface="Arial" pitchFamily="34" charset="-122"/>
                <a:cs typeface="Arial" pitchFamily="34" charset="-120"/>
              </a:rPr>
              <a:t>—</a:t>
            </a:r>
            <a:endParaRPr lang="en-US" sz="1568" dirty="0"/>
          </a:p>
        </p:txBody>
      </p:sp>
      <p:sp>
        <p:nvSpPr>
          <p:cNvPr id="10" name="Text 8"/>
          <p:cNvSpPr/>
          <p:nvPr/>
        </p:nvSpPr>
        <p:spPr>
          <a:xfrm>
            <a:off x="1263650" y="2527697"/>
            <a:ext cx="1654572"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Tenants just need</a:t>
            </a:r>
            <a:endParaRPr lang="en-US" sz="1568" dirty="0"/>
          </a:p>
        </p:txBody>
      </p:sp>
      <p:sp>
        <p:nvSpPr>
          <p:cNvPr id="11" name="Text 9"/>
          <p:cNvSpPr/>
          <p:nvPr/>
        </p:nvSpPr>
        <p:spPr>
          <a:xfrm>
            <a:off x="2889052" y="2553097"/>
            <a:ext cx="1642785"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a list of landlords</a:t>
            </a:r>
            <a:endParaRPr lang="en-US" sz="1568" dirty="0"/>
          </a:p>
        </p:txBody>
      </p:sp>
      <p:sp>
        <p:nvSpPr>
          <p:cNvPr id="12" name="Text 10"/>
          <p:cNvSpPr/>
          <p:nvPr/>
        </p:nvSpPr>
        <p:spPr>
          <a:xfrm>
            <a:off x="4429423" y="2527697"/>
            <a:ext cx="2011263"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who accept vouchers.</a:t>
            </a:r>
            <a:endParaRPr lang="en-US" sz="1568" dirty="0"/>
          </a:p>
        </p:txBody>
      </p:sp>
      <p:sp>
        <p:nvSpPr>
          <p:cNvPr id="13" name="Text 11"/>
          <p:cNvSpPr/>
          <p:nvPr/>
        </p:nvSpPr>
        <p:spPr>
          <a:xfrm>
            <a:off x="1073150" y="2911078"/>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B0673E"/>
                </a:solidFill>
                <a:latin typeface="Arial" pitchFamily="34" charset="0"/>
                <a:ea typeface="Arial" pitchFamily="34" charset="-122"/>
                <a:cs typeface="Arial" pitchFamily="34" charset="-120"/>
              </a:rPr>
              <a:t>—</a:t>
            </a:r>
            <a:endParaRPr lang="en-US" sz="1568" dirty="0"/>
          </a:p>
        </p:txBody>
      </p:sp>
      <p:sp>
        <p:nvSpPr>
          <p:cNvPr id="14" name="Text 12"/>
          <p:cNvSpPr/>
          <p:nvPr/>
        </p:nvSpPr>
        <p:spPr>
          <a:xfrm>
            <a:off x="1263650" y="2917428"/>
            <a:ext cx="6945807"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A simple "vouchers welcome" filter on an existing site would mostly solve it.</a:t>
            </a:r>
            <a:endParaRPr lang="en-US" sz="1568" dirty="0"/>
          </a:p>
        </p:txBody>
      </p:sp>
      <p:sp>
        <p:nvSpPr>
          <p:cNvPr id="15" name="Shape 13"/>
          <p:cNvSpPr/>
          <p:nvPr/>
        </p:nvSpPr>
        <p:spPr>
          <a:xfrm>
            <a:off x="9239250" y="1778397"/>
            <a:ext cx="8286750" cy="3708202"/>
          </a:xfrm>
          <a:prstGeom prst="roundRect">
            <a:avLst>
              <a:gd name="adj" fmla="val 1541"/>
            </a:avLst>
          </a:prstGeom>
          <a:solidFill>
            <a:srgbClr val="FFFFFF"/>
          </a:solidFill>
          <a:ln w="6350">
            <a:solidFill>
              <a:srgbClr val="18221E">
                <a:alpha val="12000"/>
              </a:srgbClr>
            </a:solidFill>
            <a:prstDash val="solid"/>
          </a:ln>
        </p:spPr>
      </p:sp>
      <p:sp>
        <p:nvSpPr>
          <p:cNvPr id="16" name="Text 14"/>
          <p:cNvSpPr/>
          <p:nvPr/>
        </p:nvSpPr>
        <p:spPr>
          <a:xfrm>
            <a:off x="9550400" y="2051447"/>
            <a:ext cx="7894384" cy="336550"/>
          </a:xfrm>
          <a:prstGeom prst="rect">
            <a:avLst/>
          </a:prstGeom>
          <a:noFill/>
          <a:ln/>
        </p:spPr>
        <p:txBody>
          <a:bodyPr wrap="square" lIns="25400" tIns="25400" rIns="25400" bIns="25400" rtlCol="0" anchor="t">
            <a:normAutofit/>
          </a:bodyPr>
          <a:lstStyle/>
          <a:p>
            <a:pPr algn="l" indent="0" marL="0">
              <a:buNone/>
            </a:pPr>
            <a:r>
              <a:rPr lang="en-US" sz="1815" b="1" spc="150" kern="0" dirty="0">
                <a:solidFill>
                  <a:srgbClr val="B0673E"/>
                </a:solidFill>
                <a:latin typeface="Arial" pitchFamily="34" charset="0"/>
                <a:ea typeface="Arial" pitchFamily="34" charset="-122"/>
                <a:cs typeface="Arial" pitchFamily="34" charset="-120"/>
              </a:rPr>
              <a:t>2 </a:t>
            </a:r>
            <a:pPr algn="l" indent="0" marL="0">
              <a:buNone/>
            </a:pPr>
            <a:r>
              <a:rPr lang="en-US" sz="1073" spc="150" kern="0" dirty="0">
                <a:solidFill>
                  <a:srgbClr val="B0673E"/>
                </a:solidFill>
                <a:latin typeface="Courier New" pitchFamily="34" charset="0"/>
                <a:ea typeface="Courier New" pitchFamily="34" charset="-122"/>
                <a:cs typeface="Courier New" pitchFamily="34" charset="-120"/>
              </a:rPr>
              <a:t>WHAT DID WE DO?</a:t>
            </a:r>
            <a:endParaRPr lang="en-US" sz="1073" dirty="0"/>
          </a:p>
        </p:txBody>
      </p:sp>
      <p:sp>
        <p:nvSpPr>
          <p:cNvPr id="17" name="Text 15"/>
          <p:cNvSpPr/>
          <p:nvPr/>
        </p:nvSpPr>
        <p:spPr>
          <a:xfrm>
            <a:off x="9550400" y="2521347"/>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B0673E"/>
                </a:solidFill>
                <a:latin typeface="Arial" pitchFamily="34" charset="0"/>
                <a:ea typeface="Arial" pitchFamily="34" charset="-122"/>
                <a:cs typeface="Arial" pitchFamily="34" charset="-120"/>
              </a:rPr>
              <a:t>—</a:t>
            </a:r>
            <a:endParaRPr lang="en-US" sz="1568" dirty="0"/>
          </a:p>
        </p:txBody>
      </p:sp>
      <p:sp>
        <p:nvSpPr>
          <p:cNvPr id="18" name="Text 16"/>
          <p:cNvSpPr/>
          <p:nvPr/>
        </p:nvSpPr>
        <p:spPr>
          <a:xfrm>
            <a:off x="9740900" y="2527697"/>
            <a:ext cx="1154708"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Interviewed</a:t>
            </a:r>
            <a:endParaRPr lang="en-US" sz="1568" dirty="0"/>
          </a:p>
        </p:txBody>
      </p:sp>
      <p:sp>
        <p:nvSpPr>
          <p:cNvPr id="19" name="Text 17"/>
          <p:cNvSpPr/>
          <p:nvPr/>
        </p:nvSpPr>
        <p:spPr>
          <a:xfrm>
            <a:off x="10866339" y="2553097"/>
            <a:ext cx="1861939"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43 voucher holders</a:t>
            </a:r>
            <a:endParaRPr lang="en-US" sz="1568" dirty="0"/>
          </a:p>
        </p:txBody>
      </p:sp>
      <p:sp>
        <p:nvSpPr>
          <p:cNvPr id="20" name="Text 18"/>
          <p:cNvSpPr/>
          <p:nvPr/>
        </p:nvSpPr>
        <p:spPr>
          <a:xfrm>
            <a:off x="12605941" y="2527697"/>
            <a:ext cx="4189497"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across AH, GA DCA, DeKalb, Fulton &amp; Clayton.</a:t>
            </a:r>
            <a:endParaRPr lang="en-US" sz="1568" dirty="0"/>
          </a:p>
        </p:txBody>
      </p:sp>
      <p:sp>
        <p:nvSpPr>
          <p:cNvPr id="21" name="Text 19"/>
          <p:cNvSpPr/>
          <p:nvPr/>
        </p:nvSpPr>
        <p:spPr>
          <a:xfrm>
            <a:off x="9550400" y="2911078"/>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B0673E"/>
                </a:solidFill>
                <a:latin typeface="Arial" pitchFamily="34" charset="0"/>
                <a:ea typeface="Arial" pitchFamily="34" charset="-122"/>
                <a:cs typeface="Arial" pitchFamily="34" charset="-120"/>
              </a:rPr>
              <a:t>—</a:t>
            </a:r>
            <a:endParaRPr lang="en-US" sz="1568" dirty="0"/>
          </a:p>
        </p:txBody>
      </p:sp>
      <p:sp>
        <p:nvSpPr>
          <p:cNvPr id="22" name="Text 20"/>
          <p:cNvSpPr/>
          <p:nvPr/>
        </p:nvSpPr>
        <p:spPr>
          <a:xfrm>
            <a:off x="9740900" y="2942828"/>
            <a:ext cx="872530"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Cohort C</a:t>
            </a:r>
            <a:endParaRPr lang="en-US" sz="1568" dirty="0"/>
          </a:p>
        </p:txBody>
      </p:sp>
      <p:sp>
        <p:nvSpPr>
          <p:cNvPr id="23" name="Text 21"/>
          <p:cNvSpPr/>
          <p:nvPr/>
        </p:nvSpPr>
        <p:spPr>
          <a:xfrm>
            <a:off x="10584161" y="2917428"/>
            <a:ext cx="2781858"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high-urgency near-expiration ·</a:t>
            </a:r>
            <a:endParaRPr lang="en-US" sz="1568" dirty="0"/>
          </a:p>
        </p:txBody>
      </p:sp>
      <p:sp>
        <p:nvSpPr>
          <p:cNvPr id="24" name="Text 22"/>
          <p:cNvSpPr/>
          <p:nvPr/>
        </p:nvSpPr>
        <p:spPr>
          <a:xfrm>
            <a:off x="13331925" y="2942828"/>
            <a:ext cx="872530"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Cohort D</a:t>
            </a:r>
            <a:endParaRPr lang="en-US" sz="1568" dirty="0"/>
          </a:p>
        </p:txBody>
      </p:sp>
      <p:sp>
        <p:nvSpPr>
          <p:cNvPr id="25" name="Text 23"/>
          <p:cNvSpPr/>
          <p:nvPr/>
        </p:nvSpPr>
        <p:spPr>
          <a:xfrm>
            <a:off x="14175185" y="2917428"/>
            <a:ext cx="2864432"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port-in &amp; specialized subsidies.</a:t>
            </a:r>
            <a:endParaRPr lang="en-US" sz="1568" dirty="0"/>
          </a:p>
        </p:txBody>
      </p:sp>
      <p:sp>
        <p:nvSpPr>
          <p:cNvPr id="26" name="Text 24"/>
          <p:cNvSpPr/>
          <p:nvPr/>
        </p:nvSpPr>
        <p:spPr>
          <a:xfrm>
            <a:off x="9550400" y="3300810"/>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B0673E"/>
                </a:solidFill>
                <a:latin typeface="Arial" pitchFamily="34" charset="0"/>
                <a:ea typeface="Arial" pitchFamily="34" charset="-122"/>
                <a:cs typeface="Arial" pitchFamily="34" charset="-120"/>
              </a:rPr>
              <a:t>—</a:t>
            </a:r>
            <a:endParaRPr lang="en-US" sz="1568" dirty="0"/>
          </a:p>
        </p:txBody>
      </p:sp>
      <p:sp>
        <p:nvSpPr>
          <p:cNvPr id="27" name="Text 25"/>
          <p:cNvSpPr/>
          <p:nvPr/>
        </p:nvSpPr>
        <p:spPr>
          <a:xfrm>
            <a:off x="9740900" y="3307159"/>
            <a:ext cx="7133744"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Voucher sizes 1–4 BR, including VASH, SSI/disability, GHVP &amp; limited-English.</a:t>
            </a:r>
            <a:endParaRPr lang="en-US" sz="1568" dirty="0"/>
          </a:p>
        </p:txBody>
      </p:sp>
      <p:sp>
        <p:nvSpPr>
          <p:cNvPr id="28" name="Shape 26"/>
          <p:cNvSpPr/>
          <p:nvPr/>
        </p:nvSpPr>
        <p:spPr>
          <a:xfrm>
            <a:off x="762000" y="5677099"/>
            <a:ext cx="8286750" cy="3708202"/>
          </a:xfrm>
          <a:prstGeom prst="roundRect">
            <a:avLst>
              <a:gd name="adj" fmla="val 1541"/>
            </a:avLst>
          </a:prstGeom>
          <a:solidFill>
            <a:srgbClr val="3A2417"/>
          </a:solidFill>
          <a:ln/>
        </p:spPr>
      </p:sp>
      <p:sp>
        <p:nvSpPr>
          <p:cNvPr id="29" name="Text 27"/>
          <p:cNvSpPr/>
          <p:nvPr/>
        </p:nvSpPr>
        <p:spPr>
          <a:xfrm>
            <a:off x="1066800" y="5943799"/>
            <a:ext cx="7907465" cy="336550"/>
          </a:xfrm>
          <a:prstGeom prst="rect">
            <a:avLst/>
          </a:prstGeom>
          <a:noFill/>
          <a:ln/>
        </p:spPr>
        <p:txBody>
          <a:bodyPr wrap="square" lIns="25400" tIns="25400" rIns="25400" bIns="25400" rtlCol="0" anchor="t">
            <a:normAutofit/>
          </a:bodyPr>
          <a:lstStyle/>
          <a:p>
            <a:pPr algn="l" indent="0" marL="0">
              <a:buNone/>
            </a:pPr>
            <a:r>
              <a:rPr lang="en-US" sz="1815" b="1" spc="150" kern="0" dirty="0">
                <a:solidFill>
                  <a:srgbClr val="FFFFFF"/>
                </a:solidFill>
                <a:latin typeface="Arial" pitchFamily="34" charset="0"/>
                <a:ea typeface="Arial" pitchFamily="34" charset="-122"/>
                <a:cs typeface="Arial" pitchFamily="34" charset="-120"/>
              </a:rPr>
              <a:t>3 </a:t>
            </a:r>
            <a:pPr algn="l" indent="0" marL="0">
              <a:buNone/>
            </a:pPr>
            <a:r>
              <a:rPr lang="en-US" sz="1073" spc="150" kern="0" dirty="0">
                <a:solidFill>
                  <a:srgbClr val="E0A878"/>
                </a:solidFill>
                <a:latin typeface="Courier New" pitchFamily="34" charset="0"/>
                <a:ea typeface="Courier New" pitchFamily="34" charset="-122"/>
                <a:cs typeface="Courier New" pitchFamily="34" charset="-120"/>
              </a:rPr>
              <a:t>WHAT DID WE LEARN?</a:t>
            </a:r>
            <a:endParaRPr lang="en-US" sz="1073" dirty="0"/>
          </a:p>
        </p:txBody>
      </p:sp>
      <p:sp>
        <p:nvSpPr>
          <p:cNvPr id="30" name="Text 28"/>
          <p:cNvSpPr/>
          <p:nvPr/>
        </p:nvSpPr>
        <p:spPr>
          <a:xfrm>
            <a:off x="1066800" y="6413699"/>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E0A878"/>
                </a:solidFill>
                <a:latin typeface="Arial" pitchFamily="34" charset="0"/>
                <a:ea typeface="Arial" pitchFamily="34" charset="-122"/>
                <a:cs typeface="Arial" pitchFamily="34" charset="-120"/>
              </a:rPr>
              <a:t>—</a:t>
            </a:r>
            <a:endParaRPr lang="en-US" sz="1568" dirty="0"/>
          </a:p>
        </p:txBody>
      </p:sp>
      <p:sp>
        <p:nvSpPr>
          <p:cNvPr id="31" name="Text 29"/>
          <p:cNvSpPr/>
          <p:nvPr/>
        </p:nvSpPr>
        <p:spPr>
          <a:xfrm>
            <a:off x="1257300" y="6420049"/>
            <a:ext cx="2812619"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E6D6C8"/>
                </a:solidFill>
                <a:latin typeface="Arial" pitchFamily="34" charset="0"/>
                <a:ea typeface="Arial" pitchFamily="34" charset="-122"/>
                <a:cs typeface="Arial" pitchFamily="34" charset="-120"/>
              </a:rPr>
              <a:t>Search tools are cluttered with</a:t>
            </a:r>
            <a:endParaRPr lang="en-US" sz="1568" dirty="0"/>
          </a:p>
        </p:txBody>
      </p:sp>
      <p:sp>
        <p:nvSpPr>
          <p:cNvPr id="32" name="Text 30"/>
          <p:cNvSpPr/>
          <p:nvPr/>
        </p:nvSpPr>
        <p:spPr>
          <a:xfrm>
            <a:off x="4034929" y="6445448"/>
            <a:ext cx="3102759"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FFFFFF"/>
                </a:solidFill>
                <a:latin typeface="Arial" pitchFamily="34" charset="0"/>
                <a:ea typeface="Arial" pitchFamily="34" charset="-122"/>
                <a:cs typeface="Arial" pitchFamily="34" charset="-120"/>
              </a:rPr>
              <a:t>expired listings, false availability</a:t>
            </a:r>
            <a:endParaRPr lang="en-US" sz="1568" dirty="0"/>
          </a:p>
        </p:txBody>
      </p:sp>
      <p:sp>
        <p:nvSpPr>
          <p:cNvPr id="33" name="Text 31"/>
          <p:cNvSpPr/>
          <p:nvPr/>
        </p:nvSpPr>
        <p:spPr>
          <a:xfrm>
            <a:off x="1257300" y="6420049"/>
            <a:ext cx="7641450" cy="58340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E6D6C8"/>
                </a:solidFill>
                <a:latin typeface="Arial" pitchFamily="34" charset="0"/>
                <a:ea typeface="Arial" pitchFamily="34" charset="-122"/>
                <a:cs typeface="Arial" pitchFamily="34" charset="-120"/>
              </a:rPr>
              <a:t>, and filters that lock voucher holders out.</a:t>
            </a:r>
            <a:endParaRPr lang="en-US" sz="1568" dirty="0"/>
          </a:p>
        </p:txBody>
      </p:sp>
      <p:sp>
        <p:nvSpPr>
          <p:cNvPr id="34" name="Text 32"/>
          <p:cNvSpPr/>
          <p:nvPr/>
        </p:nvSpPr>
        <p:spPr>
          <a:xfrm>
            <a:off x="1066800" y="7082036"/>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E0A878"/>
                </a:solidFill>
                <a:latin typeface="Arial" pitchFamily="34" charset="0"/>
                <a:ea typeface="Arial" pitchFamily="34" charset="-122"/>
                <a:cs typeface="Arial" pitchFamily="34" charset="-120"/>
              </a:rPr>
              <a:t>—</a:t>
            </a:r>
            <a:endParaRPr lang="en-US" sz="1568" dirty="0"/>
          </a:p>
        </p:txBody>
      </p:sp>
      <p:sp>
        <p:nvSpPr>
          <p:cNvPr id="35" name="Text 33"/>
          <p:cNvSpPr/>
          <p:nvPr/>
        </p:nvSpPr>
        <p:spPr>
          <a:xfrm>
            <a:off x="1257300" y="7088386"/>
            <a:ext cx="1246981"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E6D6C8"/>
                </a:solidFill>
                <a:latin typeface="Arial" pitchFamily="34" charset="0"/>
                <a:ea typeface="Arial" pitchFamily="34" charset="-122"/>
                <a:cs typeface="Arial" pitchFamily="34" charset="-120"/>
              </a:rPr>
              <a:t>Tenants burn</a:t>
            </a:r>
            <a:endParaRPr lang="en-US" sz="1568" dirty="0"/>
          </a:p>
        </p:txBody>
      </p:sp>
      <p:sp>
        <p:nvSpPr>
          <p:cNvPr id="36" name="Text 34"/>
          <p:cNvSpPr/>
          <p:nvPr/>
        </p:nvSpPr>
        <p:spPr>
          <a:xfrm>
            <a:off x="2475111" y="7113786"/>
            <a:ext cx="1801584"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FFFFFF"/>
                </a:solidFill>
                <a:latin typeface="Arial" pitchFamily="34" charset="0"/>
                <a:ea typeface="Arial" pitchFamily="34" charset="-122"/>
                <a:cs typeface="Arial" pitchFamily="34" charset="-120"/>
              </a:rPr>
              <a:t>$180–$210 in fees</a:t>
            </a:r>
            <a:endParaRPr lang="en-US" sz="1568" dirty="0"/>
          </a:p>
        </p:txBody>
      </p:sp>
      <p:sp>
        <p:nvSpPr>
          <p:cNvPr id="37" name="Text 35"/>
          <p:cNvSpPr/>
          <p:nvPr/>
        </p:nvSpPr>
        <p:spPr>
          <a:xfrm>
            <a:off x="1257300" y="7088386"/>
            <a:ext cx="7364194" cy="58340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E6D6C8"/>
                </a:solidFill>
                <a:latin typeface="Arial" pitchFamily="34" charset="0"/>
                <a:ea typeface="Arial" pitchFamily="34" charset="-122"/>
                <a:cs typeface="Arial" pitchFamily="34" charset="-120"/>
              </a:rPr>
              <a:t>on units that fail the utility math or HQS — while the voucher clock runs out.</a:t>
            </a:r>
            <a:endParaRPr lang="en-US" sz="1568" dirty="0"/>
          </a:p>
        </p:txBody>
      </p:sp>
      <p:sp>
        <p:nvSpPr>
          <p:cNvPr id="38" name="Text 36"/>
          <p:cNvSpPr/>
          <p:nvPr/>
        </p:nvSpPr>
        <p:spPr>
          <a:xfrm>
            <a:off x="1066800" y="7750373"/>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E0A878"/>
                </a:solidFill>
                <a:latin typeface="Arial" pitchFamily="34" charset="0"/>
                <a:ea typeface="Arial" pitchFamily="34" charset="-122"/>
                <a:cs typeface="Arial" pitchFamily="34" charset="-120"/>
              </a:rPr>
              <a:t>—</a:t>
            </a:r>
            <a:endParaRPr lang="en-US" sz="1568" dirty="0"/>
          </a:p>
        </p:txBody>
      </p:sp>
      <p:sp>
        <p:nvSpPr>
          <p:cNvPr id="39" name="Text 37"/>
          <p:cNvSpPr/>
          <p:nvPr/>
        </p:nvSpPr>
        <p:spPr>
          <a:xfrm>
            <a:off x="1257300" y="7756724"/>
            <a:ext cx="6556545" cy="57705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E6D6C8"/>
                </a:solidFill>
                <a:latin typeface="Arial" pitchFamily="34" charset="0"/>
                <a:ea typeface="Arial" pitchFamily="34" charset="-122"/>
                <a:cs typeface="Arial" pitchFamily="34" charset="-120"/>
              </a:rPr>
              <a:t>Real needs: verified voucher-only inventory, the rent math run for them, accessibility/transit filters, proof-of-search.</a:t>
            </a:r>
            <a:endParaRPr lang="en-US" sz="1568" dirty="0"/>
          </a:p>
        </p:txBody>
      </p:sp>
      <p:sp>
        <p:nvSpPr>
          <p:cNvPr id="40" name="Shape 38"/>
          <p:cNvSpPr/>
          <p:nvPr/>
        </p:nvSpPr>
        <p:spPr>
          <a:xfrm>
            <a:off x="9239250" y="5677099"/>
            <a:ext cx="8286750" cy="3708202"/>
          </a:xfrm>
          <a:prstGeom prst="roundRect">
            <a:avLst>
              <a:gd name="adj" fmla="val 1541"/>
            </a:avLst>
          </a:prstGeom>
          <a:solidFill>
            <a:srgbClr val="FFFFFF"/>
          </a:solidFill>
          <a:ln w="6350">
            <a:solidFill>
              <a:srgbClr val="18221E">
                <a:alpha val="12000"/>
              </a:srgbClr>
            </a:solidFill>
            <a:prstDash val="solid"/>
          </a:ln>
        </p:spPr>
      </p:sp>
      <p:sp>
        <p:nvSpPr>
          <p:cNvPr id="41" name="Text 39"/>
          <p:cNvSpPr/>
          <p:nvPr/>
        </p:nvSpPr>
        <p:spPr>
          <a:xfrm>
            <a:off x="9550400" y="5950148"/>
            <a:ext cx="7894384" cy="336550"/>
          </a:xfrm>
          <a:prstGeom prst="rect">
            <a:avLst/>
          </a:prstGeom>
          <a:noFill/>
          <a:ln/>
        </p:spPr>
        <p:txBody>
          <a:bodyPr wrap="square" lIns="25400" tIns="25400" rIns="25400" bIns="25400" rtlCol="0" anchor="t">
            <a:normAutofit/>
          </a:bodyPr>
          <a:lstStyle/>
          <a:p>
            <a:pPr algn="l" indent="0" marL="0">
              <a:buNone/>
            </a:pPr>
            <a:r>
              <a:rPr lang="en-US" sz="1815" b="1" spc="150" kern="0" dirty="0">
                <a:solidFill>
                  <a:srgbClr val="B0673E"/>
                </a:solidFill>
                <a:latin typeface="Arial" pitchFamily="34" charset="0"/>
                <a:ea typeface="Arial" pitchFamily="34" charset="-122"/>
                <a:cs typeface="Arial" pitchFamily="34" charset="-120"/>
              </a:rPr>
              <a:t>4 </a:t>
            </a:r>
            <a:pPr algn="l" indent="0" marL="0">
              <a:buNone/>
            </a:pPr>
            <a:r>
              <a:rPr lang="en-US" sz="1073" spc="150" kern="0" dirty="0">
                <a:solidFill>
                  <a:srgbClr val="B0673E"/>
                </a:solidFill>
                <a:latin typeface="Courier New" pitchFamily="34" charset="0"/>
                <a:ea typeface="Courier New" pitchFamily="34" charset="-122"/>
                <a:cs typeface="Courier New" pitchFamily="34" charset="-120"/>
              </a:rPr>
              <a:t>WHAT TO DO NEXT?</a:t>
            </a:r>
            <a:endParaRPr lang="en-US" sz="1073" dirty="0"/>
          </a:p>
        </p:txBody>
      </p:sp>
      <p:sp>
        <p:nvSpPr>
          <p:cNvPr id="42" name="Text 40"/>
          <p:cNvSpPr/>
          <p:nvPr/>
        </p:nvSpPr>
        <p:spPr>
          <a:xfrm>
            <a:off x="9550400" y="6420049"/>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B0673E"/>
                </a:solidFill>
                <a:latin typeface="Arial" pitchFamily="34" charset="0"/>
                <a:ea typeface="Arial" pitchFamily="34" charset="-122"/>
                <a:cs typeface="Arial" pitchFamily="34" charset="-120"/>
              </a:rPr>
              <a:t>—</a:t>
            </a:r>
            <a:endParaRPr lang="en-US" sz="1568" dirty="0"/>
          </a:p>
        </p:txBody>
      </p:sp>
      <p:sp>
        <p:nvSpPr>
          <p:cNvPr id="43" name="Text 41"/>
          <p:cNvSpPr/>
          <p:nvPr/>
        </p:nvSpPr>
        <p:spPr>
          <a:xfrm>
            <a:off x="9740900" y="6426398"/>
            <a:ext cx="1140718"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Validate the</a:t>
            </a:r>
            <a:endParaRPr lang="en-US" sz="1568" dirty="0"/>
          </a:p>
        </p:txBody>
      </p:sp>
      <p:sp>
        <p:nvSpPr>
          <p:cNvPr id="44" name="Text 42"/>
          <p:cNvSpPr/>
          <p:nvPr/>
        </p:nvSpPr>
        <p:spPr>
          <a:xfrm>
            <a:off x="10852448" y="6451799"/>
            <a:ext cx="1728024"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Settleed Passport</a:t>
            </a:r>
            <a:endParaRPr lang="en-US" sz="1568" dirty="0"/>
          </a:p>
        </p:txBody>
      </p:sp>
      <p:sp>
        <p:nvSpPr>
          <p:cNvPr id="45" name="Text 43"/>
          <p:cNvSpPr/>
          <p:nvPr/>
        </p:nvSpPr>
        <p:spPr>
          <a:xfrm>
            <a:off x="12470309" y="6426398"/>
            <a:ext cx="3755474"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 one verified profile, many applications.</a:t>
            </a:r>
            <a:endParaRPr lang="en-US" sz="1568" dirty="0"/>
          </a:p>
        </p:txBody>
      </p:sp>
      <p:sp>
        <p:nvSpPr>
          <p:cNvPr id="46" name="Text 44"/>
          <p:cNvSpPr/>
          <p:nvPr/>
        </p:nvSpPr>
        <p:spPr>
          <a:xfrm>
            <a:off x="9550400" y="6809780"/>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B0673E"/>
                </a:solidFill>
                <a:latin typeface="Arial" pitchFamily="34" charset="0"/>
                <a:ea typeface="Arial" pitchFamily="34" charset="-122"/>
                <a:cs typeface="Arial" pitchFamily="34" charset="-120"/>
              </a:rPr>
              <a:t>—</a:t>
            </a:r>
            <a:endParaRPr lang="en-US" sz="1568" dirty="0"/>
          </a:p>
        </p:txBody>
      </p:sp>
      <p:sp>
        <p:nvSpPr>
          <p:cNvPr id="47" name="Text 45"/>
          <p:cNvSpPr/>
          <p:nvPr/>
        </p:nvSpPr>
        <p:spPr>
          <a:xfrm>
            <a:off x="9740900" y="6816130"/>
            <a:ext cx="871140"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Prioritize</a:t>
            </a:r>
            <a:endParaRPr lang="en-US" sz="1568" dirty="0"/>
          </a:p>
        </p:txBody>
      </p:sp>
      <p:sp>
        <p:nvSpPr>
          <p:cNvPr id="48" name="Text 46"/>
          <p:cNvSpPr/>
          <p:nvPr/>
        </p:nvSpPr>
        <p:spPr>
          <a:xfrm>
            <a:off x="10582771" y="6841530"/>
            <a:ext cx="3096538"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verified inventory + match alerts</a:t>
            </a:r>
            <a:endParaRPr lang="en-US" sz="1568" dirty="0"/>
          </a:p>
        </p:txBody>
      </p:sp>
      <p:sp>
        <p:nvSpPr>
          <p:cNvPr id="49" name="Text 47"/>
          <p:cNvSpPr/>
          <p:nvPr/>
        </p:nvSpPr>
        <p:spPr>
          <a:xfrm>
            <a:off x="13444736" y="6816130"/>
            <a:ext cx="1062732"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in the MVP.</a:t>
            </a:r>
            <a:endParaRPr lang="en-US" sz="1568" dirty="0"/>
          </a:p>
        </p:txBody>
      </p:sp>
      <p:sp>
        <p:nvSpPr>
          <p:cNvPr id="50" name="Text 48"/>
          <p:cNvSpPr/>
          <p:nvPr/>
        </p:nvSpPr>
        <p:spPr>
          <a:xfrm>
            <a:off x="9550400" y="7199511"/>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B0673E"/>
                </a:solidFill>
                <a:latin typeface="Arial" pitchFamily="34" charset="0"/>
                <a:ea typeface="Arial" pitchFamily="34" charset="-122"/>
                <a:cs typeface="Arial" pitchFamily="34" charset="-120"/>
              </a:rPr>
              <a:t>—</a:t>
            </a:r>
            <a:endParaRPr lang="en-US" sz="1568" dirty="0"/>
          </a:p>
        </p:txBody>
      </p:sp>
      <p:sp>
        <p:nvSpPr>
          <p:cNvPr id="51" name="Text 49"/>
          <p:cNvSpPr/>
          <p:nvPr/>
        </p:nvSpPr>
        <p:spPr>
          <a:xfrm>
            <a:off x="9740900" y="7205861"/>
            <a:ext cx="5075939"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Test the verified voucher badge &amp; expiration reminders.</a:t>
            </a:r>
            <a:endParaRPr lang="en-US" sz="1568" dirty="0"/>
          </a:p>
        </p:txBody>
      </p:sp>
      <p:sp>
        <p:nvSpPr>
          <p:cNvPr id="52" name="Text 50"/>
          <p:cNvSpPr/>
          <p:nvPr/>
        </p:nvSpPr>
        <p:spPr>
          <a:xfrm>
            <a:off x="762000" y="9556750"/>
            <a:ext cx="4205625"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SETTLEED · CUSTOMER DISCOVERY · TENANTS</a:t>
            </a:r>
            <a:endParaRPr lang="en-US" sz="990" dirty="0"/>
          </a:p>
        </p:txBody>
      </p:sp>
      <p:sp>
        <p:nvSpPr>
          <p:cNvPr id="53" name="Text 51"/>
          <p:cNvSpPr/>
          <p:nvPr/>
        </p:nvSpPr>
        <p:spPr>
          <a:xfrm>
            <a:off x="16839705" y="9556750"/>
            <a:ext cx="762496"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06 / 16</a:t>
            </a:r>
            <a:endParaRPr lang="en-US" sz="99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762000" y="1556147"/>
            <a:ext cx="16764000" cy="12700"/>
          </a:xfrm>
          <a:prstGeom prst="rect">
            <a:avLst/>
          </a:prstGeom>
          <a:solidFill>
            <a:srgbClr val="2F6F6B"/>
          </a:solidFill>
          <a:ln/>
        </p:spPr>
      </p:sp>
      <p:sp>
        <p:nvSpPr>
          <p:cNvPr id="3" name="Text 1"/>
          <p:cNvSpPr/>
          <p:nvPr/>
        </p:nvSpPr>
        <p:spPr>
          <a:xfrm>
            <a:off x="762000" y="721122"/>
            <a:ext cx="7797116" cy="215900"/>
          </a:xfrm>
          <a:prstGeom prst="rect">
            <a:avLst/>
          </a:prstGeom>
          <a:noFill/>
          <a:ln/>
        </p:spPr>
        <p:txBody>
          <a:bodyPr wrap="square" lIns="25400" tIns="25400" rIns="25400" bIns="25400" rtlCol="0" anchor="t">
            <a:normAutofit/>
          </a:bodyPr>
          <a:lstStyle/>
          <a:p>
            <a:pPr algn="l" indent="0" marL="0">
              <a:buNone/>
            </a:pPr>
            <a:r>
              <a:rPr lang="en-US" sz="1073" spc="215" kern="0" dirty="0">
                <a:solidFill>
                  <a:srgbClr val="2F6F6B"/>
                </a:solidFill>
                <a:latin typeface="Courier New" pitchFamily="34" charset="0"/>
                <a:ea typeface="Courier New" pitchFamily="34" charset="-122"/>
                <a:cs typeface="Courier New" pitchFamily="34" charset="-120"/>
              </a:rPr>
              <a:t>CUSTOMER DISCOVERY REPORT</a:t>
            </a:r>
            <a:endParaRPr lang="en-US" sz="1073" dirty="0"/>
          </a:p>
        </p:txBody>
      </p:sp>
      <p:sp>
        <p:nvSpPr>
          <p:cNvPr id="4" name="Text 2"/>
          <p:cNvSpPr/>
          <p:nvPr/>
        </p:nvSpPr>
        <p:spPr>
          <a:xfrm>
            <a:off x="762000" y="975122"/>
            <a:ext cx="7797116" cy="466725"/>
          </a:xfrm>
          <a:prstGeom prst="rect">
            <a:avLst/>
          </a:prstGeom>
          <a:noFill/>
          <a:ln/>
        </p:spPr>
        <p:txBody>
          <a:bodyPr wrap="square" lIns="25400" tIns="25400" rIns="25400" bIns="25400" rtlCol="0" anchor="t">
            <a:normAutofit/>
          </a:bodyPr>
          <a:lstStyle/>
          <a:p>
            <a:pPr algn="l" indent="0" marL="0">
              <a:lnSpc>
                <a:spcPct val="100000"/>
              </a:lnSpc>
              <a:buNone/>
            </a:pPr>
            <a:r>
              <a:rPr lang="en-US" sz="3375" b="1" spc="-67" kern="0" dirty="0">
                <a:solidFill>
                  <a:srgbClr val="18221E"/>
                </a:solidFill>
                <a:latin typeface="Arial" pitchFamily="34" charset="0"/>
                <a:ea typeface="Arial" pitchFamily="34" charset="-122"/>
                <a:cs typeface="Arial" pitchFamily="34" charset="-120"/>
              </a:rPr>
              <a:t>HA Gatekeepers </a:t>
            </a:r>
            <a:pPr algn="l" indent="0" marL="0">
              <a:lnSpc>
                <a:spcPct val="100000"/>
              </a:lnSpc>
              <a:buNone/>
            </a:pPr>
            <a:r>
              <a:rPr lang="en-US" sz="3375" spc="-67" kern="0" dirty="0">
                <a:solidFill>
                  <a:srgbClr val="9AA39D"/>
                </a:solidFill>
                <a:latin typeface="Arial" pitchFamily="34" charset="0"/>
                <a:ea typeface="Arial" pitchFamily="34" charset="-122"/>
                <a:cs typeface="Arial" pitchFamily="34" charset="-120"/>
              </a:rPr>
              <a:t>· the systemic layer</a:t>
            </a:r>
            <a:endParaRPr lang="en-US" sz="3375" dirty="0"/>
          </a:p>
        </p:txBody>
      </p:sp>
      <p:sp>
        <p:nvSpPr>
          <p:cNvPr id="5" name="Text 3"/>
          <p:cNvSpPr/>
          <p:nvPr/>
        </p:nvSpPr>
        <p:spPr>
          <a:xfrm>
            <a:off x="13906202" y="609600"/>
            <a:ext cx="898525" cy="641548"/>
          </a:xfrm>
          <a:prstGeom prst="rect">
            <a:avLst/>
          </a:prstGeom>
          <a:noFill/>
          <a:ln/>
        </p:spPr>
        <p:txBody>
          <a:bodyPr wrap="square" lIns="25400" tIns="25400" rIns="25400" bIns="25400" rtlCol="0" anchor="t">
            <a:normAutofit/>
          </a:bodyPr>
          <a:lstStyle/>
          <a:p>
            <a:pPr algn="r" indent="0" marL="0">
              <a:lnSpc>
                <a:spcPct val="80000"/>
              </a:lnSpc>
              <a:buNone/>
            </a:pPr>
            <a:r>
              <a:rPr lang="en-US" sz="5940" b="1" dirty="0">
                <a:solidFill>
                  <a:srgbClr val="2F6F6B"/>
                </a:solidFill>
                <a:latin typeface="Arial" pitchFamily="34" charset="0"/>
                <a:ea typeface="Arial" pitchFamily="34" charset="-122"/>
                <a:cs typeface="Arial" pitchFamily="34" charset="-120"/>
              </a:rPr>
              <a:t>10</a:t>
            </a:r>
            <a:endParaRPr lang="en-US" sz="5940" dirty="0"/>
          </a:p>
        </p:txBody>
      </p:sp>
      <p:sp>
        <p:nvSpPr>
          <p:cNvPr id="6" name="Text 4"/>
          <p:cNvSpPr/>
          <p:nvPr/>
        </p:nvSpPr>
        <p:spPr>
          <a:xfrm>
            <a:off x="14899683" y="1022350"/>
            <a:ext cx="2626318" cy="419497"/>
          </a:xfrm>
          <a:prstGeom prst="rect">
            <a:avLst/>
          </a:prstGeom>
          <a:noFill/>
          <a:ln/>
        </p:spPr>
        <p:txBody>
          <a:bodyPr wrap="square" lIns="25400" tIns="25400" rIns="25400" bIns="25400" rtlCol="0" anchor="t">
            <a:normAutofit/>
          </a:bodyPr>
          <a:lstStyle/>
          <a:p>
            <a:pPr algn="r" indent="0" marL="0">
              <a:lnSpc>
                <a:spcPct val="140000"/>
              </a:lnSpc>
              <a:buNone/>
            </a:pPr>
            <a:r>
              <a:rPr lang="en-US" sz="1073" spc="129" kern="0" dirty="0">
                <a:solidFill>
                  <a:srgbClr val="5C6660"/>
                </a:solidFill>
                <a:latin typeface="Courier New" pitchFamily="34" charset="0"/>
                <a:ea typeface="Courier New" pitchFamily="34" charset="-122"/>
                <a:cs typeface="Courier New" pitchFamily="34" charset="-120"/>
              </a:rPr>
              <a:t>INTERVIEWS 6 CASE MGRS · 4 INSPECTORS</a:t>
            </a:r>
            <a:endParaRPr lang="en-US" sz="1073" dirty="0"/>
          </a:p>
        </p:txBody>
      </p:sp>
      <p:sp>
        <p:nvSpPr>
          <p:cNvPr id="7" name="Shape 5"/>
          <p:cNvSpPr/>
          <p:nvPr/>
        </p:nvSpPr>
        <p:spPr>
          <a:xfrm>
            <a:off x="762000" y="1778397"/>
            <a:ext cx="8286750" cy="3708202"/>
          </a:xfrm>
          <a:prstGeom prst="roundRect">
            <a:avLst>
              <a:gd name="adj" fmla="val 1541"/>
            </a:avLst>
          </a:prstGeom>
          <a:solidFill>
            <a:srgbClr val="FFFFFF"/>
          </a:solidFill>
          <a:ln w="6350">
            <a:solidFill>
              <a:srgbClr val="18221E">
                <a:alpha val="12000"/>
              </a:srgbClr>
            </a:solidFill>
            <a:prstDash val="solid"/>
          </a:ln>
        </p:spPr>
      </p:sp>
      <p:sp>
        <p:nvSpPr>
          <p:cNvPr id="8" name="Text 6"/>
          <p:cNvSpPr/>
          <p:nvPr/>
        </p:nvSpPr>
        <p:spPr>
          <a:xfrm>
            <a:off x="1073150" y="2051447"/>
            <a:ext cx="7894384" cy="336550"/>
          </a:xfrm>
          <a:prstGeom prst="rect">
            <a:avLst/>
          </a:prstGeom>
          <a:noFill/>
          <a:ln/>
        </p:spPr>
        <p:txBody>
          <a:bodyPr wrap="square" lIns="25400" tIns="25400" rIns="25400" bIns="25400" rtlCol="0" anchor="t">
            <a:normAutofit/>
          </a:bodyPr>
          <a:lstStyle/>
          <a:p>
            <a:pPr algn="l" indent="0" marL="0">
              <a:buNone/>
            </a:pPr>
            <a:r>
              <a:rPr lang="en-US" sz="1815" b="1" spc="150" kern="0" dirty="0">
                <a:solidFill>
                  <a:srgbClr val="2F6F6B"/>
                </a:solidFill>
                <a:latin typeface="Arial" pitchFamily="34" charset="0"/>
                <a:ea typeface="Arial" pitchFamily="34" charset="-122"/>
                <a:cs typeface="Arial" pitchFamily="34" charset="-120"/>
              </a:rPr>
              <a:t>1 </a:t>
            </a:r>
            <a:pPr algn="l" indent="0" marL="0">
              <a:buNone/>
            </a:pPr>
            <a:r>
              <a:rPr lang="en-US" sz="1073" spc="150" kern="0" dirty="0">
                <a:solidFill>
                  <a:srgbClr val="2F6F6B"/>
                </a:solidFill>
                <a:latin typeface="Courier New" pitchFamily="34" charset="0"/>
                <a:ea typeface="Courier New" pitchFamily="34" charset="-122"/>
                <a:cs typeface="Courier New" pitchFamily="34" charset="-120"/>
              </a:rPr>
              <a:t>WHAT DID WE THINK?</a:t>
            </a:r>
            <a:endParaRPr lang="en-US" sz="1073" dirty="0"/>
          </a:p>
        </p:txBody>
      </p:sp>
      <p:sp>
        <p:nvSpPr>
          <p:cNvPr id="9" name="Text 7"/>
          <p:cNvSpPr/>
          <p:nvPr/>
        </p:nvSpPr>
        <p:spPr>
          <a:xfrm>
            <a:off x="1073150" y="2521347"/>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F6F6B"/>
                </a:solidFill>
                <a:latin typeface="Arial" pitchFamily="34" charset="0"/>
                <a:ea typeface="Arial" pitchFamily="34" charset="-122"/>
                <a:cs typeface="Arial" pitchFamily="34" charset="-120"/>
              </a:rPr>
              <a:t>—</a:t>
            </a:r>
            <a:endParaRPr lang="en-US" sz="1568" dirty="0"/>
          </a:p>
        </p:txBody>
      </p:sp>
      <p:sp>
        <p:nvSpPr>
          <p:cNvPr id="10" name="Text 8"/>
          <p:cNvSpPr/>
          <p:nvPr/>
        </p:nvSpPr>
        <p:spPr>
          <a:xfrm>
            <a:off x="1263650" y="2527697"/>
            <a:ext cx="3155485"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Case managers and inspectors are</a:t>
            </a:r>
            <a:endParaRPr lang="en-US" sz="1568" dirty="0"/>
          </a:p>
        </p:txBody>
      </p:sp>
      <p:sp>
        <p:nvSpPr>
          <p:cNvPr id="11" name="Text 9"/>
          <p:cNvSpPr/>
          <p:nvPr/>
        </p:nvSpPr>
        <p:spPr>
          <a:xfrm>
            <a:off x="4374257" y="2553097"/>
            <a:ext cx="1886277"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neutral bureaucrats</a:t>
            </a:r>
            <a:endParaRPr lang="en-US" sz="1568" dirty="0"/>
          </a:p>
        </p:txBody>
      </p:sp>
      <p:sp>
        <p:nvSpPr>
          <p:cNvPr id="12" name="Text 10"/>
          <p:cNvSpPr/>
          <p:nvPr/>
        </p:nvSpPr>
        <p:spPr>
          <a:xfrm>
            <a:off x="1263650" y="2527697"/>
            <a:ext cx="7674663" cy="58340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outside our market — not our customers.</a:t>
            </a:r>
            <a:endParaRPr lang="en-US" sz="1568" dirty="0"/>
          </a:p>
        </p:txBody>
      </p:sp>
      <p:sp>
        <p:nvSpPr>
          <p:cNvPr id="13" name="Text 11"/>
          <p:cNvSpPr/>
          <p:nvPr/>
        </p:nvSpPr>
        <p:spPr>
          <a:xfrm>
            <a:off x="1073150" y="3189684"/>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F6F6B"/>
                </a:solidFill>
                <a:latin typeface="Arial" pitchFamily="34" charset="0"/>
                <a:ea typeface="Arial" pitchFamily="34" charset="-122"/>
                <a:cs typeface="Arial" pitchFamily="34" charset="-120"/>
              </a:rPr>
              <a:t>—</a:t>
            </a:r>
            <a:endParaRPr lang="en-US" sz="1568" dirty="0"/>
          </a:p>
        </p:txBody>
      </p:sp>
      <p:sp>
        <p:nvSpPr>
          <p:cNvPr id="14" name="Text 12"/>
          <p:cNvSpPr/>
          <p:nvPr/>
        </p:nvSpPr>
        <p:spPr>
          <a:xfrm>
            <a:off x="1263650" y="3196035"/>
            <a:ext cx="7316776"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The delay is just "government being slow," and nothing a platform could change.</a:t>
            </a:r>
            <a:endParaRPr lang="en-US" sz="1568" dirty="0"/>
          </a:p>
        </p:txBody>
      </p:sp>
      <p:sp>
        <p:nvSpPr>
          <p:cNvPr id="15" name="Shape 13"/>
          <p:cNvSpPr/>
          <p:nvPr/>
        </p:nvSpPr>
        <p:spPr>
          <a:xfrm>
            <a:off x="9239250" y="1778397"/>
            <a:ext cx="8286750" cy="3708202"/>
          </a:xfrm>
          <a:prstGeom prst="roundRect">
            <a:avLst>
              <a:gd name="adj" fmla="val 1541"/>
            </a:avLst>
          </a:prstGeom>
          <a:solidFill>
            <a:srgbClr val="FFFFFF"/>
          </a:solidFill>
          <a:ln w="6350">
            <a:solidFill>
              <a:srgbClr val="18221E">
                <a:alpha val="12000"/>
              </a:srgbClr>
            </a:solidFill>
            <a:prstDash val="solid"/>
          </a:ln>
        </p:spPr>
      </p:sp>
      <p:sp>
        <p:nvSpPr>
          <p:cNvPr id="16" name="Text 14"/>
          <p:cNvSpPr/>
          <p:nvPr/>
        </p:nvSpPr>
        <p:spPr>
          <a:xfrm>
            <a:off x="9550400" y="2051447"/>
            <a:ext cx="7894384" cy="336550"/>
          </a:xfrm>
          <a:prstGeom prst="rect">
            <a:avLst/>
          </a:prstGeom>
          <a:noFill/>
          <a:ln/>
        </p:spPr>
        <p:txBody>
          <a:bodyPr wrap="square" lIns="25400" tIns="25400" rIns="25400" bIns="25400" rtlCol="0" anchor="t">
            <a:normAutofit/>
          </a:bodyPr>
          <a:lstStyle/>
          <a:p>
            <a:pPr algn="l" indent="0" marL="0">
              <a:buNone/>
            </a:pPr>
            <a:r>
              <a:rPr lang="en-US" sz="1815" b="1" spc="150" kern="0" dirty="0">
                <a:solidFill>
                  <a:srgbClr val="2F6F6B"/>
                </a:solidFill>
                <a:latin typeface="Arial" pitchFamily="34" charset="0"/>
                <a:ea typeface="Arial" pitchFamily="34" charset="-122"/>
                <a:cs typeface="Arial" pitchFamily="34" charset="-120"/>
              </a:rPr>
              <a:t>2 </a:t>
            </a:r>
            <a:pPr algn="l" indent="0" marL="0">
              <a:buNone/>
            </a:pPr>
            <a:r>
              <a:rPr lang="en-US" sz="1073" spc="150" kern="0" dirty="0">
                <a:solidFill>
                  <a:srgbClr val="2F6F6B"/>
                </a:solidFill>
                <a:latin typeface="Courier New" pitchFamily="34" charset="0"/>
                <a:ea typeface="Courier New" pitchFamily="34" charset="-122"/>
                <a:cs typeface="Courier New" pitchFamily="34" charset="-120"/>
              </a:rPr>
              <a:t>WHAT DID WE DO?</a:t>
            </a:r>
            <a:endParaRPr lang="en-US" sz="1073" dirty="0"/>
          </a:p>
        </p:txBody>
      </p:sp>
      <p:sp>
        <p:nvSpPr>
          <p:cNvPr id="17" name="Text 15"/>
          <p:cNvSpPr/>
          <p:nvPr/>
        </p:nvSpPr>
        <p:spPr>
          <a:xfrm>
            <a:off x="9550400" y="2521347"/>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F6F6B"/>
                </a:solidFill>
                <a:latin typeface="Arial" pitchFamily="34" charset="0"/>
                <a:ea typeface="Arial" pitchFamily="34" charset="-122"/>
                <a:cs typeface="Arial" pitchFamily="34" charset="-120"/>
              </a:rPr>
              <a:t>—</a:t>
            </a:r>
            <a:endParaRPr lang="en-US" sz="1568" dirty="0"/>
          </a:p>
        </p:txBody>
      </p:sp>
      <p:sp>
        <p:nvSpPr>
          <p:cNvPr id="18" name="Text 16"/>
          <p:cNvSpPr/>
          <p:nvPr/>
        </p:nvSpPr>
        <p:spPr>
          <a:xfrm>
            <a:off x="9740900" y="2527697"/>
            <a:ext cx="1154708"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Interviewed</a:t>
            </a:r>
            <a:endParaRPr lang="en-US" sz="1568" dirty="0"/>
          </a:p>
        </p:txBody>
      </p:sp>
      <p:sp>
        <p:nvSpPr>
          <p:cNvPr id="19" name="Text 17"/>
          <p:cNvSpPr/>
          <p:nvPr/>
        </p:nvSpPr>
        <p:spPr>
          <a:xfrm>
            <a:off x="10866339" y="2553097"/>
            <a:ext cx="1862048"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10 HA gatekeepers</a:t>
            </a:r>
            <a:endParaRPr lang="en-US" sz="1568" dirty="0"/>
          </a:p>
        </p:txBody>
      </p:sp>
      <p:sp>
        <p:nvSpPr>
          <p:cNvPr id="20" name="Text 18"/>
          <p:cNvSpPr/>
          <p:nvPr/>
        </p:nvSpPr>
        <p:spPr>
          <a:xfrm>
            <a:off x="12606040" y="2527697"/>
            <a:ext cx="3647453"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 6 case managers &amp; 4 HQS inspectors.</a:t>
            </a:r>
            <a:endParaRPr lang="en-US" sz="1568" dirty="0"/>
          </a:p>
        </p:txBody>
      </p:sp>
      <p:sp>
        <p:nvSpPr>
          <p:cNvPr id="21" name="Text 19"/>
          <p:cNvSpPr/>
          <p:nvPr/>
        </p:nvSpPr>
        <p:spPr>
          <a:xfrm>
            <a:off x="9550400" y="2911078"/>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F6F6B"/>
                </a:solidFill>
                <a:latin typeface="Arial" pitchFamily="34" charset="0"/>
                <a:ea typeface="Arial" pitchFamily="34" charset="-122"/>
                <a:cs typeface="Arial" pitchFamily="34" charset="-120"/>
              </a:rPr>
              <a:t>—</a:t>
            </a:r>
            <a:endParaRPr lang="en-US" sz="1568" dirty="0"/>
          </a:p>
        </p:txBody>
      </p:sp>
      <p:sp>
        <p:nvSpPr>
          <p:cNvPr id="22" name="Text 20"/>
          <p:cNvSpPr/>
          <p:nvPr/>
        </p:nvSpPr>
        <p:spPr>
          <a:xfrm>
            <a:off x="9740900" y="2917428"/>
            <a:ext cx="864294"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Spanned</a:t>
            </a:r>
            <a:endParaRPr lang="en-US" sz="1568" dirty="0"/>
          </a:p>
        </p:txBody>
      </p:sp>
      <p:sp>
        <p:nvSpPr>
          <p:cNvPr id="23" name="Text 21"/>
          <p:cNvSpPr/>
          <p:nvPr/>
        </p:nvSpPr>
        <p:spPr>
          <a:xfrm>
            <a:off x="10576024" y="2942828"/>
            <a:ext cx="2968734"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AH, GA DCA, DeKalb &amp; Fulton</a:t>
            </a:r>
            <a:endParaRPr lang="en-US" sz="1568" dirty="0"/>
          </a:p>
        </p:txBody>
      </p:sp>
      <p:sp>
        <p:nvSpPr>
          <p:cNvPr id="24" name="Text 22"/>
          <p:cNvSpPr/>
          <p:nvPr/>
        </p:nvSpPr>
        <p:spPr>
          <a:xfrm>
            <a:off x="9740900" y="2917428"/>
            <a:ext cx="7392604" cy="58340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 including a portability caseworker and a QA audit supervisor.</a:t>
            </a:r>
            <a:endParaRPr lang="en-US" sz="1568" dirty="0"/>
          </a:p>
        </p:txBody>
      </p:sp>
      <p:sp>
        <p:nvSpPr>
          <p:cNvPr id="25" name="Text 23"/>
          <p:cNvSpPr/>
          <p:nvPr/>
        </p:nvSpPr>
        <p:spPr>
          <a:xfrm>
            <a:off x="9550400" y="3579416"/>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F6F6B"/>
                </a:solidFill>
                <a:latin typeface="Arial" pitchFamily="34" charset="0"/>
                <a:ea typeface="Arial" pitchFamily="34" charset="-122"/>
                <a:cs typeface="Arial" pitchFamily="34" charset="-120"/>
              </a:rPr>
              <a:t>—</a:t>
            </a:r>
            <a:endParaRPr lang="en-US" sz="1568" dirty="0"/>
          </a:p>
        </p:txBody>
      </p:sp>
      <p:sp>
        <p:nvSpPr>
          <p:cNvPr id="26" name="Text 24"/>
          <p:cNvSpPr/>
          <p:nvPr/>
        </p:nvSpPr>
        <p:spPr>
          <a:xfrm>
            <a:off x="9740900" y="3585766"/>
            <a:ext cx="6801303" cy="57705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Walked their actual workflow: RFTA intake, re-inspection routing, and HAP payment.</a:t>
            </a:r>
            <a:endParaRPr lang="en-US" sz="1568" dirty="0"/>
          </a:p>
        </p:txBody>
      </p:sp>
      <p:sp>
        <p:nvSpPr>
          <p:cNvPr id="27" name="Shape 25"/>
          <p:cNvSpPr/>
          <p:nvPr/>
        </p:nvSpPr>
        <p:spPr>
          <a:xfrm>
            <a:off x="762000" y="5677099"/>
            <a:ext cx="8286750" cy="3708202"/>
          </a:xfrm>
          <a:prstGeom prst="roundRect">
            <a:avLst>
              <a:gd name="adj" fmla="val 1541"/>
            </a:avLst>
          </a:prstGeom>
          <a:solidFill>
            <a:srgbClr val="142523"/>
          </a:solidFill>
          <a:ln/>
        </p:spPr>
      </p:sp>
      <p:sp>
        <p:nvSpPr>
          <p:cNvPr id="28" name="Text 26"/>
          <p:cNvSpPr/>
          <p:nvPr/>
        </p:nvSpPr>
        <p:spPr>
          <a:xfrm>
            <a:off x="1066800" y="5943799"/>
            <a:ext cx="7907465" cy="336550"/>
          </a:xfrm>
          <a:prstGeom prst="rect">
            <a:avLst/>
          </a:prstGeom>
          <a:noFill/>
          <a:ln/>
        </p:spPr>
        <p:txBody>
          <a:bodyPr wrap="square" lIns="25400" tIns="25400" rIns="25400" bIns="25400" rtlCol="0" anchor="t">
            <a:normAutofit/>
          </a:bodyPr>
          <a:lstStyle/>
          <a:p>
            <a:pPr algn="l" indent="0" marL="0">
              <a:buNone/>
            </a:pPr>
            <a:r>
              <a:rPr lang="en-US" sz="1815" b="1" spc="150" kern="0" dirty="0">
                <a:solidFill>
                  <a:srgbClr val="FFFFFF"/>
                </a:solidFill>
                <a:latin typeface="Arial" pitchFamily="34" charset="0"/>
                <a:ea typeface="Arial" pitchFamily="34" charset="-122"/>
                <a:cs typeface="Arial" pitchFamily="34" charset="-120"/>
              </a:rPr>
              <a:t>3 </a:t>
            </a:r>
            <a:pPr algn="l" indent="0" marL="0">
              <a:buNone/>
            </a:pPr>
            <a:r>
              <a:rPr lang="en-US" sz="1073" spc="150" kern="0" dirty="0">
                <a:solidFill>
                  <a:srgbClr val="7FC3BD"/>
                </a:solidFill>
                <a:latin typeface="Courier New" pitchFamily="34" charset="0"/>
                <a:ea typeface="Courier New" pitchFamily="34" charset="-122"/>
                <a:cs typeface="Courier New" pitchFamily="34" charset="-120"/>
              </a:rPr>
              <a:t>WHAT DID WE LEARN?</a:t>
            </a:r>
            <a:endParaRPr lang="en-US" sz="1073" dirty="0"/>
          </a:p>
        </p:txBody>
      </p:sp>
      <p:sp>
        <p:nvSpPr>
          <p:cNvPr id="29" name="Text 27"/>
          <p:cNvSpPr/>
          <p:nvPr/>
        </p:nvSpPr>
        <p:spPr>
          <a:xfrm>
            <a:off x="1066800" y="6413699"/>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7FC3BD"/>
                </a:solidFill>
                <a:latin typeface="Arial" pitchFamily="34" charset="0"/>
                <a:ea typeface="Arial" pitchFamily="34" charset="-122"/>
                <a:cs typeface="Arial" pitchFamily="34" charset="-120"/>
              </a:rPr>
              <a:t>—</a:t>
            </a:r>
            <a:endParaRPr lang="en-US" sz="1568" dirty="0"/>
          </a:p>
        </p:txBody>
      </p:sp>
      <p:sp>
        <p:nvSpPr>
          <p:cNvPr id="30" name="Text 28"/>
          <p:cNvSpPr/>
          <p:nvPr/>
        </p:nvSpPr>
        <p:spPr>
          <a:xfrm>
            <a:off x="1257300" y="6420049"/>
            <a:ext cx="3293857"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CFE2DF"/>
                </a:solidFill>
                <a:latin typeface="Arial" pitchFamily="34" charset="0"/>
                <a:ea typeface="Arial" pitchFamily="34" charset="-122"/>
                <a:cs typeface="Arial" pitchFamily="34" charset="-120"/>
              </a:rPr>
              <a:t>They're drowning — one caseload of</a:t>
            </a:r>
            <a:endParaRPr lang="en-US" sz="1568" dirty="0"/>
          </a:p>
        </p:txBody>
      </p:sp>
      <p:sp>
        <p:nvSpPr>
          <p:cNvPr id="31" name="Text 29"/>
          <p:cNvSpPr/>
          <p:nvPr/>
        </p:nvSpPr>
        <p:spPr>
          <a:xfrm>
            <a:off x="4502150" y="6445448"/>
            <a:ext cx="1314381"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FFFFFF"/>
                </a:solidFill>
                <a:latin typeface="Arial" pitchFamily="34" charset="0"/>
                <a:ea typeface="Arial" pitchFamily="34" charset="-122"/>
                <a:cs typeface="Arial" pitchFamily="34" charset="-120"/>
              </a:rPr>
              <a:t>375 vouchers</a:t>
            </a:r>
            <a:endParaRPr lang="en-US" sz="1568" dirty="0"/>
          </a:p>
        </p:txBody>
      </p:sp>
      <p:sp>
        <p:nvSpPr>
          <p:cNvPr id="32" name="Text 30"/>
          <p:cNvSpPr/>
          <p:nvPr/>
        </p:nvSpPr>
        <p:spPr>
          <a:xfrm>
            <a:off x="1257300" y="6420049"/>
            <a:ext cx="7469353" cy="58340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CFE2DF"/>
                </a:solidFill>
                <a:latin typeface="Arial" pitchFamily="34" charset="0"/>
                <a:ea typeface="Arial" pitchFamily="34" charset="-122"/>
                <a:cs typeface="Arial" pitchFamily="34" charset="-120"/>
              </a:rPr>
              <a:t>, "150 unread panic emails on a Monday." Mangled RFTA packets</a:t>
            </a:r>
            <a:endParaRPr lang="en-US" sz="1568" dirty="0"/>
          </a:p>
        </p:txBody>
      </p:sp>
      <p:sp>
        <p:nvSpPr>
          <p:cNvPr id="33" name="Text 31"/>
          <p:cNvSpPr/>
          <p:nvPr/>
        </p:nvSpPr>
        <p:spPr>
          <a:xfrm>
            <a:off x="4191099" y="6730405"/>
            <a:ext cx="2141557"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FFFFFF"/>
                </a:solidFill>
                <a:latin typeface="Arial" pitchFamily="34" charset="0"/>
                <a:ea typeface="Arial" pitchFamily="34" charset="-122"/>
                <a:cs typeface="Arial" pitchFamily="34" charset="-120"/>
              </a:rPr>
              <a:t>reset the 45-day clock</a:t>
            </a:r>
            <a:endParaRPr lang="en-US" sz="1568" dirty="0"/>
          </a:p>
        </p:txBody>
      </p:sp>
      <p:sp>
        <p:nvSpPr>
          <p:cNvPr id="34" name="Text 32"/>
          <p:cNvSpPr/>
          <p:nvPr/>
        </p:nvSpPr>
        <p:spPr>
          <a:xfrm>
            <a:off x="6137970" y="6705005"/>
            <a:ext cx="130373"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CFE2DF"/>
                </a:solidFill>
                <a:latin typeface="Arial" pitchFamily="34" charset="0"/>
                <a:ea typeface="Arial" pitchFamily="34" charset="-122"/>
                <a:cs typeface="Arial" pitchFamily="34" charset="-120"/>
              </a:rPr>
              <a:t>.</a:t>
            </a:r>
            <a:endParaRPr lang="en-US" sz="1568" dirty="0"/>
          </a:p>
        </p:txBody>
      </p:sp>
      <p:sp>
        <p:nvSpPr>
          <p:cNvPr id="35" name="Text 33"/>
          <p:cNvSpPr/>
          <p:nvPr/>
        </p:nvSpPr>
        <p:spPr>
          <a:xfrm>
            <a:off x="1066800" y="7088386"/>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7FC3BD"/>
                </a:solidFill>
                <a:latin typeface="Arial" pitchFamily="34" charset="0"/>
                <a:ea typeface="Arial" pitchFamily="34" charset="-122"/>
                <a:cs typeface="Arial" pitchFamily="34" charset="-120"/>
              </a:rPr>
              <a:t>—</a:t>
            </a:r>
            <a:endParaRPr lang="en-US" sz="1568" dirty="0"/>
          </a:p>
        </p:txBody>
      </p:sp>
      <p:sp>
        <p:nvSpPr>
          <p:cNvPr id="36" name="Text 34"/>
          <p:cNvSpPr/>
          <p:nvPr/>
        </p:nvSpPr>
        <p:spPr>
          <a:xfrm>
            <a:off x="1257300" y="7094736"/>
            <a:ext cx="1459806"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CFE2DF"/>
                </a:solidFill>
                <a:latin typeface="Arial" pitchFamily="34" charset="0"/>
                <a:ea typeface="Arial" pitchFamily="34" charset="-122"/>
                <a:cs typeface="Arial" pitchFamily="34" charset="-120"/>
              </a:rPr>
              <a:t>Inspectors lose</a:t>
            </a:r>
            <a:endParaRPr lang="en-US" sz="1568" dirty="0"/>
          </a:p>
        </p:txBody>
      </p:sp>
      <p:sp>
        <p:nvSpPr>
          <p:cNvPr id="37" name="Text 35"/>
          <p:cNvSpPr/>
          <p:nvPr/>
        </p:nvSpPr>
        <p:spPr>
          <a:xfrm>
            <a:off x="2687836" y="7120136"/>
            <a:ext cx="3808681"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FFFFFF"/>
                </a:solidFill>
                <a:latin typeface="Arial" pitchFamily="34" charset="0"/>
                <a:ea typeface="Arial" pitchFamily="34" charset="-122"/>
                <a:cs typeface="Arial" pitchFamily="34" charset="-120"/>
              </a:rPr>
              <a:t>14 days to every no-show re-inspection</a:t>
            </a:r>
            <a:endParaRPr lang="en-US" sz="1568" dirty="0"/>
          </a:p>
        </p:txBody>
      </p:sp>
      <p:sp>
        <p:nvSpPr>
          <p:cNvPr id="38" name="Text 36"/>
          <p:cNvSpPr/>
          <p:nvPr/>
        </p:nvSpPr>
        <p:spPr>
          <a:xfrm>
            <a:off x="1257300" y="7094736"/>
            <a:ext cx="7642063" cy="58340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CFE2DF"/>
                </a:solidFill>
                <a:latin typeface="Arial" pitchFamily="34" charset="0"/>
                <a:ea typeface="Arial" pitchFamily="34" charset="-122"/>
                <a:cs typeface="Arial" pitchFamily="34" charset="-120"/>
              </a:rPr>
              <a:t>; a checklist could pass 40% more on the first walkthrough.</a:t>
            </a:r>
            <a:endParaRPr lang="en-US" sz="1568" dirty="0"/>
          </a:p>
        </p:txBody>
      </p:sp>
      <p:sp>
        <p:nvSpPr>
          <p:cNvPr id="39" name="Text 37"/>
          <p:cNvSpPr/>
          <p:nvPr/>
        </p:nvSpPr>
        <p:spPr>
          <a:xfrm>
            <a:off x="1066800" y="7756724"/>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7FC3BD"/>
                </a:solidFill>
                <a:latin typeface="Arial" pitchFamily="34" charset="0"/>
                <a:ea typeface="Arial" pitchFamily="34" charset="-122"/>
                <a:cs typeface="Arial" pitchFamily="34" charset="-120"/>
              </a:rPr>
              <a:t>—</a:t>
            </a:r>
            <a:endParaRPr lang="en-US" sz="1568" dirty="0"/>
          </a:p>
        </p:txBody>
      </p:sp>
      <p:sp>
        <p:nvSpPr>
          <p:cNvPr id="40" name="Text 38"/>
          <p:cNvSpPr/>
          <p:nvPr/>
        </p:nvSpPr>
        <p:spPr>
          <a:xfrm>
            <a:off x="1257300" y="7763074"/>
            <a:ext cx="3472392"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CFE2DF"/>
                </a:solidFill>
                <a:latin typeface="Arial" pitchFamily="34" charset="0"/>
                <a:ea typeface="Arial" pitchFamily="34" charset="-122"/>
                <a:cs typeface="Arial" pitchFamily="34" charset="-120"/>
              </a:rPr>
              <a:t>Pre-vetted paperwork turns them into</a:t>
            </a:r>
            <a:endParaRPr lang="en-US" sz="1568" dirty="0"/>
          </a:p>
        </p:txBody>
      </p:sp>
      <p:sp>
        <p:nvSpPr>
          <p:cNvPr id="41" name="Text 39"/>
          <p:cNvSpPr/>
          <p:nvPr/>
        </p:nvSpPr>
        <p:spPr>
          <a:xfrm>
            <a:off x="4675485" y="7788473"/>
            <a:ext cx="1837492"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FFFFFF"/>
                </a:solidFill>
                <a:latin typeface="Arial" pitchFamily="34" charset="0"/>
                <a:ea typeface="Arial" pitchFamily="34" charset="-122"/>
                <a:cs typeface="Arial" pitchFamily="34" charset="-120"/>
              </a:rPr>
              <a:t>internal champions</a:t>
            </a:r>
            <a:endParaRPr lang="en-US" sz="1568" dirty="0"/>
          </a:p>
        </p:txBody>
      </p:sp>
      <p:sp>
        <p:nvSpPr>
          <p:cNvPr id="42" name="Text 40"/>
          <p:cNvSpPr/>
          <p:nvPr/>
        </p:nvSpPr>
        <p:spPr>
          <a:xfrm>
            <a:off x="6345932" y="7763074"/>
            <a:ext cx="1622127"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CFE2DF"/>
                </a:solidFill>
                <a:latin typeface="Arial" pitchFamily="34" charset="0"/>
                <a:ea typeface="Arial" pitchFamily="34" charset="-122"/>
                <a:cs typeface="Arial" pitchFamily="34" charset="-120"/>
              </a:rPr>
              <a:t>, not bottlenecks.</a:t>
            </a:r>
            <a:endParaRPr lang="en-US" sz="1568" dirty="0"/>
          </a:p>
        </p:txBody>
      </p:sp>
      <p:sp>
        <p:nvSpPr>
          <p:cNvPr id="43" name="Shape 41"/>
          <p:cNvSpPr/>
          <p:nvPr/>
        </p:nvSpPr>
        <p:spPr>
          <a:xfrm>
            <a:off x="9239250" y="5677099"/>
            <a:ext cx="8286750" cy="3708202"/>
          </a:xfrm>
          <a:prstGeom prst="roundRect">
            <a:avLst>
              <a:gd name="adj" fmla="val 1541"/>
            </a:avLst>
          </a:prstGeom>
          <a:solidFill>
            <a:srgbClr val="FFFFFF"/>
          </a:solidFill>
          <a:ln w="6350">
            <a:solidFill>
              <a:srgbClr val="18221E">
                <a:alpha val="12000"/>
              </a:srgbClr>
            </a:solidFill>
            <a:prstDash val="solid"/>
          </a:ln>
        </p:spPr>
      </p:sp>
      <p:sp>
        <p:nvSpPr>
          <p:cNvPr id="44" name="Text 42"/>
          <p:cNvSpPr/>
          <p:nvPr/>
        </p:nvSpPr>
        <p:spPr>
          <a:xfrm>
            <a:off x="9550400" y="5950148"/>
            <a:ext cx="7894384" cy="336550"/>
          </a:xfrm>
          <a:prstGeom prst="rect">
            <a:avLst/>
          </a:prstGeom>
          <a:noFill/>
          <a:ln/>
        </p:spPr>
        <p:txBody>
          <a:bodyPr wrap="square" lIns="25400" tIns="25400" rIns="25400" bIns="25400" rtlCol="0" anchor="t">
            <a:normAutofit/>
          </a:bodyPr>
          <a:lstStyle/>
          <a:p>
            <a:pPr algn="l" indent="0" marL="0">
              <a:buNone/>
            </a:pPr>
            <a:r>
              <a:rPr lang="en-US" sz="1815" b="1" spc="150" kern="0" dirty="0">
                <a:solidFill>
                  <a:srgbClr val="2F6F6B"/>
                </a:solidFill>
                <a:latin typeface="Arial" pitchFamily="34" charset="0"/>
                <a:ea typeface="Arial" pitchFamily="34" charset="-122"/>
                <a:cs typeface="Arial" pitchFamily="34" charset="-120"/>
              </a:rPr>
              <a:t>4 </a:t>
            </a:r>
            <a:pPr algn="l" indent="0" marL="0">
              <a:buNone/>
            </a:pPr>
            <a:r>
              <a:rPr lang="en-US" sz="1073" spc="150" kern="0" dirty="0">
                <a:solidFill>
                  <a:srgbClr val="2F6F6B"/>
                </a:solidFill>
                <a:latin typeface="Courier New" pitchFamily="34" charset="0"/>
                <a:ea typeface="Courier New" pitchFamily="34" charset="-122"/>
                <a:cs typeface="Courier New" pitchFamily="34" charset="-120"/>
              </a:rPr>
              <a:t>WHAT TO DO NEXT?</a:t>
            </a:r>
            <a:endParaRPr lang="en-US" sz="1073" dirty="0"/>
          </a:p>
        </p:txBody>
      </p:sp>
      <p:sp>
        <p:nvSpPr>
          <p:cNvPr id="45" name="Text 43"/>
          <p:cNvSpPr/>
          <p:nvPr/>
        </p:nvSpPr>
        <p:spPr>
          <a:xfrm>
            <a:off x="9550400" y="6420049"/>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F6F6B"/>
                </a:solidFill>
                <a:latin typeface="Arial" pitchFamily="34" charset="0"/>
                <a:ea typeface="Arial" pitchFamily="34" charset="-122"/>
                <a:cs typeface="Arial" pitchFamily="34" charset="-120"/>
              </a:rPr>
              <a:t>—</a:t>
            </a:r>
            <a:endParaRPr lang="en-US" sz="1568" dirty="0"/>
          </a:p>
        </p:txBody>
      </p:sp>
      <p:sp>
        <p:nvSpPr>
          <p:cNvPr id="46" name="Text 44"/>
          <p:cNvSpPr/>
          <p:nvPr/>
        </p:nvSpPr>
        <p:spPr>
          <a:xfrm>
            <a:off x="9740900" y="6426398"/>
            <a:ext cx="2150169"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Reframe Settleed as an</a:t>
            </a:r>
            <a:endParaRPr lang="en-US" sz="1568" dirty="0"/>
          </a:p>
        </p:txBody>
      </p:sp>
      <p:sp>
        <p:nvSpPr>
          <p:cNvPr id="47" name="Text 45"/>
          <p:cNvSpPr/>
          <p:nvPr/>
        </p:nvSpPr>
        <p:spPr>
          <a:xfrm>
            <a:off x="11861800" y="6451799"/>
            <a:ext cx="2482294"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external compliance layer</a:t>
            </a:r>
            <a:endParaRPr lang="en-US" sz="1568" dirty="0"/>
          </a:p>
        </p:txBody>
      </p:sp>
      <p:sp>
        <p:nvSpPr>
          <p:cNvPr id="48" name="Text 46"/>
          <p:cNvSpPr/>
          <p:nvPr/>
        </p:nvSpPr>
        <p:spPr>
          <a:xfrm>
            <a:off x="9740900" y="6426398"/>
            <a:ext cx="7026847" cy="58340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that cleans data before the government desk.</a:t>
            </a:r>
            <a:endParaRPr lang="en-US" sz="1568" dirty="0"/>
          </a:p>
        </p:txBody>
      </p:sp>
      <p:sp>
        <p:nvSpPr>
          <p:cNvPr id="49" name="Text 47"/>
          <p:cNvSpPr/>
          <p:nvPr/>
        </p:nvSpPr>
        <p:spPr>
          <a:xfrm>
            <a:off x="9550400" y="7088386"/>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F6F6B"/>
                </a:solidFill>
                <a:latin typeface="Arial" pitchFamily="34" charset="0"/>
                <a:ea typeface="Arial" pitchFamily="34" charset="-122"/>
                <a:cs typeface="Arial" pitchFamily="34" charset="-120"/>
              </a:rPr>
              <a:t>—</a:t>
            </a:r>
            <a:endParaRPr lang="en-US" sz="1568" dirty="0"/>
          </a:p>
        </p:txBody>
      </p:sp>
      <p:sp>
        <p:nvSpPr>
          <p:cNvPr id="50" name="Text 48"/>
          <p:cNvSpPr/>
          <p:nvPr/>
        </p:nvSpPr>
        <p:spPr>
          <a:xfrm>
            <a:off x="9740900" y="7094736"/>
            <a:ext cx="877689"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Build the</a:t>
            </a:r>
            <a:endParaRPr lang="en-US" sz="1568" dirty="0"/>
          </a:p>
        </p:txBody>
      </p:sp>
      <p:sp>
        <p:nvSpPr>
          <p:cNvPr id="51" name="Text 49"/>
          <p:cNvSpPr/>
          <p:nvPr/>
        </p:nvSpPr>
        <p:spPr>
          <a:xfrm>
            <a:off x="10589320" y="7120136"/>
            <a:ext cx="3810099"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RFTA pre-vet + pre-inspection checklist</a:t>
            </a:r>
            <a:endParaRPr lang="en-US" sz="1568" dirty="0"/>
          </a:p>
        </p:txBody>
      </p:sp>
      <p:sp>
        <p:nvSpPr>
          <p:cNvPr id="52" name="Text 50"/>
          <p:cNvSpPr/>
          <p:nvPr/>
        </p:nvSpPr>
        <p:spPr>
          <a:xfrm>
            <a:off x="14099977" y="7094736"/>
            <a:ext cx="1809850"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as a wedge feature.</a:t>
            </a:r>
            <a:endParaRPr lang="en-US" sz="1568" dirty="0"/>
          </a:p>
        </p:txBody>
      </p:sp>
      <p:sp>
        <p:nvSpPr>
          <p:cNvPr id="53" name="Text 51"/>
          <p:cNvSpPr/>
          <p:nvPr/>
        </p:nvSpPr>
        <p:spPr>
          <a:xfrm>
            <a:off x="9550400" y="7478117"/>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F6F6B"/>
                </a:solidFill>
                <a:latin typeface="Arial" pitchFamily="34" charset="0"/>
                <a:ea typeface="Arial" pitchFamily="34" charset="-122"/>
                <a:cs typeface="Arial" pitchFamily="34" charset="-120"/>
              </a:rPr>
              <a:t>—</a:t>
            </a:r>
            <a:endParaRPr lang="en-US" sz="1568" dirty="0"/>
          </a:p>
        </p:txBody>
      </p:sp>
      <p:sp>
        <p:nvSpPr>
          <p:cNvPr id="54" name="Text 52"/>
          <p:cNvSpPr/>
          <p:nvPr/>
        </p:nvSpPr>
        <p:spPr>
          <a:xfrm>
            <a:off x="9740900" y="7484468"/>
            <a:ext cx="6932624"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Pursue an authority data partnership with these gatekeepers as champions.</a:t>
            </a:r>
            <a:endParaRPr lang="en-US" sz="1568" dirty="0"/>
          </a:p>
        </p:txBody>
      </p:sp>
      <p:sp>
        <p:nvSpPr>
          <p:cNvPr id="55" name="Text 53"/>
          <p:cNvSpPr/>
          <p:nvPr/>
        </p:nvSpPr>
        <p:spPr>
          <a:xfrm>
            <a:off x="762000" y="9556750"/>
            <a:ext cx="4636949"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SETTLEED · CUSTOMER DISCOVERY · GATEKEEPERS</a:t>
            </a:r>
            <a:endParaRPr lang="en-US" sz="990" dirty="0"/>
          </a:p>
        </p:txBody>
      </p:sp>
      <p:sp>
        <p:nvSpPr>
          <p:cNvPr id="56" name="Text 54"/>
          <p:cNvSpPr/>
          <p:nvPr/>
        </p:nvSpPr>
        <p:spPr>
          <a:xfrm>
            <a:off x="16839705" y="9556750"/>
            <a:ext cx="762496"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07 / 16</a:t>
            </a:r>
            <a:endParaRPr lang="en-US" sz="9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800100" y="1424384"/>
            <a:ext cx="16687800" cy="9525"/>
          </a:xfrm>
          <a:prstGeom prst="rect">
            <a:avLst/>
          </a:prstGeom>
          <a:solidFill>
            <a:srgbClr val="18221E">
              <a:alpha val="16000"/>
            </a:srgbClr>
          </a:solidFill>
          <a:ln/>
        </p:spPr>
      </p:sp>
      <p:sp>
        <p:nvSpPr>
          <p:cNvPr id="3" name="Text 1"/>
          <p:cNvSpPr/>
          <p:nvPr/>
        </p:nvSpPr>
        <p:spPr>
          <a:xfrm>
            <a:off x="800100" y="609600"/>
            <a:ext cx="12639249" cy="215900"/>
          </a:xfrm>
          <a:prstGeom prst="rect">
            <a:avLst/>
          </a:prstGeom>
          <a:noFill/>
          <a:ln/>
        </p:spPr>
        <p:txBody>
          <a:bodyPr wrap="square" lIns="25400" tIns="25400" rIns="25400" bIns="25400" rtlCol="0" anchor="t">
            <a:normAutofit/>
          </a:bodyPr>
          <a:lstStyle/>
          <a:p>
            <a:pPr algn="l" indent="0" marL="0">
              <a:buNone/>
            </a:pPr>
            <a:r>
              <a:rPr lang="en-US" sz="1073" spc="215" kern="0" dirty="0">
                <a:solidFill>
                  <a:srgbClr val="2C7A58"/>
                </a:solidFill>
                <a:latin typeface="Courier New" pitchFamily="34" charset="0"/>
                <a:ea typeface="Courier New" pitchFamily="34" charset="-122"/>
                <a:cs typeface="Courier New" pitchFamily="34" charset="-120"/>
              </a:rPr>
              <a:t>THE SOLUTION · HOW IT WORKS</a:t>
            </a:r>
            <a:endParaRPr lang="en-US" sz="1073" dirty="0"/>
          </a:p>
        </p:txBody>
      </p:sp>
      <p:sp>
        <p:nvSpPr>
          <p:cNvPr id="4" name="Text 2"/>
          <p:cNvSpPr/>
          <p:nvPr/>
        </p:nvSpPr>
        <p:spPr>
          <a:xfrm>
            <a:off x="800100" y="844550"/>
            <a:ext cx="12639249" cy="465534"/>
          </a:xfrm>
          <a:prstGeom prst="rect">
            <a:avLst/>
          </a:prstGeom>
          <a:noFill/>
          <a:ln/>
        </p:spPr>
        <p:txBody>
          <a:bodyPr wrap="square" lIns="25400" tIns="25400" rIns="25400" bIns="25400" rtlCol="0" anchor="t">
            <a:normAutofit/>
          </a:bodyPr>
          <a:lstStyle/>
          <a:p>
            <a:pPr algn="l" indent="0" marL="0">
              <a:lnSpc>
                <a:spcPct val="102000"/>
              </a:lnSpc>
              <a:buNone/>
            </a:pPr>
            <a:r>
              <a:rPr lang="en-US" sz="3300" b="1" spc="-66" kern="0" dirty="0">
                <a:solidFill>
                  <a:srgbClr val="14201A"/>
                </a:solidFill>
                <a:latin typeface="Arial" pitchFamily="34" charset="0"/>
                <a:ea typeface="Arial" pitchFamily="34" charset="-122"/>
                <a:cs typeface="Arial" pitchFamily="34" charset="-120"/>
              </a:rPr>
              <a:t>Everything the housing authority doesn't do — automated.</a:t>
            </a:r>
            <a:endParaRPr lang="en-US" sz="3300" dirty="0"/>
          </a:p>
        </p:txBody>
      </p:sp>
      <p:sp>
        <p:nvSpPr>
          <p:cNvPr id="5" name="Text 3"/>
          <p:cNvSpPr/>
          <p:nvPr/>
        </p:nvSpPr>
        <p:spPr>
          <a:xfrm>
            <a:off x="15821323" y="1113234"/>
            <a:ext cx="1833235"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MOBILE-FIRST SAAS</a:t>
            </a:r>
            <a:endParaRPr lang="en-US" sz="990" dirty="0"/>
          </a:p>
        </p:txBody>
      </p:sp>
      <p:sp>
        <p:nvSpPr>
          <p:cNvPr id="6" name="Shape 4"/>
          <p:cNvSpPr/>
          <p:nvPr/>
        </p:nvSpPr>
        <p:spPr>
          <a:xfrm>
            <a:off x="800100" y="1659334"/>
            <a:ext cx="3786188" cy="1853605"/>
          </a:xfrm>
          <a:prstGeom prst="roundRect">
            <a:avLst>
              <a:gd name="adj" fmla="val 4111"/>
            </a:avLst>
          </a:prstGeom>
          <a:solidFill>
            <a:srgbClr val="FFFFFF"/>
          </a:solidFill>
          <a:ln w="6350">
            <a:solidFill>
              <a:srgbClr val="18221E">
                <a:alpha val="12000"/>
              </a:srgbClr>
            </a:solidFill>
            <a:prstDash val="solid"/>
          </a:ln>
        </p:spPr>
      </p:sp>
      <p:sp>
        <p:nvSpPr>
          <p:cNvPr id="7" name="Text 5"/>
          <p:cNvSpPr/>
          <p:nvPr/>
        </p:nvSpPr>
        <p:spPr>
          <a:xfrm>
            <a:off x="1035050" y="1894284"/>
            <a:ext cx="3647916" cy="184150"/>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2C7A58"/>
                </a:solidFill>
                <a:latin typeface="Courier New" pitchFamily="34" charset="0"/>
                <a:ea typeface="Courier New" pitchFamily="34" charset="-122"/>
                <a:cs typeface="Courier New" pitchFamily="34" charset="-120"/>
              </a:rPr>
              <a:t>STEP 1 · LIST</a:t>
            </a:r>
            <a:endParaRPr lang="en-US" sz="900" dirty="0"/>
          </a:p>
        </p:txBody>
      </p:sp>
      <p:sp>
        <p:nvSpPr>
          <p:cNvPr id="8" name="Text 6"/>
          <p:cNvSpPr/>
          <p:nvPr/>
        </p:nvSpPr>
        <p:spPr>
          <a:xfrm>
            <a:off x="1035050" y="2135584"/>
            <a:ext cx="3647916" cy="264319"/>
          </a:xfrm>
          <a:prstGeom prst="rect">
            <a:avLst/>
          </a:prstGeom>
          <a:noFill/>
          <a:ln/>
        </p:spPr>
        <p:txBody>
          <a:bodyPr wrap="square" lIns="25400" tIns="25400" rIns="25400" bIns="25400" rtlCol="0" anchor="t">
            <a:normAutofit/>
          </a:bodyPr>
          <a:lstStyle/>
          <a:p>
            <a:pPr algn="l" indent="0" marL="0">
              <a:lnSpc>
                <a:spcPct val="125000"/>
              </a:lnSpc>
              <a:buNone/>
            </a:pPr>
            <a:r>
              <a:rPr lang="en-US" sz="1425" b="1" dirty="0">
                <a:solidFill>
                  <a:srgbClr val="10201A"/>
                </a:solidFill>
                <a:latin typeface="Arial" pitchFamily="34" charset="0"/>
                <a:ea typeface="Arial" pitchFamily="34" charset="-122"/>
                <a:cs typeface="Arial" pitchFamily="34" charset="-120"/>
              </a:rPr>
              <a:t>Landlord lists a property</a:t>
            </a:r>
            <a:endParaRPr lang="en-US" sz="1425" dirty="0"/>
          </a:p>
        </p:txBody>
      </p:sp>
      <p:sp>
        <p:nvSpPr>
          <p:cNvPr id="9" name="Text 7"/>
          <p:cNvSpPr/>
          <p:nvPr/>
        </p:nvSpPr>
        <p:spPr>
          <a:xfrm>
            <a:off x="1035050" y="2438003"/>
            <a:ext cx="3415776" cy="598091"/>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3A443E"/>
                </a:solidFill>
                <a:latin typeface="Arial" pitchFamily="34" charset="0"/>
                <a:ea typeface="Arial" pitchFamily="34" charset="-122"/>
                <a:cs typeface="Arial" pitchFamily="34" charset="-120"/>
              </a:rPr>
              <a:t>Photos, rent, bedrooms, and which housing authorities are accepted.</a:t>
            </a:r>
            <a:endParaRPr lang="en-US" sz="1575" dirty="0"/>
          </a:p>
        </p:txBody>
      </p:sp>
      <p:sp>
        <p:nvSpPr>
          <p:cNvPr id="10" name="Text 8"/>
          <p:cNvSpPr/>
          <p:nvPr/>
        </p:nvSpPr>
        <p:spPr>
          <a:xfrm>
            <a:off x="4700588" y="1659334"/>
            <a:ext cx="361950" cy="1891705"/>
          </a:xfrm>
          <a:prstGeom prst="rect">
            <a:avLst/>
          </a:prstGeom>
          <a:noFill/>
          <a:ln/>
        </p:spPr>
        <p:txBody>
          <a:bodyPr wrap="square" lIns="25400" tIns="25400" rIns="25400" bIns="25400" rtlCol="0" anchor="ctr">
            <a:normAutofit/>
          </a:bodyPr>
          <a:lstStyle/>
          <a:p>
            <a:pPr algn="l" indent="0" marL="0">
              <a:buNone/>
            </a:pPr>
            <a:r>
              <a:rPr lang="en-US" sz="2250" dirty="0">
                <a:solidFill>
                  <a:srgbClr val="9ABCAB"/>
                </a:solidFill>
                <a:latin typeface="Arial" pitchFamily="34" charset="0"/>
                <a:ea typeface="Arial" pitchFamily="34" charset="-122"/>
                <a:cs typeface="Arial" pitchFamily="34" charset="-120"/>
              </a:rPr>
              <a:t>→</a:t>
            </a:r>
            <a:endParaRPr lang="en-US" sz="2250" dirty="0"/>
          </a:p>
        </p:txBody>
      </p:sp>
      <p:sp>
        <p:nvSpPr>
          <p:cNvPr id="11" name="Shape 9"/>
          <p:cNvSpPr/>
          <p:nvPr/>
        </p:nvSpPr>
        <p:spPr>
          <a:xfrm>
            <a:off x="5100638" y="1659334"/>
            <a:ext cx="3786188" cy="1853605"/>
          </a:xfrm>
          <a:prstGeom prst="roundRect">
            <a:avLst>
              <a:gd name="adj" fmla="val 4111"/>
            </a:avLst>
          </a:prstGeom>
          <a:solidFill>
            <a:srgbClr val="FFFFFF"/>
          </a:solidFill>
          <a:ln w="6350">
            <a:solidFill>
              <a:srgbClr val="18221E">
                <a:alpha val="12000"/>
              </a:srgbClr>
            </a:solidFill>
            <a:prstDash val="solid"/>
          </a:ln>
        </p:spPr>
      </p:sp>
      <p:sp>
        <p:nvSpPr>
          <p:cNvPr id="12" name="Text 10"/>
          <p:cNvSpPr/>
          <p:nvPr/>
        </p:nvSpPr>
        <p:spPr>
          <a:xfrm>
            <a:off x="5335588" y="1894284"/>
            <a:ext cx="3647916" cy="184150"/>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2C7A58"/>
                </a:solidFill>
                <a:latin typeface="Courier New" pitchFamily="34" charset="0"/>
                <a:ea typeface="Courier New" pitchFamily="34" charset="-122"/>
                <a:cs typeface="Courier New" pitchFamily="34" charset="-120"/>
              </a:rPr>
              <a:t>STEP 2 · MATCH</a:t>
            </a:r>
            <a:endParaRPr lang="en-US" sz="900" dirty="0"/>
          </a:p>
        </p:txBody>
      </p:sp>
      <p:sp>
        <p:nvSpPr>
          <p:cNvPr id="13" name="Text 11"/>
          <p:cNvSpPr/>
          <p:nvPr/>
        </p:nvSpPr>
        <p:spPr>
          <a:xfrm>
            <a:off x="5335588" y="2135584"/>
            <a:ext cx="3647916" cy="264319"/>
          </a:xfrm>
          <a:prstGeom prst="rect">
            <a:avLst/>
          </a:prstGeom>
          <a:noFill/>
          <a:ln/>
        </p:spPr>
        <p:txBody>
          <a:bodyPr wrap="square" lIns="25400" tIns="25400" rIns="25400" bIns="25400" rtlCol="0" anchor="t">
            <a:normAutofit/>
          </a:bodyPr>
          <a:lstStyle/>
          <a:p>
            <a:pPr algn="l" indent="0" marL="0">
              <a:lnSpc>
                <a:spcPct val="125000"/>
              </a:lnSpc>
              <a:buNone/>
            </a:pPr>
            <a:r>
              <a:rPr lang="en-US" sz="1425" b="1" dirty="0">
                <a:solidFill>
                  <a:srgbClr val="10201A"/>
                </a:solidFill>
                <a:latin typeface="Arial" pitchFamily="34" charset="0"/>
                <a:ea typeface="Arial" pitchFamily="34" charset="-122"/>
                <a:cs typeface="Arial" pitchFamily="34" charset="-120"/>
              </a:rPr>
              <a:t>Instant match alert</a:t>
            </a:r>
            <a:endParaRPr lang="en-US" sz="1425" dirty="0"/>
          </a:p>
        </p:txBody>
      </p:sp>
      <p:sp>
        <p:nvSpPr>
          <p:cNvPr id="14" name="Text 12"/>
          <p:cNvSpPr/>
          <p:nvPr/>
        </p:nvSpPr>
        <p:spPr>
          <a:xfrm>
            <a:off x="5335588" y="2438003"/>
            <a:ext cx="3415776" cy="598091"/>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3A443E"/>
                </a:solidFill>
                <a:latin typeface="Arial" pitchFamily="34" charset="0"/>
                <a:ea typeface="Arial" pitchFamily="34" charset="-122"/>
                <a:cs typeface="Arial" pitchFamily="34" charset="-120"/>
              </a:rPr>
              <a:t>A matching voucher holder signs up and both sides are notified at once.</a:t>
            </a:r>
            <a:endParaRPr lang="en-US" sz="1575" dirty="0"/>
          </a:p>
        </p:txBody>
      </p:sp>
      <p:sp>
        <p:nvSpPr>
          <p:cNvPr id="15" name="Text 13"/>
          <p:cNvSpPr/>
          <p:nvPr/>
        </p:nvSpPr>
        <p:spPr>
          <a:xfrm>
            <a:off x="9001125" y="1659334"/>
            <a:ext cx="361950" cy="1891705"/>
          </a:xfrm>
          <a:prstGeom prst="rect">
            <a:avLst/>
          </a:prstGeom>
          <a:noFill/>
          <a:ln/>
        </p:spPr>
        <p:txBody>
          <a:bodyPr wrap="square" lIns="25400" tIns="25400" rIns="25400" bIns="25400" rtlCol="0" anchor="ctr">
            <a:normAutofit/>
          </a:bodyPr>
          <a:lstStyle/>
          <a:p>
            <a:pPr algn="l" indent="0" marL="0">
              <a:buNone/>
            </a:pPr>
            <a:r>
              <a:rPr lang="en-US" sz="2250" dirty="0">
                <a:solidFill>
                  <a:srgbClr val="9ABCAB"/>
                </a:solidFill>
                <a:latin typeface="Arial" pitchFamily="34" charset="0"/>
                <a:ea typeface="Arial" pitchFamily="34" charset="-122"/>
                <a:cs typeface="Arial" pitchFamily="34" charset="-120"/>
              </a:rPr>
              <a:t>→</a:t>
            </a:r>
            <a:endParaRPr lang="en-US" sz="2250" dirty="0"/>
          </a:p>
        </p:txBody>
      </p:sp>
      <p:sp>
        <p:nvSpPr>
          <p:cNvPr id="16" name="Shape 14"/>
          <p:cNvSpPr/>
          <p:nvPr/>
        </p:nvSpPr>
        <p:spPr>
          <a:xfrm>
            <a:off x="9401175" y="1659334"/>
            <a:ext cx="3786188" cy="1853605"/>
          </a:xfrm>
          <a:prstGeom prst="roundRect">
            <a:avLst>
              <a:gd name="adj" fmla="val 4111"/>
            </a:avLst>
          </a:prstGeom>
          <a:solidFill>
            <a:srgbClr val="FFFFFF"/>
          </a:solidFill>
          <a:ln w="6350">
            <a:solidFill>
              <a:srgbClr val="18221E">
                <a:alpha val="12000"/>
              </a:srgbClr>
            </a:solidFill>
            <a:prstDash val="solid"/>
          </a:ln>
        </p:spPr>
      </p:sp>
      <p:sp>
        <p:nvSpPr>
          <p:cNvPr id="17" name="Text 15"/>
          <p:cNvSpPr/>
          <p:nvPr/>
        </p:nvSpPr>
        <p:spPr>
          <a:xfrm>
            <a:off x="9636125" y="1894284"/>
            <a:ext cx="3647916" cy="184150"/>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2C7A58"/>
                </a:solidFill>
                <a:latin typeface="Courier New" pitchFamily="34" charset="0"/>
                <a:ea typeface="Courier New" pitchFamily="34" charset="-122"/>
                <a:cs typeface="Courier New" pitchFamily="34" charset="-120"/>
              </a:rPr>
              <a:t>STEP 3 · APPLY</a:t>
            </a:r>
            <a:endParaRPr lang="en-US" sz="900" dirty="0"/>
          </a:p>
        </p:txBody>
      </p:sp>
      <p:sp>
        <p:nvSpPr>
          <p:cNvPr id="18" name="Text 16"/>
          <p:cNvSpPr/>
          <p:nvPr/>
        </p:nvSpPr>
        <p:spPr>
          <a:xfrm>
            <a:off x="9636125" y="2135584"/>
            <a:ext cx="3647916" cy="264319"/>
          </a:xfrm>
          <a:prstGeom prst="rect">
            <a:avLst/>
          </a:prstGeom>
          <a:noFill/>
          <a:ln/>
        </p:spPr>
        <p:txBody>
          <a:bodyPr wrap="square" lIns="25400" tIns="25400" rIns="25400" bIns="25400" rtlCol="0" anchor="t">
            <a:normAutofit/>
          </a:bodyPr>
          <a:lstStyle/>
          <a:p>
            <a:pPr algn="l" indent="0" marL="0">
              <a:lnSpc>
                <a:spcPct val="125000"/>
              </a:lnSpc>
              <a:buNone/>
            </a:pPr>
            <a:r>
              <a:rPr lang="en-US" sz="1425" b="1" dirty="0">
                <a:solidFill>
                  <a:srgbClr val="10201A"/>
                </a:solidFill>
                <a:latin typeface="Arial" pitchFamily="34" charset="0"/>
                <a:ea typeface="Arial" pitchFamily="34" charset="-122"/>
                <a:cs typeface="Arial" pitchFamily="34" charset="-120"/>
              </a:rPr>
              <a:t>One-tap application</a:t>
            </a:r>
            <a:endParaRPr lang="en-US" sz="1425" dirty="0"/>
          </a:p>
        </p:txBody>
      </p:sp>
      <p:sp>
        <p:nvSpPr>
          <p:cNvPr id="19" name="Text 17"/>
          <p:cNvSpPr/>
          <p:nvPr/>
        </p:nvSpPr>
        <p:spPr>
          <a:xfrm>
            <a:off x="9636125" y="2438003"/>
            <a:ext cx="3415776" cy="878086"/>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3A443E"/>
                </a:solidFill>
                <a:latin typeface="Arial" pitchFamily="34" charset="0"/>
                <a:ea typeface="Arial" pitchFamily="34" charset="-122"/>
                <a:cs typeface="Arial" pitchFamily="34" charset="-120"/>
              </a:rPr>
              <a:t>Filtered to exact voucher size &amp; the HA's payment standard before applying.</a:t>
            </a:r>
            <a:endParaRPr lang="en-US" sz="1575" dirty="0"/>
          </a:p>
        </p:txBody>
      </p:sp>
      <p:sp>
        <p:nvSpPr>
          <p:cNvPr id="20" name="Text 18"/>
          <p:cNvSpPr/>
          <p:nvPr/>
        </p:nvSpPr>
        <p:spPr>
          <a:xfrm>
            <a:off x="13301663" y="1659334"/>
            <a:ext cx="361950" cy="1891705"/>
          </a:xfrm>
          <a:prstGeom prst="rect">
            <a:avLst/>
          </a:prstGeom>
          <a:noFill/>
          <a:ln/>
        </p:spPr>
        <p:txBody>
          <a:bodyPr wrap="square" lIns="25400" tIns="25400" rIns="25400" bIns="25400" rtlCol="0" anchor="ctr">
            <a:normAutofit/>
          </a:bodyPr>
          <a:lstStyle/>
          <a:p>
            <a:pPr algn="l" indent="0" marL="0">
              <a:buNone/>
            </a:pPr>
            <a:r>
              <a:rPr lang="en-US" sz="2250" dirty="0">
                <a:solidFill>
                  <a:srgbClr val="9ABCAB"/>
                </a:solidFill>
                <a:latin typeface="Arial" pitchFamily="34" charset="0"/>
                <a:ea typeface="Arial" pitchFamily="34" charset="-122"/>
                <a:cs typeface="Arial" pitchFamily="34" charset="-120"/>
              </a:rPr>
              <a:t>→</a:t>
            </a:r>
            <a:endParaRPr lang="en-US" sz="2250" dirty="0"/>
          </a:p>
        </p:txBody>
      </p:sp>
      <p:sp>
        <p:nvSpPr>
          <p:cNvPr id="21" name="Shape 19"/>
          <p:cNvSpPr/>
          <p:nvPr/>
        </p:nvSpPr>
        <p:spPr>
          <a:xfrm>
            <a:off x="13701713" y="1659334"/>
            <a:ext cx="3786188" cy="1853605"/>
          </a:xfrm>
          <a:prstGeom prst="roundRect">
            <a:avLst>
              <a:gd name="adj" fmla="val 4111"/>
            </a:avLst>
          </a:prstGeom>
          <a:solidFill>
            <a:srgbClr val="FFFFFF"/>
          </a:solidFill>
          <a:ln w="6350">
            <a:solidFill>
              <a:srgbClr val="18221E">
                <a:alpha val="12000"/>
              </a:srgbClr>
            </a:solidFill>
            <a:prstDash val="solid"/>
          </a:ln>
        </p:spPr>
      </p:sp>
      <p:sp>
        <p:nvSpPr>
          <p:cNvPr id="22" name="Text 20"/>
          <p:cNvSpPr/>
          <p:nvPr/>
        </p:nvSpPr>
        <p:spPr>
          <a:xfrm>
            <a:off x="13936663" y="1894284"/>
            <a:ext cx="3647916" cy="184150"/>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2C7A58"/>
                </a:solidFill>
                <a:latin typeface="Courier New" pitchFamily="34" charset="0"/>
                <a:ea typeface="Courier New" pitchFamily="34" charset="-122"/>
                <a:cs typeface="Courier New" pitchFamily="34" charset="-120"/>
              </a:rPr>
              <a:t>STEP 4 · TRACK</a:t>
            </a:r>
            <a:endParaRPr lang="en-US" sz="900" dirty="0"/>
          </a:p>
        </p:txBody>
      </p:sp>
      <p:sp>
        <p:nvSpPr>
          <p:cNvPr id="23" name="Text 21"/>
          <p:cNvSpPr/>
          <p:nvPr/>
        </p:nvSpPr>
        <p:spPr>
          <a:xfrm>
            <a:off x="13936663" y="2135584"/>
            <a:ext cx="3647916" cy="264319"/>
          </a:xfrm>
          <a:prstGeom prst="rect">
            <a:avLst/>
          </a:prstGeom>
          <a:noFill/>
          <a:ln/>
        </p:spPr>
        <p:txBody>
          <a:bodyPr wrap="square" lIns="25400" tIns="25400" rIns="25400" bIns="25400" rtlCol="0" anchor="t">
            <a:normAutofit/>
          </a:bodyPr>
          <a:lstStyle/>
          <a:p>
            <a:pPr algn="l" indent="0" marL="0">
              <a:lnSpc>
                <a:spcPct val="125000"/>
              </a:lnSpc>
              <a:buNone/>
            </a:pPr>
            <a:r>
              <a:rPr lang="en-US" sz="1425" b="1" dirty="0">
                <a:solidFill>
                  <a:srgbClr val="10201A"/>
                </a:solidFill>
                <a:latin typeface="Arial" pitchFamily="34" charset="0"/>
                <a:ea typeface="Arial" pitchFamily="34" charset="-122"/>
                <a:cs typeface="Arial" pitchFamily="34" charset="-120"/>
              </a:rPr>
              <a:t>Real-time status &amp; HQS</a:t>
            </a:r>
            <a:endParaRPr lang="en-US" sz="1425" dirty="0"/>
          </a:p>
        </p:txBody>
      </p:sp>
      <p:sp>
        <p:nvSpPr>
          <p:cNvPr id="24" name="Text 22"/>
          <p:cNvSpPr/>
          <p:nvPr/>
        </p:nvSpPr>
        <p:spPr>
          <a:xfrm>
            <a:off x="13936663" y="2438003"/>
            <a:ext cx="3415776" cy="878086"/>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3A443E"/>
                </a:solidFill>
                <a:latin typeface="Arial" pitchFamily="34" charset="0"/>
                <a:ea typeface="Arial" pitchFamily="34" charset="-122"/>
                <a:cs typeface="Arial" pitchFamily="34" charset="-120"/>
              </a:rPr>
              <a:t>Application status and HQS inspection deadlines tracked automatically.</a:t>
            </a:r>
            <a:endParaRPr lang="en-US" sz="1575" dirty="0"/>
          </a:p>
        </p:txBody>
      </p:sp>
      <p:sp>
        <p:nvSpPr>
          <p:cNvPr id="25" name="Shape 23"/>
          <p:cNvSpPr/>
          <p:nvPr/>
        </p:nvSpPr>
        <p:spPr>
          <a:xfrm>
            <a:off x="800100" y="3684389"/>
            <a:ext cx="8258175" cy="4086920"/>
          </a:xfrm>
          <a:prstGeom prst="roundRect">
            <a:avLst>
              <a:gd name="adj" fmla="val 1864"/>
            </a:avLst>
          </a:prstGeom>
          <a:solidFill>
            <a:srgbClr val="2C7A58">
              <a:alpha val="8000"/>
            </a:srgbClr>
          </a:solidFill>
          <a:ln w="6350">
            <a:solidFill>
              <a:srgbClr val="2C7A58">
                <a:alpha val="28000"/>
              </a:srgbClr>
            </a:solidFill>
            <a:prstDash val="solid"/>
          </a:ln>
        </p:spPr>
      </p:sp>
      <p:sp>
        <p:nvSpPr>
          <p:cNvPr id="26" name="Text 24"/>
          <p:cNvSpPr/>
          <p:nvPr/>
        </p:nvSpPr>
        <p:spPr>
          <a:xfrm>
            <a:off x="1073150" y="3919339"/>
            <a:ext cx="8483283"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2C7A58"/>
                </a:solidFill>
                <a:latin typeface="Courier New" pitchFamily="34" charset="0"/>
                <a:ea typeface="Courier New" pitchFamily="34" charset="-122"/>
                <a:cs typeface="Courier New" pitchFamily="34" charset="-120"/>
              </a:rPr>
              <a:t>FOR LANDLORDS</a:t>
            </a:r>
            <a:endParaRPr lang="en-US" sz="975" dirty="0"/>
          </a:p>
        </p:txBody>
      </p:sp>
      <p:sp>
        <p:nvSpPr>
          <p:cNvPr id="27" name="Text 25"/>
          <p:cNvSpPr/>
          <p:nvPr/>
        </p:nvSpPr>
        <p:spPr>
          <a:xfrm>
            <a:off x="1073150" y="4192389"/>
            <a:ext cx="7943437" cy="55880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2B332E"/>
                </a:solidFill>
                <a:latin typeface="Arial" pitchFamily="34" charset="0"/>
                <a:ea typeface="Arial" pitchFamily="34" charset="-122"/>
                <a:cs typeface="Arial" pitchFamily="34" charset="-120"/>
              </a:rPr>
              <a:t>List properties, get instant alerts on matching voucher holders, manage an application inbox, and have </a:t>
            </a:r>
            <a:pPr algn="l" indent="0" marL="0">
              <a:lnSpc>
                <a:spcPct val="150000"/>
              </a:lnSpc>
              <a:buNone/>
            </a:pPr>
            <a:r>
              <a:rPr lang="en-US" sz="1350" b="1" dirty="0">
                <a:solidFill>
                  <a:srgbClr val="2B332E"/>
                </a:solidFill>
                <a:latin typeface="Arial" pitchFamily="34" charset="0"/>
                <a:ea typeface="Arial" pitchFamily="34" charset="-122"/>
                <a:cs typeface="Arial" pitchFamily="34" charset="-120"/>
              </a:rPr>
              <a:t>HQS inspection deadlines tracked automatically </a:t>
            </a:r>
            <a:pPr algn="l" indent="0" marL="0">
              <a:lnSpc>
                <a:spcPct val="150000"/>
              </a:lnSpc>
              <a:buNone/>
            </a:pPr>
            <a:r>
              <a:rPr lang="en-US" sz="1350" dirty="0">
                <a:solidFill>
                  <a:srgbClr val="2B332E"/>
                </a:solidFill>
                <a:latin typeface="Arial" pitchFamily="34" charset="0"/>
                <a:ea typeface="Arial" pitchFamily="34" charset="-122"/>
                <a:cs typeface="Arial" pitchFamily="34" charset="-120"/>
              </a:rPr>
              <a:t>— no more manual compliance.</a:t>
            </a:r>
            <a:endParaRPr lang="en-US" sz="1350" dirty="0"/>
          </a:p>
        </p:txBody>
      </p:sp>
      <p:sp>
        <p:nvSpPr>
          <p:cNvPr id="28" name="Text 26"/>
          <p:cNvSpPr/>
          <p:nvPr/>
        </p:nvSpPr>
        <p:spPr>
          <a:xfrm>
            <a:off x="1073150" y="7018834"/>
            <a:ext cx="8483283" cy="184150"/>
          </a:xfrm>
          <a:prstGeom prst="rect">
            <a:avLst/>
          </a:prstGeom>
          <a:noFill/>
          <a:ln/>
        </p:spPr>
        <p:txBody>
          <a:bodyPr wrap="square" lIns="25400" tIns="25400" rIns="25400" bIns="25400" rtlCol="0" anchor="t">
            <a:normAutofit/>
          </a:bodyPr>
          <a:lstStyle/>
          <a:p>
            <a:pPr algn="l" indent="0" marL="0">
              <a:buNone/>
            </a:pPr>
            <a:r>
              <a:rPr lang="en-US" sz="900" spc="90" kern="0" dirty="0">
                <a:solidFill>
                  <a:srgbClr val="2C7A58"/>
                </a:solidFill>
                <a:latin typeface="Courier New" pitchFamily="34" charset="0"/>
                <a:ea typeface="Courier New" pitchFamily="34" charset="-122"/>
                <a:cs typeface="Courier New" pitchFamily="34" charset="-120"/>
              </a:rPr>
              <a:t>RUN SPECIALS TO STAND OUT</a:t>
            </a:r>
            <a:endParaRPr lang="en-US" sz="900" dirty="0"/>
          </a:p>
        </p:txBody>
      </p:sp>
      <p:sp>
        <p:nvSpPr>
          <p:cNvPr id="29" name="Shape 27"/>
          <p:cNvSpPr/>
          <p:nvPr/>
        </p:nvSpPr>
        <p:spPr>
          <a:xfrm>
            <a:off x="1073150" y="7250609"/>
            <a:ext cx="1224955" cy="285750"/>
          </a:xfrm>
          <a:prstGeom prst="roundRect">
            <a:avLst>
              <a:gd name="adj" fmla="val 50000"/>
            </a:avLst>
          </a:prstGeom>
          <a:solidFill>
            <a:srgbClr val="FFFFFF"/>
          </a:solidFill>
          <a:ln w="6350">
            <a:solidFill>
              <a:srgbClr val="2C7A58">
                <a:alpha val="40000"/>
              </a:srgbClr>
            </a:solidFill>
            <a:prstDash val="solid"/>
          </a:ln>
        </p:spPr>
      </p:sp>
      <p:sp>
        <p:nvSpPr>
          <p:cNvPr id="30" name="Text 28"/>
          <p:cNvSpPr/>
          <p:nvPr/>
        </p:nvSpPr>
        <p:spPr>
          <a:xfrm>
            <a:off x="1203325" y="7304584"/>
            <a:ext cx="1040805" cy="215900"/>
          </a:xfrm>
          <a:prstGeom prst="rect">
            <a:avLst/>
          </a:prstGeom>
          <a:noFill/>
          <a:ln/>
        </p:spPr>
        <p:txBody>
          <a:bodyPr wrap="square" lIns="25400" tIns="25400" rIns="25400" bIns="25400" rtlCol="0" anchor="t">
            <a:normAutofit/>
          </a:bodyPr>
          <a:lstStyle/>
          <a:p>
            <a:pPr algn="l" indent="0" marL="0">
              <a:buNone/>
            </a:pPr>
            <a:r>
              <a:rPr lang="en-US" sz="1088" dirty="0">
                <a:solidFill>
                  <a:srgbClr val="1F5E43"/>
                </a:solidFill>
                <a:latin typeface="Arial" pitchFamily="34" charset="0"/>
                <a:ea typeface="Arial" pitchFamily="34" charset="-122"/>
                <a:cs typeface="Arial" pitchFamily="34" charset="-120"/>
              </a:rPr>
              <a:t>No credit check</a:t>
            </a:r>
            <a:endParaRPr lang="en-US" sz="1088" dirty="0"/>
          </a:p>
        </p:txBody>
      </p:sp>
      <p:sp>
        <p:nvSpPr>
          <p:cNvPr id="31" name="Shape 29"/>
          <p:cNvSpPr/>
          <p:nvPr/>
        </p:nvSpPr>
        <p:spPr>
          <a:xfrm>
            <a:off x="2374305" y="7250609"/>
            <a:ext cx="1384498" cy="285750"/>
          </a:xfrm>
          <a:prstGeom prst="roundRect">
            <a:avLst>
              <a:gd name="adj" fmla="val 50000"/>
            </a:avLst>
          </a:prstGeom>
          <a:solidFill>
            <a:srgbClr val="FFFFFF"/>
          </a:solidFill>
          <a:ln w="6350">
            <a:solidFill>
              <a:srgbClr val="2C7A58">
                <a:alpha val="40000"/>
              </a:srgbClr>
            </a:solidFill>
            <a:prstDash val="solid"/>
          </a:ln>
        </p:spPr>
      </p:sp>
      <p:sp>
        <p:nvSpPr>
          <p:cNvPr id="32" name="Text 30"/>
          <p:cNvSpPr/>
          <p:nvPr/>
        </p:nvSpPr>
        <p:spPr>
          <a:xfrm>
            <a:off x="2504480" y="7304584"/>
            <a:ext cx="1200348" cy="215900"/>
          </a:xfrm>
          <a:prstGeom prst="rect">
            <a:avLst/>
          </a:prstGeom>
          <a:noFill/>
          <a:ln/>
        </p:spPr>
        <p:txBody>
          <a:bodyPr wrap="square" lIns="25400" tIns="25400" rIns="25400" bIns="25400" rtlCol="0" anchor="t">
            <a:normAutofit/>
          </a:bodyPr>
          <a:lstStyle/>
          <a:p>
            <a:pPr algn="l" indent="0" marL="0">
              <a:buNone/>
            </a:pPr>
            <a:r>
              <a:rPr lang="en-US" sz="1088" dirty="0">
                <a:solidFill>
                  <a:srgbClr val="1F5E43"/>
                </a:solidFill>
                <a:latin typeface="Arial" pitchFamily="34" charset="0"/>
                <a:ea typeface="Arial" pitchFamily="34" charset="-122"/>
                <a:cs typeface="Arial" pitchFamily="34" charset="-120"/>
              </a:rPr>
              <a:t>No application fee</a:t>
            </a:r>
            <a:endParaRPr lang="en-US" sz="1088" dirty="0"/>
          </a:p>
        </p:txBody>
      </p:sp>
      <p:sp>
        <p:nvSpPr>
          <p:cNvPr id="33" name="Shape 31"/>
          <p:cNvSpPr/>
          <p:nvPr/>
        </p:nvSpPr>
        <p:spPr>
          <a:xfrm>
            <a:off x="3835003" y="7250609"/>
            <a:ext cx="967680" cy="285750"/>
          </a:xfrm>
          <a:prstGeom prst="roundRect">
            <a:avLst>
              <a:gd name="adj" fmla="val 50000"/>
            </a:avLst>
          </a:prstGeom>
          <a:solidFill>
            <a:srgbClr val="FFFFFF"/>
          </a:solidFill>
          <a:ln w="6350">
            <a:solidFill>
              <a:srgbClr val="2C7A58">
                <a:alpha val="40000"/>
              </a:srgbClr>
            </a:solidFill>
            <a:prstDash val="solid"/>
          </a:ln>
        </p:spPr>
      </p:sp>
      <p:sp>
        <p:nvSpPr>
          <p:cNvPr id="34" name="Text 32"/>
          <p:cNvSpPr/>
          <p:nvPr/>
        </p:nvSpPr>
        <p:spPr>
          <a:xfrm>
            <a:off x="3965178" y="7304584"/>
            <a:ext cx="783530" cy="215900"/>
          </a:xfrm>
          <a:prstGeom prst="rect">
            <a:avLst/>
          </a:prstGeom>
          <a:noFill/>
          <a:ln/>
        </p:spPr>
        <p:txBody>
          <a:bodyPr wrap="square" lIns="25400" tIns="25400" rIns="25400" bIns="25400" rtlCol="0" anchor="t">
            <a:normAutofit/>
          </a:bodyPr>
          <a:lstStyle/>
          <a:p>
            <a:pPr algn="l" indent="0" marL="0">
              <a:buNone/>
            </a:pPr>
            <a:r>
              <a:rPr lang="en-US" sz="1088" dirty="0">
                <a:solidFill>
                  <a:srgbClr val="1F5E43"/>
                </a:solidFill>
                <a:latin typeface="Arial" pitchFamily="34" charset="0"/>
                <a:ea typeface="Arial" pitchFamily="34" charset="-122"/>
                <a:cs typeface="Arial" pitchFamily="34" charset="-120"/>
              </a:rPr>
              <a:t>Pet friendly</a:t>
            </a:r>
            <a:endParaRPr lang="en-US" sz="1088" dirty="0"/>
          </a:p>
        </p:txBody>
      </p:sp>
      <p:sp>
        <p:nvSpPr>
          <p:cNvPr id="35" name="Shape 33"/>
          <p:cNvSpPr/>
          <p:nvPr/>
        </p:nvSpPr>
        <p:spPr>
          <a:xfrm>
            <a:off x="4878884" y="7250609"/>
            <a:ext cx="1231999" cy="285750"/>
          </a:xfrm>
          <a:prstGeom prst="roundRect">
            <a:avLst>
              <a:gd name="adj" fmla="val 50000"/>
            </a:avLst>
          </a:prstGeom>
          <a:solidFill>
            <a:srgbClr val="FFFFFF"/>
          </a:solidFill>
          <a:ln w="6350">
            <a:solidFill>
              <a:srgbClr val="2C7A58">
                <a:alpha val="40000"/>
              </a:srgbClr>
            </a:solidFill>
            <a:prstDash val="solid"/>
          </a:ln>
        </p:spPr>
      </p:sp>
      <p:sp>
        <p:nvSpPr>
          <p:cNvPr id="36" name="Text 34"/>
          <p:cNvSpPr/>
          <p:nvPr/>
        </p:nvSpPr>
        <p:spPr>
          <a:xfrm>
            <a:off x="5009059" y="7304584"/>
            <a:ext cx="1047849" cy="215900"/>
          </a:xfrm>
          <a:prstGeom prst="rect">
            <a:avLst/>
          </a:prstGeom>
          <a:noFill/>
          <a:ln/>
        </p:spPr>
        <p:txBody>
          <a:bodyPr wrap="square" lIns="25400" tIns="25400" rIns="25400" bIns="25400" rtlCol="0" anchor="t">
            <a:normAutofit/>
          </a:bodyPr>
          <a:lstStyle/>
          <a:p>
            <a:pPr algn="l" indent="0" marL="0">
              <a:buNone/>
            </a:pPr>
            <a:r>
              <a:rPr lang="en-US" sz="1088" dirty="0">
                <a:solidFill>
                  <a:srgbClr val="1F5E43"/>
                </a:solidFill>
                <a:latin typeface="Arial" pitchFamily="34" charset="0"/>
                <a:ea typeface="Arial" pitchFamily="34" charset="-122"/>
                <a:cs typeface="Arial" pitchFamily="34" charset="-120"/>
              </a:rPr>
              <a:t>Move-in special</a:t>
            </a:r>
            <a:endParaRPr lang="en-US" sz="1088" dirty="0"/>
          </a:p>
        </p:txBody>
      </p:sp>
      <p:sp>
        <p:nvSpPr>
          <p:cNvPr id="37" name="Shape 35"/>
          <p:cNvSpPr/>
          <p:nvPr/>
        </p:nvSpPr>
        <p:spPr>
          <a:xfrm>
            <a:off x="9229725" y="3684389"/>
            <a:ext cx="8258175" cy="4086920"/>
          </a:xfrm>
          <a:prstGeom prst="roundRect">
            <a:avLst>
              <a:gd name="adj" fmla="val 1864"/>
            </a:avLst>
          </a:prstGeom>
          <a:solidFill>
            <a:srgbClr val="B0673E">
              <a:alpha val="8000"/>
            </a:srgbClr>
          </a:solidFill>
          <a:ln w="6350">
            <a:solidFill>
              <a:srgbClr val="B0673E">
                <a:alpha val="28000"/>
              </a:srgbClr>
            </a:solidFill>
            <a:prstDash val="solid"/>
          </a:ln>
        </p:spPr>
      </p:sp>
      <p:sp>
        <p:nvSpPr>
          <p:cNvPr id="38" name="Text 36"/>
          <p:cNvSpPr/>
          <p:nvPr/>
        </p:nvSpPr>
        <p:spPr>
          <a:xfrm>
            <a:off x="9502775" y="3919339"/>
            <a:ext cx="8483283"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B0673E"/>
                </a:solidFill>
                <a:latin typeface="Courier New" pitchFamily="34" charset="0"/>
                <a:ea typeface="Courier New" pitchFamily="34" charset="-122"/>
                <a:cs typeface="Courier New" pitchFamily="34" charset="-120"/>
              </a:rPr>
              <a:t>FOR TENANTS</a:t>
            </a:r>
            <a:endParaRPr lang="en-US" sz="975" dirty="0"/>
          </a:p>
        </p:txBody>
      </p:sp>
      <p:sp>
        <p:nvSpPr>
          <p:cNvPr id="39" name="Text 37"/>
          <p:cNvSpPr/>
          <p:nvPr/>
        </p:nvSpPr>
        <p:spPr>
          <a:xfrm>
            <a:off x="9502775" y="4192389"/>
            <a:ext cx="7943437" cy="558800"/>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2B332E"/>
                </a:solidFill>
                <a:latin typeface="Arial" pitchFamily="34" charset="0"/>
                <a:ea typeface="Arial" pitchFamily="34" charset="-122"/>
                <a:cs typeface="Arial" pitchFamily="34" charset="-120"/>
              </a:rPr>
              <a:t>Search </a:t>
            </a:r>
            <a:pPr algn="l" indent="0" marL="0">
              <a:lnSpc>
                <a:spcPct val="150000"/>
              </a:lnSpc>
              <a:buNone/>
            </a:pPr>
            <a:r>
              <a:rPr lang="en-US" sz="1350" b="1" dirty="0">
                <a:solidFill>
                  <a:srgbClr val="2B332E"/>
                </a:solidFill>
                <a:latin typeface="Arial" pitchFamily="34" charset="0"/>
                <a:ea typeface="Arial" pitchFamily="34" charset="-122"/>
                <a:cs typeface="Arial" pitchFamily="34" charset="-120"/>
              </a:rPr>
              <a:t>verified listings </a:t>
            </a:r>
            <a:pPr algn="l" indent="0" marL="0">
              <a:lnSpc>
                <a:spcPct val="150000"/>
              </a:lnSpc>
              <a:buNone/>
            </a:pPr>
            <a:r>
              <a:rPr lang="en-US" sz="1350" dirty="0">
                <a:solidFill>
                  <a:srgbClr val="2B332E"/>
                </a:solidFill>
                <a:latin typeface="Arial" pitchFamily="34" charset="0"/>
                <a:ea typeface="Arial" pitchFamily="34" charset="-122"/>
                <a:cs typeface="Arial" pitchFamily="34" charset="-120"/>
              </a:rPr>
              <a:t>filtered to exact voucher size &amp; HA payment standards, apply in one tap, and track status in real time — no dead-end listings or wasted fees.</a:t>
            </a:r>
            <a:endParaRPr lang="en-US" sz="1350" dirty="0"/>
          </a:p>
        </p:txBody>
      </p:sp>
      <p:sp>
        <p:nvSpPr>
          <p:cNvPr id="40" name="Shape 38"/>
          <p:cNvSpPr/>
          <p:nvPr/>
        </p:nvSpPr>
        <p:spPr>
          <a:xfrm>
            <a:off x="800100" y="7942759"/>
            <a:ext cx="16687800" cy="1480641"/>
          </a:xfrm>
          <a:prstGeom prst="roundRect">
            <a:avLst>
              <a:gd name="adj" fmla="val 5146"/>
            </a:avLst>
          </a:prstGeom>
          <a:solidFill>
            <a:srgbClr val="16201C"/>
          </a:solidFill>
          <a:ln/>
        </p:spPr>
      </p:sp>
      <p:sp>
        <p:nvSpPr>
          <p:cNvPr id="41" name="Text 39"/>
          <p:cNvSpPr/>
          <p:nvPr/>
        </p:nvSpPr>
        <p:spPr>
          <a:xfrm rot="10800000">
            <a:off x="990600" y="8133259"/>
            <a:ext cx="222250" cy="1137741"/>
          </a:xfrm>
          <a:prstGeom prst="rect">
            <a:avLst/>
          </a:prstGeom>
          <a:noFill/>
          <a:ln/>
        </p:spPr>
        <p:txBody>
          <a:bodyPr wrap="square" lIns="25400" tIns="25400" rIns="25400" bIns="25400" rtlCol="0" anchor="t" vert="eaVert">
            <a:normAutofit/>
          </a:bodyPr>
          <a:lstStyle/>
          <a:p>
            <a:pPr algn="ctr" indent="0" marL="0">
              <a:buNone/>
            </a:pPr>
            <a:r>
              <a:rPr lang="en-US" sz="900" spc="126" kern="0" dirty="0">
                <a:solidFill>
                  <a:srgbClr val="7CC79B"/>
                </a:solidFill>
                <a:latin typeface="Courier New" pitchFamily="34" charset="0"/>
                <a:ea typeface="Courier New" pitchFamily="34" charset="-122"/>
                <a:cs typeface="Courier New" pitchFamily="34" charset="-120"/>
              </a:rPr>
              <a:t>FULL PLATFORM</a:t>
            </a:r>
            <a:endParaRPr lang="en-US" sz="900" dirty="0"/>
          </a:p>
        </p:txBody>
      </p:sp>
      <p:sp>
        <p:nvSpPr>
          <p:cNvPr id="42" name="Shape 40"/>
          <p:cNvSpPr/>
          <p:nvPr/>
        </p:nvSpPr>
        <p:spPr>
          <a:xfrm>
            <a:off x="1308100" y="8133259"/>
            <a:ext cx="592534" cy="215900"/>
          </a:xfrm>
          <a:prstGeom prst="roundRect">
            <a:avLst>
              <a:gd name="adj" fmla="val 17647"/>
            </a:avLst>
          </a:prstGeom>
          <a:solidFill>
            <a:srgbClr val="7CC79B">
              <a:alpha val="14000"/>
            </a:srgbClr>
          </a:solidFill>
          <a:ln/>
        </p:spPr>
      </p:sp>
      <p:sp>
        <p:nvSpPr>
          <p:cNvPr id="43" name="Text 41"/>
          <p:cNvSpPr/>
          <p:nvPr/>
        </p:nvSpPr>
        <p:spPr>
          <a:xfrm>
            <a:off x="1384300" y="8171359"/>
            <a:ext cx="516334" cy="177800"/>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7CC79B"/>
                </a:solidFill>
                <a:latin typeface="Courier New" pitchFamily="34" charset="0"/>
                <a:ea typeface="Courier New" pitchFamily="34" charset="-122"/>
                <a:cs typeface="Courier New" pitchFamily="34" charset="-120"/>
              </a:rPr>
              <a:t>CHECKR</a:t>
            </a:r>
            <a:endParaRPr lang="en-US" sz="825" dirty="0"/>
          </a:p>
        </p:txBody>
      </p:sp>
      <p:sp>
        <p:nvSpPr>
          <p:cNvPr id="44" name="Text 42"/>
          <p:cNvSpPr/>
          <p:nvPr/>
        </p:nvSpPr>
        <p:spPr>
          <a:xfrm>
            <a:off x="2024459" y="8114209"/>
            <a:ext cx="4581723" cy="598091"/>
          </a:xfrm>
          <a:prstGeom prst="rect">
            <a:avLst/>
          </a:prstGeom>
          <a:noFill/>
          <a:ln/>
        </p:spPr>
        <p:txBody>
          <a:bodyPr wrap="square" lIns="25400" tIns="25400" rIns="25400" bIns="25400" rtlCol="0" anchor="t">
            <a:normAutofit/>
          </a:bodyPr>
          <a:lstStyle/>
          <a:p>
            <a:pPr algn="l" indent="0" marL="0">
              <a:lnSpc>
                <a:spcPct val="140000"/>
              </a:lnSpc>
              <a:buNone/>
            </a:pPr>
            <a:r>
              <a:rPr lang="en-US" sz="1575" b="1" dirty="0">
                <a:solidFill>
                  <a:srgbClr val="FFFFFF"/>
                </a:solidFill>
                <a:latin typeface="Arial" pitchFamily="34" charset="0"/>
                <a:ea typeface="Arial" pitchFamily="34" charset="-122"/>
                <a:cs typeface="Arial" pitchFamily="34" charset="-120"/>
              </a:rPr>
              <a:t>Background checks </a:t>
            </a:r>
            <a:pPr algn="l" indent="0" marL="0">
              <a:lnSpc>
                <a:spcPct val="140000"/>
              </a:lnSpc>
              <a:buNone/>
            </a:pPr>
            <a:r>
              <a:rPr lang="en-US" sz="1575" dirty="0">
                <a:solidFill>
                  <a:srgbClr val="DFE6DF"/>
                </a:solidFill>
                <a:latin typeface="Arial" pitchFamily="34" charset="0"/>
                <a:ea typeface="Arial" pitchFamily="34" charset="-122"/>
                <a:cs typeface="Arial" pitchFamily="34" charset="-120"/>
              </a:rPr>
              <a:t>on every household member 18+, run through Checkr.</a:t>
            </a:r>
            <a:endParaRPr lang="en-US" sz="1575" dirty="0"/>
          </a:p>
        </p:txBody>
      </p:sp>
      <p:sp>
        <p:nvSpPr>
          <p:cNvPr id="45" name="Shape 43"/>
          <p:cNvSpPr/>
          <p:nvPr/>
        </p:nvSpPr>
        <p:spPr>
          <a:xfrm>
            <a:off x="6701334" y="8114209"/>
            <a:ext cx="9525" cy="1137741"/>
          </a:xfrm>
          <a:prstGeom prst="rect">
            <a:avLst/>
          </a:prstGeom>
          <a:solidFill>
            <a:srgbClr val="ECEFEA">
              <a:alpha val="14000"/>
            </a:srgbClr>
          </a:solidFill>
          <a:ln/>
        </p:spPr>
      </p:sp>
      <p:sp>
        <p:nvSpPr>
          <p:cNvPr id="46" name="Shape 44"/>
          <p:cNvSpPr/>
          <p:nvPr/>
        </p:nvSpPr>
        <p:spPr>
          <a:xfrm>
            <a:off x="6936284" y="8133259"/>
            <a:ext cx="592534" cy="215900"/>
          </a:xfrm>
          <a:prstGeom prst="roundRect">
            <a:avLst>
              <a:gd name="adj" fmla="val 17647"/>
            </a:avLst>
          </a:prstGeom>
          <a:solidFill>
            <a:srgbClr val="7CC79B">
              <a:alpha val="14000"/>
            </a:srgbClr>
          </a:solidFill>
          <a:ln/>
        </p:spPr>
      </p:sp>
      <p:sp>
        <p:nvSpPr>
          <p:cNvPr id="47" name="Text 45"/>
          <p:cNvSpPr/>
          <p:nvPr/>
        </p:nvSpPr>
        <p:spPr>
          <a:xfrm>
            <a:off x="7012484" y="8171359"/>
            <a:ext cx="516334" cy="177800"/>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7CC79B"/>
                </a:solidFill>
                <a:latin typeface="Courier New" pitchFamily="34" charset="0"/>
                <a:ea typeface="Courier New" pitchFamily="34" charset="-122"/>
                <a:cs typeface="Courier New" pitchFamily="34" charset="-120"/>
              </a:rPr>
              <a:t>MAINT.</a:t>
            </a:r>
            <a:endParaRPr lang="en-US" sz="825" dirty="0"/>
          </a:p>
        </p:txBody>
      </p:sp>
      <p:sp>
        <p:nvSpPr>
          <p:cNvPr id="48" name="Text 46"/>
          <p:cNvSpPr/>
          <p:nvPr/>
        </p:nvSpPr>
        <p:spPr>
          <a:xfrm>
            <a:off x="7652643" y="8114209"/>
            <a:ext cx="4339724" cy="598091"/>
          </a:xfrm>
          <a:prstGeom prst="rect">
            <a:avLst/>
          </a:prstGeom>
          <a:noFill/>
          <a:ln/>
        </p:spPr>
        <p:txBody>
          <a:bodyPr wrap="square" lIns="25400" tIns="25400" rIns="25400" bIns="25400" rtlCol="0" anchor="t">
            <a:normAutofit/>
          </a:bodyPr>
          <a:lstStyle/>
          <a:p>
            <a:pPr algn="l" indent="0" marL="0">
              <a:lnSpc>
                <a:spcPct val="140000"/>
              </a:lnSpc>
              <a:buNone/>
            </a:pPr>
            <a:r>
              <a:rPr lang="en-US" sz="1575" b="1" dirty="0">
                <a:solidFill>
                  <a:srgbClr val="FFFFFF"/>
                </a:solidFill>
                <a:latin typeface="Arial" pitchFamily="34" charset="0"/>
                <a:ea typeface="Arial" pitchFamily="34" charset="-122"/>
                <a:cs typeface="Arial" pitchFamily="34" charset="-120"/>
              </a:rPr>
              <a:t>Maintenance requests </a:t>
            </a:r>
            <a:pPr algn="l" indent="0" marL="0">
              <a:lnSpc>
                <a:spcPct val="140000"/>
              </a:lnSpc>
              <a:buNone/>
            </a:pPr>
            <a:r>
              <a:rPr lang="en-US" sz="1575" dirty="0">
                <a:solidFill>
                  <a:srgbClr val="DFE6DF"/>
                </a:solidFill>
                <a:latin typeface="Arial" pitchFamily="34" charset="0"/>
                <a:ea typeface="Arial" pitchFamily="34" charset="-122"/>
                <a:cs typeface="Arial" pitchFamily="34" charset="-120"/>
              </a:rPr>
              <a:t>— tenants submit and track repairs in-app.</a:t>
            </a:r>
            <a:endParaRPr lang="en-US" sz="1575" dirty="0"/>
          </a:p>
        </p:txBody>
      </p:sp>
      <p:sp>
        <p:nvSpPr>
          <p:cNvPr id="49" name="Shape 47"/>
          <p:cNvSpPr/>
          <p:nvPr/>
        </p:nvSpPr>
        <p:spPr>
          <a:xfrm>
            <a:off x="12094568" y="8114209"/>
            <a:ext cx="9525" cy="1137741"/>
          </a:xfrm>
          <a:prstGeom prst="rect">
            <a:avLst/>
          </a:prstGeom>
          <a:solidFill>
            <a:srgbClr val="ECEFEA">
              <a:alpha val="14000"/>
            </a:srgbClr>
          </a:solidFill>
          <a:ln/>
        </p:spPr>
      </p:sp>
      <p:sp>
        <p:nvSpPr>
          <p:cNvPr id="50" name="Shape 48"/>
          <p:cNvSpPr/>
          <p:nvPr/>
        </p:nvSpPr>
        <p:spPr>
          <a:xfrm>
            <a:off x="12329517" y="8133259"/>
            <a:ext cx="445790" cy="215900"/>
          </a:xfrm>
          <a:prstGeom prst="roundRect">
            <a:avLst>
              <a:gd name="adj" fmla="val 17647"/>
            </a:avLst>
          </a:prstGeom>
          <a:solidFill>
            <a:srgbClr val="7CC79B">
              <a:alpha val="14000"/>
            </a:srgbClr>
          </a:solidFill>
          <a:ln/>
        </p:spPr>
      </p:sp>
      <p:sp>
        <p:nvSpPr>
          <p:cNvPr id="51" name="Text 49"/>
          <p:cNvSpPr/>
          <p:nvPr/>
        </p:nvSpPr>
        <p:spPr>
          <a:xfrm>
            <a:off x="12405717" y="8171359"/>
            <a:ext cx="369590" cy="177800"/>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7CC79B"/>
                </a:solidFill>
                <a:latin typeface="Courier New" pitchFamily="34" charset="0"/>
                <a:ea typeface="Courier New" pitchFamily="34" charset="-122"/>
                <a:cs typeface="Courier New" pitchFamily="34" charset="-120"/>
              </a:rPr>
              <a:t>RENT</a:t>
            </a:r>
            <a:endParaRPr lang="en-US" sz="825" dirty="0"/>
          </a:p>
        </p:txBody>
      </p:sp>
      <p:sp>
        <p:nvSpPr>
          <p:cNvPr id="52" name="Text 50"/>
          <p:cNvSpPr/>
          <p:nvPr/>
        </p:nvSpPr>
        <p:spPr>
          <a:xfrm>
            <a:off x="12899132" y="8114209"/>
            <a:ext cx="4490871" cy="598091"/>
          </a:xfrm>
          <a:prstGeom prst="rect">
            <a:avLst/>
          </a:prstGeom>
          <a:noFill/>
          <a:ln/>
        </p:spPr>
        <p:txBody>
          <a:bodyPr wrap="square" lIns="25400" tIns="25400" rIns="25400" bIns="25400" rtlCol="0" anchor="t">
            <a:normAutofit/>
          </a:bodyPr>
          <a:lstStyle/>
          <a:p>
            <a:pPr algn="l" indent="0" marL="0">
              <a:lnSpc>
                <a:spcPct val="140000"/>
              </a:lnSpc>
              <a:buNone/>
            </a:pPr>
            <a:r>
              <a:rPr lang="en-US" sz="1575" b="1" dirty="0">
                <a:solidFill>
                  <a:srgbClr val="FFFFFF"/>
                </a:solidFill>
                <a:latin typeface="Arial" pitchFamily="34" charset="0"/>
                <a:ea typeface="Arial" pitchFamily="34" charset="-122"/>
                <a:cs typeface="Arial" pitchFamily="34" charset="-120"/>
              </a:rPr>
              <a:t>Monthly rent payments </a:t>
            </a:r>
            <a:pPr algn="l" indent="0" marL="0">
              <a:lnSpc>
                <a:spcPct val="140000"/>
              </a:lnSpc>
              <a:buNone/>
            </a:pPr>
            <a:r>
              <a:rPr lang="en-US" sz="1575" dirty="0">
                <a:solidFill>
                  <a:srgbClr val="DFE6DF"/>
                </a:solidFill>
                <a:latin typeface="Arial" pitchFamily="34" charset="0"/>
                <a:ea typeface="Arial" pitchFamily="34" charset="-122"/>
                <a:cs typeface="Arial" pitchFamily="34" charset="-120"/>
              </a:rPr>
              <a:t>collected through Settleed — full property management.</a:t>
            </a:r>
            <a:endParaRPr lang="en-US" sz="1575" dirty="0"/>
          </a:p>
        </p:txBody>
      </p:sp>
      <p:sp>
        <p:nvSpPr>
          <p:cNvPr id="53" name="Text 51"/>
          <p:cNvSpPr/>
          <p:nvPr/>
        </p:nvSpPr>
        <p:spPr>
          <a:xfrm>
            <a:off x="800100" y="9594850"/>
            <a:ext cx="2480221"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SETTLEED · HOW IT WORKS</a:t>
            </a:r>
            <a:endParaRPr lang="en-US" sz="990" dirty="0"/>
          </a:p>
        </p:txBody>
      </p:sp>
      <p:sp>
        <p:nvSpPr>
          <p:cNvPr id="54" name="Text 52"/>
          <p:cNvSpPr/>
          <p:nvPr/>
        </p:nvSpPr>
        <p:spPr>
          <a:xfrm>
            <a:off x="16801605" y="9594850"/>
            <a:ext cx="762496"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08 / 16</a:t>
            </a:r>
            <a:endParaRPr lang="en-US" sz="99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800100" y="1424384"/>
            <a:ext cx="16687800" cy="9525"/>
          </a:xfrm>
          <a:prstGeom prst="rect">
            <a:avLst/>
          </a:prstGeom>
          <a:solidFill>
            <a:srgbClr val="18221E">
              <a:alpha val="16000"/>
            </a:srgbClr>
          </a:solidFill>
          <a:ln/>
        </p:spPr>
      </p:sp>
      <p:sp>
        <p:nvSpPr>
          <p:cNvPr id="3" name="Text 1"/>
          <p:cNvSpPr/>
          <p:nvPr/>
        </p:nvSpPr>
        <p:spPr>
          <a:xfrm>
            <a:off x="800100" y="609600"/>
            <a:ext cx="11311990" cy="215900"/>
          </a:xfrm>
          <a:prstGeom prst="rect">
            <a:avLst/>
          </a:prstGeom>
          <a:noFill/>
          <a:ln/>
        </p:spPr>
        <p:txBody>
          <a:bodyPr wrap="square" lIns="25400" tIns="25400" rIns="25400" bIns="25400" rtlCol="0" anchor="t">
            <a:normAutofit/>
          </a:bodyPr>
          <a:lstStyle/>
          <a:p>
            <a:pPr algn="l" indent="0" marL="0">
              <a:buNone/>
            </a:pPr>
            <a:r>
              <a:rPr lang="en-US" sz="1073" spc="215" kern="0" dirty="0">
                <a:solidFill>
                  <a:srgbClr val="2C7A58"/>
                </a:solidFill>
                <a:latin typeface="Courier New" pitchFamily="34" charset="0"/>
                <a:ea typeface="Courier New" pitchFamily="34" charset="-122"/>
                <a:cs typeface="Courier New" pitchFamily="34" charset="-120"/>
              </a:rPr>
              <a:t>COMPETITION · WHY WE WIN</a:t>
            </a:r>
            <a:endParaRPr lang="en-US" sz="1073" dirty="0"/>
          </a:p>
        </p:txBody>
      </p:sp>
      <p:sp>
        <p:nvSpPr>
          <p:cNvPr id="4" name="Text 2"/>
          <p:cNvSpPr/>
          <p:nvPr/>
        </p:nvSpPr>
        <p:spPr>
          <a:xfrm>
            <a:off x="800100" y="844550"/>
            <a:ext cx="11311990" cy="465534"/>
          </a:xfrm>
          <a:prstGeom prst="rect">
            <a:avLst/>
          </a:prstGeom>
          <a:noFill/>
          <a:ln/>
        </p:spPr>
        <p:txBody>
          <a:bodyPr wrap="square" lIns="25400" tIns="25400" rIns="25400" bIns="25400" rtlCol="0" anchor="t">
            <a:normAutofit/>
          </a:bodyPr>
          <a:lstStyle/>
          <a:p>
            <a:pPr algn="l" indent="0" marL="0">
              <a:lnSpc>
                <a:spcPct val="102000"/>
              </a:lnSpc>
              <a:buNone/>
            </a:pPr>
            <a:r>
              <a:rPr lang="en-US" sz="3300" b="1" spc="-66" kern="0" dirty="0">
                <a:solidFill>
                  <a:srgbClr val="14201A"/>
                </a:solidFill>
                <a:latin typeface="Arial" pitchFamily="34" charset="0"/>
                <a:ea typeface="Arial" pitchFamily="34" charset="-122"/>
                <a:cs typeface="Arial" pitchFamily="34" charset="-120"/>
              </a:rPr>
              <a:t>The incumbents are directories. We're infrastructure.</a:t>
            </a:r>
            <a:endParaRPr lang="en-US" sz="3300" dirty="0"/>
          </a:p>
        </p:txBody>
      </p:sp>
      <p:sp>
        <p:nvSpPr>
          <p:cNvPr id="5" name="Text 3"/>
          <p:cNvSpPr/>
          <p:nvPr/>
        </p:nvSpPr>
        <p:spPr>
          <a:xfrm>
            <a:off x="16409491" y="1113234"/>
            <a:ext cx="1154609"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POSITIONING</a:t>
            </a:r>
            <a:endParaRPr lang="en-US" sz="990" dirty="0"/>
          </a:p>
        </p:txBody>
      </p:sp>
      <p:sp>
        <p:nvSpPr>
          <p:cNvPr id="6" name="Shape 4"/>
          <p:cNvSpPr/>
          <p:nvPr/>
        </p:nvSpPr>
        <p:spPr>
          <a:xfrm>
            <a:off x="800100" y="1659334"/>
            <a:ext cx="16687800" cy="7764066"/>
          </a:xfrm>
          <a:prstGeom prst="roundRect">
            <a:avLst>
              <a:gd name="adj" fmla="val 981"/>
            </a:avLst>
          </a:prstGeom>
          <a:solidFill>
            <a:srgbClr val="18221E">
              <a:alpha val="14000"/>
            </a:srgbClr>
          </a:solidFill>
          <a:ln w="6350">
            <a:solidFill>
              <a:srgbClr val="18221E">
                <a:alpha val="14000"/>
              </a:srgbClr>
            </a:solidFill>
            <a:prstDash val="solid"/>
          </a:ln>
        </p:spPr>
      </p:sp>
      <p:sp>
        <p:nvSpPr>
          <p:cNvPr id="7" name="Shape 5"/>
          <p:cNvSpPr/>
          <p:nvPr/>
        </p:nvSpPr>
        <p:spPr>
          <a:xfrm>
            <a:off x="806450" y="1665684"/>
            <a:ext cx="4080768" cy="1252141"/>
          </a:xfrm>
          <a:prstGeom prst="rect">
            <a:avLst/>
          </a:prstGeom>
          <a:solidFill>
            <a:srgbClr val="16201C"/>
          </a:solidFill>
          <a:ln/>
        </p:spPr>
      </p:sp>
      <p:sp>
        <p:nvSpPr>
          <p:cNvPr id="8" name="Text 6"/>
          <p:cNvSpPr/>
          <p:nvPr/>
        </p:nvSpPr>
        <p:spPr>
          <a:xfrm>
            <a:off x="996950" y="1818084"/>
            <a:ext cx="3822191" cy="985441"/>
          </a:xfrm>
          <a:prstGeom prst="rect">
            <a:avLst/>
          </a:prstGeom>
          <a:noFill/>
          <a:ln/>
        </p:spPr>
        <p:txBody>
          <a:bodyPr wrap="square" lIns="25400" tIns="25400" rIns="25400" bIns="25400" rtlCol="0" anchor="b">
            <a:normAutofit/>
          </a:bodyPr>
          <a:lstStyle/>
          <a:p>
            <a:pPr algn="l" indent="0" marL="0">
              <a:buNone/>
            </a:pPr>
            <a:r>
              <a:rPr lang="en-US" sz="900" spc="90" kern="0" dirty="0">
                <a:solidFill>
                  <a:srgbClr val="CFD6CF"/>
                </a:solidFill>
                <a:latin typeface="Courier New" pitchFamily="34" charset="0"/>
                <a:ea typeface="Courier New" pitchFamily="34" charset="-122"/>
                <a:cs typeface="Courier New" pitchFamily="34" charset="-120"/>
              </a:rPr>
              <a:t>CAPABILITY</a:t>
            </a:r>
            <a:endParaRPr lang="en-US" sz="900" dirty="0"/>
          </a:p>
        </p:txBody>
      </p:sp>
      <p:sp>
        <p:nvSpPr>
          <p:cNvPr id="9" name="Shape 7"/>
          <p:cNvSpPr/>
          <p:nvPr/>
        </p:nvSpPr>
        <p:spPr>
          <a:xfrm>
            <a:off x="4896743" y="1665684"/>
            <a:ext cx="3138984" cy="1252141"/>
          </a:xfrm>
          <a:prstGeom prst="rect">
            <a:avLst/>
          </a:prstGeom>
          <a:solidFill>
            <a:srgbClr val="16201C"/>
          </a:solidFill>
          <a:ln/>
        </p:spPr>
      </p:sp>
      <p:sp>
        <p:nvSpPr>
          <p:cNvPr id="10" name="Text 8"/>
          <p:cNvSpPr/>
          <p:nvPr/>
        </p:nvSpPr>
        <p:spPr>
          <a:xfrm>
            <a:off x="5068193" y="1818084"/>
            <a:ext cx="2890253" cy="985441"/>
          </a:xfrm>
          <a:prstGeom prst="rect">
            <a:avLst/>
          </a:prstGeom>
          <a:noFill/>
          <a:ln/>
        </p:spPr>
        <p:txBody>
          <a:bodyPr wrap="square" lIns="25400" tIns="25400" rIns="25400" bIns="25400" rtlCol="0" anchor="b">
            <a:normAutofit/>
          </a:bodyPr>
          <a:lstStyle/>
          <a:p>
            <a:pPr algn="l" indent="0" marL="0">
              <a:buNone/>
            </a:pPr>
            <a:r>
              <a:rPr lang="en-US" sz="900" spc="54" kern="0" dirty="0">
                <a:solidFill>
                  <a:srgbClr val="CFD6CF"/>
                </a:solidFill>
                <a:latin typeface="Courier New" pitchFamily="34" charset="0"/>
                <a:ea typeface="Courier New" pitchFamily="34" charset="-122"/>
                <a:cs typeface="Courier New" pitchFamily="34" charset="-120"/>
              </a:rPr>
              <a:t>GOSECTION8</a:t>
            </a:r>
            <a:endParaRPr lang="en-US" sz="900" dirty="0"/>
          </a:p>
        </p:txBody>
      </p:sp>
      <p:sp>
        <p:nvSpPr>
          <p:cNvPr id="11" name="Shape 9"/>
          <p:cNvSpPr/>
          <p:nvPr/>
        </p:nvSpPr>
        <p:spPr>
          <a:xfrm>
            <a:off x="8045252" y="1665684"/>
            <a:ext cx="3139083" cy="1252141"/>
          </a:xfrm>
          <a:prstGeom prst="rect">
            <a:avLst/>
          </a:prstGeom>
          <a:solidFill>
            <a:srgbClr val="16201C"/>
          </a:solidFill>
          <a:ln/>
        </p:spPr>
      </p:sp>
      <p:sp>
        <p:nvSpPr>
          <p:cNvPr id="12" name="Text 10"/>
          <p:cNvSpPr/>
          <p:nvPr/>
        </p:nvSpPr>
        <p:spPr>
          <a:xfrm>
            <a:off x="8216702" y="1818084"/>
            <a:ext cx="2890355" cy="985441"/>
          </a:xfrm>
          <a:prstGeom prst="rect">
            <a:avLst/>
          </a:prstGeom>
          <a:noFill/>
          <a:ln/>
        </p:spPr>
        <p:txBody>
          <a:bodyPr wrap="square" lIns="25400" tIns="25400" rIns="25400" bIns="25400" rtlCol="0" anchor="b">
            <a:normAutofit/>
          </a:bodyPr>
          <a:lstStyle/>
          <a:p>
            <a:pPr algn="l" indent="0" marL="0">
              <a:buNone/>
            </a:pPr>
            <a:r>
              <a:rPr lang="en-US" sz="900" spc="54" kern="0" dirty="0">
                <a:solidFill>
                  <a:srgbClr val="CFD6CF"/>
                </a:solidFill>
                <a:latin typeface="Courier New" pitchFamily="34" charset="0"/>
                <a:ea typeface="Courier New" pitchFamily="34" charset="-122"/>
                <a:cs typeface="Courier New" pitchFamily="34" charset="-120"/>
              </a:rPr>
              <a:t>AFFORDABLE­HOUSING.COM</a:t>
            </a:r>
            <a:endParaRPr lang="en-US" sz="900" dirty="0"/>
          </a:p>
        </p:txBody>
      </p:sp>
      <p:sp>
        <p:nvSpPr>
          <p:cNvPr id="13" name="Shape 11"/>
          <p:cNvSpPr/>
          <p:nvPr/>
        </p:nvSpPr>
        <p:spPr>
          <a:xfrm>
            <a:off x="11193860" y="1665684"/>
            <a:ext cx="3139083" cy="1252141"/>
          </a:xfrm>
          <a:prstGeom prst="rect">
            <a:avLst/>
          </a:prstGeom>
          <a:solidFill>
            <a:srgbClr val="16201C"/>
          </a:solidFill>
          <a:ln/>
        </p:spPr>
      </p:sp>
      <p:sp>
        <p:nvSpPr>
          <p:cNvPr id="14" name="Text 12"/>
          <p:cNvSpPr/>
          <p:nvPr/>
        </p:nvSpPr>
        <p:spPr>
          <a:xfrm>
            <a:off x="11365310" y="1818084"/>
            <a:ext cx="2890355" cy="985441"/>
          </a:xfrm>
          <a:prstGeom prst="rect">
            <a:avLst/>
          </a:prstGeom>
          <a:noFill/>
          <a:ln/>
        </p:spPr>
        <p:txBody>
          <a:bodyPr wrap="square" lIns="25400" tIns="25400" rIns="25400" bIns="25400" rtlCol="0" anchor="b">
            <a:normAutofit/>
          </a:bodyPr>
          <a:lstStyle/>
          <a:p>
            <a:pPr algn="l" indent="0" marL="0">
              <a:buNone/>
            </a:pPr>
            <a:r>
              <a:rPr lang="en-US" sz="900" spc="54" kern="0" dirty="0">
                <a:solidFill>
                  <a:srgbClr val="CFD6CF"/>
                </a:solidFill>
                <a:latin typeface="Courier New" pitchFamily="34" charset="0"/>
                <a:ea typeface="Courier New" pitchFamily="34" charset="-122"/>
                <a:cs typeface="Courier New" pitchFamily="34" charset="-120"/>
              </a:rPr>
              <a:t>VOUCHER­MATCH.NYC</a:t>
            </a:r>
            <a:endParaRPr lang="en-US" sz="900" dirty="0"/>
          </a:p>
        </p:txBody>
      </p:sp>
      <p:sp>
        <p:nvSpPr>
          <p:cNvPr id="15" name="Shape 13"/>
          <p:cNvSpPr/>
          <p:nvPr/>
        </p:nvSpPr>
        <p:spPr>
          <a:xfrm>
            <a:off x="14342468" y="1665684"/>
            <a:ext cx="3138984" cy="1252141"/>
          </a:xfrm>
          <a:prstGeom prst="rect">
            <a:avLst/>
          </a:prstGeom>
          <a:solidFill>
            <a:srgbClr val="1F5E43"/>
          </a:solidFill>
          <a:ln/>
        </p:spPr>
      </p:sp>
      <p:sp>
        <p:nvSpPr>
          <p:cNvPr id="16" name="Text 14"/>
          <p:cNvSpPr/>
          <p:nvPr/>
        </p:nvSpPr>
        <p:spPr>
          <a:xfrm>
            <a:off x="14513918" y="1818084"/>
            <a:ext cx="2890253" cy="985441"/>
          </a:xfrm>
          <a:prstGeom prst="rect">
            <a:avLst/>
          </a:prstGeom>
          <a:noFill/>
          <a:ln/>
        </p:spPr>
        <p:txBody>
          <a:bodyPr wrap="square" lIns="25400" tIns="25400" rIns="25400" bIns="25400" rtlCol="0" anchor="b">
            <a:normAutofit/>
          </a:bodyPr>
          <a:lstStyle/>
          <a:p>
            <a:pPr algn="l" indent="0" marL="0">
              <a:buNone/>
            </a:pPr>
            <a:r>
              <a:rPr lang="en-US" sz="900" b="1" spc="54" kern="0" dirty="0">
                <a:solidFill>
                  <a:srgbClr val="FFFFFF"/>
                </a:solidFill>
                <a:latin typeface="Courier New" pitchFamily="34" charset="0"/>
                <a:ea typeface="Courier New" pitchFamily="34" charset="-122"/>
                <a:cs typeface="Courier New" pitchFamily="34" charset="-120"/>
              </a:rPr>
              <a:t>SETTLEED</a:t>
            </a:r>
            <a:endParaRPr lang="en-US" sz="900" dirty="0"/>
          </a:p>
        </p:txBody>
      </p:sp>
      <p:sp>
        <p:nvSpPr>
          <p:cNvPr id="17" name="Shape 15"/>
          <p:cNvSpPr/>
          <p:nvPr/>
        </p:nvSpPr>
        <p:spPr>
          <a:xfrm>
            <a:off x="806450" y="2927350"/>
            <a:ext cx="4080768" cy="1290241"/>
          </a:xfrm>
          <a:prstGeom prst="rect">
            <a:avLst/>
          </a:prstGeom>
          <a:solidFill>
            <a:srgbClr val="FFFFFF"/>
          </a:solidFill>
          <a:ln/>
        </p:spPr>
      </p:sp>
      <p:sp>
        <p:nvSpPr>
          <p:cNvPr id="18" name="Text 16"/>
          <p:cNvSpPr/>
          <p:nvPr/>
        </p:nvSpPr>
        <p:spPr>
          <a:xfrm>
            <a:off x="996950" y="3070225"/>
            <a:ext cx="3822191" cy="1042591"/>
          </a:xfrm>
          <a:prstGeom prst="rect">
            <a:avLst/>
          </a:prstGeom>
          <a:noFill/>
          <a:ln/>
        </p:spPr>
        <p:txBody>
          <a:bodyPr wrap="square" lIns="25400" tIns="25400" rIns="25400" bIns="25400" rtlCol="0" anchor="t">
            <a:normAutofit/>
          </a:bodyPr>
          <a:lstStyle/>
          <a:p>
            <a:pPr algn="l" indent="0" marL="0">
              <a:buNone/>
            </a:pPr>
            <a:r>
              <a:rPr lang="en-US" sz="1200" b="1" dirty="0">
                <a:solidFill>
                  <a:srgbClr val="10201A"/>
                </a:solidFill>
                <a:latin typeface="Arial" pitchFamily="34" charset="0"/>
                <a:ea typeface="Arial" pitchFamily="34" charset="-122"/>
                <a:cs typeface="Arial" pitchFamily="34" charset="-120"/>
              </a:rPr>
              <a:t>Section 8-specific</a:t>
            </a:r>
            <a:endParaRPr lang="en-US" sz="1200" dirty="0"/>
          </a:p>
        </p:txBody>
      </p:sp>
      <p:sp>
        <p:nvSpPr>
          <p:cNvPr id="19" name="Shape 17"/>
          <p:cNvSpPr/>
          <p:nvPr/>
        </p:nvSpPr>
        <p:spPr>
          <a:xfrm>
            <a:off x="4896743" y="2927350"/>
            <a:ext cx="3138984" cy="1290241"/>
          </a:xfrm>
          <a:prstGeom prst="rect">
            <a:avLst/>
          </a:prstGeom>
          <a:solidFill>
            <a:srgbClr val="FFFFFF"/>
          </a:solidFill>
          <a:ln/>
        </p:spPr>
      </p:sp>
      <p:sp>
        <p:nvSpPr>
          <p:cNvPr id="20" name="Text 18"/>
          <p:cNvSpPr/>
          <p:nvPr/>
        </p:nvSpPr>
        <p:spPr>
          <a:xfrm>
            <a:off x="5068193" y="3070225"/>
            <a:ext cx="2890253" cy="1042591"/>
          </a:xfrm>
          <a:prstGeom prst="rect">
            <a:avLst/>
          </a:prstGeom>
          <a:noFill/>
          <a:ln/>
        </p:spPr>
        <p:txBody>
          <a:bodyPr wrap="square" lIns="25400" tIns="25400" rIns="25400" bIns="25400" rtlCol="0" anchor="t">
            <a:normAutofit/>
          </a:bodyPr>
          <a:lstStyle/>
          <a:p>
            <a:pPr algn="l" indent="0" marL="0">
              <a:buNone/>
            </a:pPr>
            <a:r>
              <a:rPr lang="en-US" sz="1200" dirty="0">
                <a:solidFill>
                  <a:srgbClr val="2C7A58"/>
                </a:solidFill>
                <a:latin typeface="Arial" pitchFamily="34" charset="0"/>
                <a:ea typeface="Arial" pitchFamily="34" charset="-122"/>
                <a:cs typeface="Arial" pitchFamily="34" charset="-120"/>
              </a:rPr>
              <a:t>Yes</a:t>
            </a:r>
            <a:endParaRPr lang="en-US" sz="1200" dirty="0"/>
          </a:p>
        </p:txBody>
      </p:sp>
      <p:sp>
        <p:nvSpPr>
          <p:cNvPr id="21" name="Shape 19"/>
          <p:cNvSpPr/>
          <p:nvPr/>
        </p:nvSpPr>
        <p:spPr>
          <a:xfrm>
            <a:off x="8045252" y="2927350"/>
            <a:ext cx="3139083" cy="1290241"/>
          </a:xfrm>
          <a:prstGeom prst="rect">
            <a:avLst/>
          </a:prstGeom>
          <a:solidFill>
            <a:srgbClr val="FFFFFF"/>
          </a:solidFill>
          <a:ln/>
        </p:spPr>
      </p:sp>
      <p:sp>
        <p:nvSpPr>
          <p:cNvPr id="22" name="Text 20"/>
          <p:cNvSpPr/>
          <p:nvPr/>
        </p:nvSpPr>
        <p:spPr>
          <a:xfrm>
            <a:off x="8216702" y="3070225"/>
            <a:ext cx="2890355" cy="1042591"/>
          </a:xfrm>
          <a:prstGeom prst="rect">
            <a:avLst/>
          </a:prstGeom>
          <a:noFill/>
          <a:ln/>
        </p:spPr>
        <p:txBody>
          <a:bodyPr wrap="square" lIns="25400" tIns="25400" rIns="25400" bIns="25400" rtlCol="0" anchor="t">
            <a:normAutofit/>
          </a:bodyPr>
          <a:lstStyle/>
          <a:p>
            <a:pPr algn="l" indent="0" marL="0">
              <a:buNone/>
            </a:pPr>
            <a:r>
              <a:rPr lang="en-US" sz="1200" dirty="0">
                <a:solidFill>
                  <a:srgbClr val="B04A4A"/>
                </a:solidFill>
                <a:latin typeface="Arial" pitchFamily="34" charset="0"/>
                <a:ea typeface="Arial" pitchFamily="34" charset="-122"/>
                <a:cs typeface="Arial" pitchFamily="34" charset="-120"/>
              </a:rPr>
              <a:t>No</a:t>
            </a:r>
            <a:endParaRPr lang="en-US" sz="1200" dirty="0"/>
          </a:p>
        </p:txBody>
      </p:sp>
      <p:sp>
        <p:nvSpPr>
          <p:cNvPr id="23" name="Shape 21"/>
          <p:cNvSpPr/>
          <p:nvPr/>
        </p:nvSpPr>
        <p:spPr>
          <a:xfrm>
            <a:off x="11193860" y="2927350"/>
            <a:ext cx="3139083" cy="1290241"/>
          </a:xfrm>
          <a:prstGeom prst="rect">
            <a:avLst/>
          </a:prstGeom>
          <a:solidFill>
            <a:srgbClr val="FFFFFF"/>
          </a:solidFill>
          <a:ln/>
        </p:spPr>
      </p:sp>
      <p:sp>
        <p:nvSpPr>
          <p:cNvPr id="24" name="Text 22"/>
          <p:cNvSpPr/>
          <p:nvPr/>
        </p:nvSpPr>
        <p:spPr>
          <a:xfrm>
            <a:off x="11365310" y="3070225"/>
            <a:ext cx="2890355" cy="1042591"/>
          </a:xfrm>
          <a:prstGeom prst="rect">
            <a:avLst/>
          </a:prstGeom>
          <a:noFill/>
          <a:ln/>
        </p:spPr>
        <p:txBody>
          <a:bodyPr wrap="square" lIns="25400" tIns="25400" rIns="25400" bIns="25400" rtlCol="0" anchor="t">
            <a:normAutofit/>
          </a:bodyPr>
          <a:lstStyle/>
          <a:p>
            <a:pPr algn="l" indent="0" marL="0">
              <a:buNone/>
            </a:pPr>
            <a:r>
              <a:rPr lang="en-US" sz="1200" dirty="0">
                <a:solidFill>
                  <a:srgbClr val="2C7A58"/>
                </a:solidFill>
                <a:latin typeface="Arial" pitchFamily="34" charset="0"/>
                <a:ea typeface="Arial" pitchFamily="34" charset="-122"/>
                <a:cs typeface="Arial" pitchFamily="34" charset="-120"/>
              </a:rPr>
              <a:t>Yes</a:t>
            </a:r>
            <a:endParaRPr lang="en-US" sz="1200" dirty="0"/>
          </a:p>
        </p:txBody>
      </p:sp>
      <p:sp>
        <p:nvSpPr>
          <p:cNvPr id="25" name="Shape 23"/>
          <p:cNvSpPr/>
          <p:nvPr/>
        </p:nvSpPr>
        <p:spPr>
          <a:xfrm>
            <a:off x="14342468" y="2927350"/>
            <a:ext cx="3138984" cy="1290241"/>
          </a:xfrm>
          <a:prstGeom prst="rect">
            <a:avLst/>
          </a:prstGeom>
          <a:solidFill>
            <a:srgbClr val="F1F7F3"/>
          </a:solidFill>
          <a:ln/>
        </p:spPr>
      </p:sp>
      <p:sp>
        <p:nvSpPr>
          <p:cNvPr id="26" name="Text 24"/>
          <p:cNvSpPr/>
          <p:nvPr/>
        </p:nvSpPr>
        <p:spPr>
          <a:xfrm>
            <a:off x="14513918" y="3070225"/>
            <a:ext cx="2890253" cy="1042591"/>
          </a:xfrm>
          <a:prstGeom prst="rect">
            <a:avLst/>
          </a:prstGeom>
          <a:noFill/>
          <a:ln/>
        </p:spPr>
        <p:txBody>
          <a:bodyPr wrap="square" lIns="25400" tIns="25400" rIns="25400" bIns="25400" rtlCol="0" anchor="t">
            <a:normAutofit/>
          </a:bodyPr>
          <a:lstStyle/>
          <a:p>
            <a:pPr algn="l" indent="0" marL="0">
              <a:buNone/>
            </a:pPr>
            <a:r>
              <a:rPr lang="en-US" sz="1200" b="1" dirty="0">
                <a:solidFill>
                  <a:srgbClr val="1F5E43"/>
                </a:solidFill>
                <a:latin typeface="Arial" pitchFamily="34" charset="0"/>
                <a:ea typeface="Arial" pitchFamily="34" charset="-122"/>
                <a:cs typeface="Arial" pitchFamily="34" charset="-120"/>
              </a:rPr>
              <a:t>Yes</a:t>
            </a:r>
            <a:endParaRPr lang="en-US" sz="1200" dirty="0"/>
          </a:p>
        </p:txBody>
      </p:sp>
      <p:sp>
        <p:nvSpPr>
          <p:cNvPr id="27" name="Shape 25"/>
          <p:cNvSpPr/>
          <p:nvPr/>
        </p:nvSpPr>
        <p:spPr>
          <a:xfrm>
            <a:off x="806450" y="4227116"/>
            <a:ext cx="4080768" cy="1290340"/>
          </a:xfrm>
          <a:prstGeom prst="rect">
            <a:avLst/>
          </a:prstGeom>
          <a:solidFill>
            <a:srgbClr val="FCFBF8"/>
          </a:solidFill>
          <a:ln/>
        </p:spPr>
      </p:sp>
      <p:sp>
        <p:nvSpPr>
          <p:cNvPr id="28" name="Text 26"/>
          <p:cNvSpPr/>
          <p:nvPr/>
        </p:nvSpPr>
        <p:spPr>
          <a:xfrm>
            <a:off x="996950" y="4369991"/>
            <a:ext cx="3822191" cy="1042690"/>
          </a:xfrm>
          <a:prstGeom prst="rect">
            <a:avLst/>
          </a:prstGeom>
          <a:noFill/>
          <a:ln/>
        </p:spPr>
        <p:txBody>
          <a:bodyPr wrap="square" lIns="25400" tIns="25400" rIns="25400" bIns="25400" rtlCol="0" anchor="t">
            <a:normAutofit/>
          </a:bodyPr>
          <a:lstStyle/>
          <a:p>
            <a:pPr algn="l" indent="0" marL="0">
              <a:buNone/>
            </a:pPr>
            <a:r>
              <a:rPr lang="en-US" sz="1200" b="1" dirty="0">
                <a:solidFill>
                  <a:srgbClr val="10201A"/>
                </a:solidFill>
                <a:latin typeface="Arial" pitchFamily="34" charset="0"/>
                <a:ea typeface="Arial" pitchFamily="34" charset="-122"/>
                <a:cs typeface="Arial" pitchFamily="34" charset="-120"/>
              </a:rPr>
              <a:t>Mobile-first</a:t>
            </a:r>
            <a:endParaRPr lang="en-US" sz="1200" dirty="0"/>
          </a:p>
        </p:txBody>
      </p:sp>
      <p:sp>
        <p:nvSpPr>
          <p:cNvPr id="29" name="Shape 27"/>
          <p:cNvSpPr/>
          <p:nvPr/>
        </p:nvSpPr>
        <p:spPr>
          <a:xfrm>
            <a:off x="4896743" y="4227116"/>
            <a:ext cx="3138984" cy="1290340"/>
          </a:xfrm>
          <a:prstGeom prst="rect">
            <a:avLst/>
          </a:prstGeom>
          <a:solidFill>
            <a:srgbClr val="FCFBF8"/>
          </a:solidFill>
          <a:ln/>
        </p:spPr>
      </p:sp>
      <p:sp>
        <p:nvSpPr>
          <p:cNvPr id="30" name="Text 28"/>
          <p:cNvSpPr/>
          <p:nvPr/>
        </p:nvSpPr>
        <p:spPr>
          <a:xfrm>
            <a:off x="5068193" y="4369991"/>
            <a:ext cx="2890253" cy="1042690"/>
          </a:xfrm>
          <a:prstGeom prst="rect">
            <a:avLst/>
          </a:prstGeom>
          <a:noFill/>
          <a:ln/>
        </p:spPr>
        <p:txBody>
          <a:bodyPr wrap="square" lIns="25400" tIns="25400" rIns="25400" bIns="25400" rtlCol="0" anchor="t">
            <a:normAutofit/>
          </a:bodyPr>
          <a:lstStyle/>
          <a:p>
            <a:pPr algn="l" indent="0" marL="0">
              <a:buNone/>
            </a:pPr>
            <a:r>
              <a:rPr lang="en-US" sz="1200" dirty="0">
                <a:solidFill>
                  <a:srgbClr val="B04A4A"/>
                </a:solidFill>
                <a:latin typeface="Arial" pitchFamily="34" charset="0"/>
                <a:ea typeface="Arial" pitchFamily="34" charset="-122"/>
                <a:cs typeface="Arial" pitchFamily="34" charset="-120"/>
              </a:rPr>
              <a:t>No</a:t>
            </a:r>
            <a:endParaRPr lang="en-US" sz="1200" dirty="0"/>
          </a:p>
        </p:txBody>
      </p:sp>
      <p:sp>
        <p:nvSpPr>
          <p:cNvPr id="31" name="Shape 29"/>
          <p:cNvSpPr/>
          <p:nvPr/>
        </p:nvSpPr>
        <p:spPr>
          <a:xfrm>
            <a:off x="8045252" y="4227116"/>
            <a:ext cx="3139083" cy="1290340"/>
          </a:xfrm>
          <a:prstGeom prst="rect">
            <a:avLst/>
          </a:prstGeom>
          <a:solidFill>
            <a:srgbClr val="FCFBF8"/>
          </a:solidFill>
          <a:ln/>
        </p:spPr>
      </p:sp>
      <p:sp>
        <p:nvSpPr>
          <p:cNvPr id="32" name="Text 30"/>
          <p:cNvSpPr/>
          <p:nvPr/>
        </p:nvSpPr>
        <p:spPr>
          <a:xfrm>
            <a:off x="8216702" y="4369991"/>
            <a:ext cx="2890355" cy="1042690"/>
          </a:xfrm>
          <a:prstGeom prst="rect">
            <a:avLst/>
          </a:prstGeom>
          <a:noFill/>
          <a:ln/>
        </p:spPr>
        <p:txBody>
          <a:bodyPr wrap="square" lIns="25400" tIns="25400" rIns="25400" bIns="25400" rtlCol="0" anchor="t">
            <a:normAutofit/>
          </a:bodyPr>
          <a:lstStyle/>
          <a:p>
            <a:pPr algn="l" indent="0" marL="0">
              <a:buNone/>
            </a:pPr>
            <a:r>
              <a:rPr lang="en-US" sz="1200" dirty="0">
                <a:solidFill>
                  <a:srgbClr val="C08A3E"/>
                </a:solidFill>
                <a:latin typeface="Arial" pitchFamily="34" charset="0"/>
                <a:ea typeface="Arial" pitchFamily="34" charset="-122"/>
                <a:cs typeface="Arial" pitchFamily="34" charset="-120"/>
              </a:rPr>
              <a:t>Partial</a:t>
            </a:r>
            <a:endParaRPr lang="en-US" sz="1200" dirty="0"/>
          </a:p>
        </p:txBody>
      </p:sp>
      <p:sp>
        <p:nvSpPr>
          <p:cNvPr id="33" name="Shape 31"/>
          <p:cNvSpPr/>
          <p:nvPr/>
        </p:nvSpPr>
        <p:spPr>
          <a:xfrm>
            <a:off x="11193860" y="4227116"/>
            <a:ext cx="3139083" cy="1290340"/>
          </a:xfrm>
          <a:prstGeom prst="rect">
            <a:avLst/>
          </a:prstGeom>
          <a:solidFill>
            <a:srgbClr val="FCFBF8"/>
          </a:solidFill>
          <a:ln/>
        </p:spPr>
      </p:sp>
      <p:sp>
        <p:nvSpPr>
          <p:cNvPr id="34" name="Text 32"/>
          <p:cNvSpPr/>
          <p:nvPr/>
        </p:nvSpPr>
        <p:spPr>
          <a:xfrm>
            <a:off x="11365310" y="4369991"/>
            <a:ext cx="2890355" cy="1042690"/>
          </a:xfrm>
          <a:prstGeom prst="rect">
            <a:avLst/>
          </a:prstGeom>
          <a:noFill/>
          <a:ln/>
        </p:spPr>
        <p:txBody>
          <a:bodyPr wrap="square" lIns="25400" tIns="25400" rIns="25400" bIns="25400" rtlCol="0" anchor="t">
            <a:normAutofit/>
          </a:bodyPr>
          <a:lstStyle/>
          <a:p>
            <a:pPr algn="l" indent="0" marL="0">
              <a:buNone/>
            </a:pPr>
            <a:r>
              <a:rPr lang="en-US" sz="1200" dirty="0">
                <a:solidFill>
                  <a:srgbClr val="C08A3E"/>
                </a:solidFill>
                <a:latin typeface="Arial" pitchFamily="34" charset="0"/>
                <a:ea typeface="Arial" pitchFamily="34" charset="-122"/>
                <a:cs typeface="Arial" pitchFamily="34" charset="-120"/>
              </a:rPr>
              <a:t>Basic</a:t>
            </a:r>
            <a:endParaRPr lang="en-US" sz="1200" dirty="0"/>
          </a:p>
        </p:txBody>
      </p:sp>
      <p:sp>
        <p:nvSpPr>
          <p:cNvPr id="35" name="Shape 33"/>
          <p:cNvSpPr/>
          <p:nvPr/>
        </p:nvSpPr>
        <p:spPr>
          <a:xfrm>
            <a:off x="14342468" y="4227116"/>
            <a:ext cx="3138984" cy="1290340"/>
          </a:xfrm>
          <a:prstGeom prst="rect">
            <a:avLst/>
          </a:prstGeom>
          <a:solidFill>
            <a:srgbClr val="EDF4EF"/>
          </a:solidFill>
          <a:ln/>
        </p:spPr>
      </p:sp>
      <p:sp>
        <p:nvSpPr>
          <p:cNvPr id="36" name="Text 34"/>
          <p:cNvSpPr/>
          <p:nvPr/>
        </p:nvSpPr>
        <p:spPr>
          <a:xfrm>
            <a:off x="14513918" y="4369991"/>
            <a:ext cx="2890253" cy="1042690"/>
          </a:xfrm>
          <a:prstGeom prst="rect">
            <a:avLst/>
          </a:prstGeom>
          <a:noFill/>
          <a:ln/>
        </p:spPr>
        <p:txBody>
          <a:bodyPr wrap="square" lIns="25400" tIns="25400" rIns="25400" bIns="25400" rtlCol="0" anchor="t">
            <a:normAutofit/>
          </a:bodyPr>
          <a:lstStyle/>
          <a:p>
            <a:pPr algn="l" indent="0" marL="0">
              <a:buNone/>
            </a:pPr>
            <a:r>
              <a:rPr lang="en-US" sz="1200" b="1" dirty="0">
                <a:solidFill>
                  <a:srgbClr val="1F5E43"/>
                </a:solidFill>
                <a:latin typeface="Arial" pitchFamily="34" charset="0"/>
                <a:ea typeface="Arial" pitchFamily="34" charset="-122"/>
                <a:cs typeface="Arial" pitchFamily="34" charset="-120"/>
              </a:rPr>
              <a:t>Yes</a:t>
            </a:r>
            <a:endParaRPr lang="en-US" sz="1200" dirty="0"/>
          </a:p>
        </p:txBody>
      </p:sp>
      <p:sp>
        <p:nvSpPr>
          <p:cNvPr id="37" name="Shape 35"/>
          <p:cNvSpPr/>
          <p:nvPr/>
        </p:nvSpPr>
        <p:spPr>
          <a:xfrm>
            <a:off x="806450" y="5526981"/>
            <a:ext cx="4080768" cy="1290340"/>
          </a:xfrm>
          <a:prstGeom prst="rect">
            <a:avLst/>
          </a:prstGeom>
          <a:solidFill>
            <a:srgbClr val="FFFFFF"/>
          </a:solidFill>
          <a:ln/>
        </p:spPr>
      </p:sp>
      <p:sp>
        <p:nvSpPr>
          <p:cNvPr id="38" name="Text 36"/>
          <p:cNvSpPr/>
          <p:nvPr/>
        </p:nvSpPr>
        <p:spPr>
          <a:xfrm>
            <a:off x="996950" y="5669856"/>
            <a:ext cx="3822191" cy="1042690"/>
          </a:xfrm>
          <a:prstGeom prst="rect">
            <a:avLst/>
          </a:prstGeom>
          <a:noFill/>
          <a:ln/>
        </p:spPr>
        <p:txBody>
          <a:bodyPr wrap="square" lIns="25400" tIns="25400" rIns="25400" bIns="25400" rtlCol="0" anchor="t">
            <a:normAutofit/>
          </a:bodyPr>
          <a:lstStyle/>
          <a:p>
            <a:pPr algn="l" indent="0" marL="0">
              <a:buNone/>
            </a:pPr>
            <a:r>
              <a:rPr lang="en-US" sz="1200" b="1" dirty="0">
                <a:solidFill>
                  <a:srgbClr val="10201A"/>
                </a:solidFill>
                <a:latin typeface="Arial" pitchFamily="34" charset="0"/>
                <a:ea typeface="Arial" pitchFamily="34" charset="-122"/>
                <a:cs typeface="Arial" pitchFamily="34" charset="-120"/>
              </a:rPr>
              <a:t>Verifies both sides</a:t>
            </a:r>
            <a:endParaRPr lang="en-US" sz="1200" dirty="0"/>
          </a:p>
        </p:txBody>
      </p:sp>
      <p:sp>
        <p:nvSpPr>
          <p:cNvPr id="39" name="Shape 37"/>
          <p:cNvSpPr/>
          <p:nvPr/>
        </p:nvSpPr>
        <p:spPr>
          <a:xfrm>
            <a:off x="4896743" y="5526981"/>
            <a:ext cx="3138984" cy="1290340"/>
          </a:xfrm>
          <a:prstGeom prst="rect">
            <a:avLst/>
          </a:prstGeom>
          <a:solidFill>
            <a:srgbClr val="FFFFFF"/>
          </a:solidFill>
          <a:ln/>
        </p:spPr>
      </p:sp>
      <p:sp>
        <p:nvSpPr>
          <p:cNvPr id="40" name="Text 38"/>
          <p:cNvSpPr/>
          <p:nvPr/>
        </p:nvSpPr>
        <p:spPr>
          <a:xfrm>
            <a:off x="5068193" y="5669856"/>
            <a:ext cx="2890253" cy="1042690"/>
          </a:xfrm>
          <a:prstGeom prst="rect">
            <a:avLst/>
          </a:prstGeom>
          <a:noFill/>
          <a:ln/>
        </p:spPr>
        <p:txBody>
          <a:bodyPr wrap="square" lIns="25400" tIns="25400" rIns="25400" bIns="25400" rtlCol="0" anchor="t">
            <a:normAutofit/>
          </a:bodyPr>
          <a:lstStyle/>
          <a:p>
            <a:pPr algn="l" indent="0" marL="0">
              <a:buNone/>
            </a:pPr>
            <a:r>
              <a:rPr lang="en-US" sz="1200" dirty="0">
                <a:solidFill>
                  <a:srgbClr val="B04A4A"/>
                </a:solidFill>
                <a:latin typeface="Arial" pitchFamily="34" charset="0"/>
                <a:ea typeface="Arial" pitchFamily="34" charset="-122"/>
                <a:cs typeface="Arial" pitchFamily="34" charset="-120"/>
              </a:rPr>
              <a:t>No</a:t>
            </a:r>
            <a:endParaRPr lang="en-US" sz="1200" dirty="0"/>
          </a:p>
        </p:txBody>
      </p:sp>
      <p:sp>
        <p:nvSpPr>
          <p:cNvPr id="41" name="Shape 39"/>
          <p:cNvSpPr/>
          <p:nvPr/>
        </p:nvSpPr>
        <p:spPr>
          <a:xfrm>
            <a:off x="8045252" y="5526981"/>
            <a:ext cx="3139083" cy="1290340"/>
          </a:xfrm>
          <a:prstGeom prst="rect">
            <a:avLst/>
          </a:prstGeom>
          <a:solidFill>
            <a:srgbClr val="FFFFFF"/>
          </a:solidFill>
          <a:ln/>
        </p:spPr>
      </p:sp>
      <p:sp>
        <p:nvSpPr>
          <p:cNvPr id="42" name="Text 40"/>
          <p:cNvSpPr/>
          <p:nvPr/>
        </p:nvSpPr>
        <p:spPr>
          <a:xfrm>
            <a:off x="8216702" y="5669856"/>
            <a:ext cx="2890355" cy="1042690"/>
          </a:xfrm>
          <a:prstGeom prst="rect">
            <a:avLst/>
          </a:prstGeom>
          <a:noFill/>
          <a:ln/>
        </p:spPr>
        <p:txBody>
          <a:bodyPr wrap="square" lIns="25400" tIns="25400" rIns="25400" bIns="25400" rtlCol="0" anchor="t">
            <a:normAutofit/>
          </a:bodyPr>
          <a:lstStyle/>
          <a:p>
            <a:pPr algn="l" indent="0" marL="0">
              <a:buNone/>
            </a:pPr>
            <a:r>
              <a:rPr lang="en-US" sz="1200" dirty="0">
                <a:solidFill>
                  <a:srgbClr val="B04A4A"/>
                </a:solidFill>
                <a:latin typeface="Arial" pitchFamily="34" charset="0"/>
                <a:ea typeface="Arial" pitchFamily="34" charset="-122"/>
                <a:cs typeface="Arial" pitchFamily="34" charset="-120"/>
              </a:rPr>
              <a:t>No</a:t>
            </a:r>
            <a:endParaRPr lang="en-US" sz="1200" dirty="0"/>
          </a:p>
        </p:txBody>
      </p:sp>
      <p:sp>
        <p:nvSpPr>
          <p:cNvPr id="43" name="Shape 41"/>
          <p:cNvSpPr/>
          <p:nvPr/>
        </p:nvSpPr>
        <p:spPr>
          <a:xfrm>
            <a:off x="11193860" y="5526981"/>
            <a:ext cx="3139083" cy="1290340"/>
          </a:xfrm>
          <a:prstGeom prst="rect">
            <a:avLst/>
          </a:prstGeom>
          <a:solidFill>
            <a:srgbClr val="FFFFFF"/>
          </a:solidFill>
          <a:ln/>
        </p:spPr>
      </p:sp>
      <p:sp>
        <p:nvSpPr>
          <p:cNvPr id="44" name="Text 42"/>
          <p:cNvSpPr/>
          <p:nvPr/>
        </p:nvSpPr>
        <p:spPr>
          <a:xfrm>
            <a:off x="11365310" y="5669856"/>
            <a:ext cx="2890355" cy="1042690"/>
          </a:xfrm>
          <a:prstGeom prst="rect">
            <a:avLst/>
          </a:prstGeom>
          <a:noFill/>
          <a:ln/>
        </p:spPr>
        <p:txBody>
          <a:bodyPr wrap="square" lIns="25400" tIns="25400" rIns="25400" bIns="25400" rtlCol="0" anchor="t">
            <a:normAutofit/>
          </a:bodyPr>
          <a:lstStyle/>
          <a:p>
            <a:pPr algn="l" indent="0" marL="0">
              <a:buNone/>
            </a:pPr>
            <a:r>
              <a:rPr lang="en-US" sz="1200" dirty="0">
                <a:solidFill>
                  <a:srgbClr val="B04A4A"/>
                </a:solidFill>
                <a:latin typeface="Arial" pitchFamily="34" charset="0"/>
                <a:ea typeface="Arial" pitchFamily="34" charset="-122"/>
                <a:cs typeface="Arial" pitchFamily="34" charset="-120"/>
              </a:rPr>
              <a:t>No</a:t>
            </a:r>
            <a:endParaRPr lang="en-US" sz="1200" dirty="0"/>
          </a:p>
        </p:txBody>
      </p:sp>
      <p:sp>
        <p:nvSpPr>
          <p:cNvPr id="45" name="Shape 43"/>
          <p:cNvSpPr/>
          <p:nvPr/>
        </p:nvSpPr>
        <p:spPr>
          <a:xfrm>
            <a:off x="14342468" y="5526981"/>
            <a:ext cx="3138984" cy="1290340"/>
          </a:xfrm>
          <a:prstGeom prst="rect">
            <a:avLst/>
          </a:prstGeom>
          <a:solidFill>
            <a:srgbClr val="F1F7F3"/>
          </a:solidFill>
          <a:ln/>
        </p:spPr>
      </p:sp>
      <p:sp>
        <p:nvSpPr>
          <p:cNvPr id="46" name="Text 44"/>
          <p:cNvSpPr/>
          <p:nvPr/>
        </p:nvSpPr>
        <p:spPr>
          <a:xfrm>
            <a:off x="14513918" y="5669856"/>
            <a:ext cx="2890253" cy="1042690"/>
          </a:xfrm>
          <a:prstGeom prst="rect">
            <a:avLst/>
          </a:prstGeom>
          <a:noFill/>
          <a:ln/>
        </p:spPr>
        <p:txBody>
          <a:bodyPr wrap="square" lIns="25400" tIns="25400" rIns="25400" bIns="25400" rtlCol="0" anchor="t">
            <a:normAutofit/>
          </a:bodyPr>
          <a:lstStyle/>
          <a:p>
            <a:pPr algn="l" indent="0" marL="0">
              <a:buNone/>
            </a:pPr>
            <a:r>
              <a:rPr lang="en-US" sz="1200" b="1" dirty="0">
                <a:solidFill>
                  <a:srgbClr val="1F5E43"/>
                </a:solidFill>
                <a:latin typeface="Arial" pitchFamily="34" charset="0"/>
                <a:ea typeface="Arial" pitchFamily="34" charset="-122"/>
                <a:cs typeface="Arial" pitchFamily="34" charset="-120"/>
              </a:rPr>
              <a:t>Yes</a:t>
            </a:r>
            <a:endParaRPr lang="en-US" sz="1200" dirty="0"/>
          </a:p>
        </p:txBody>
      </p:sp>
      <p:sp>
        <p:nvSpPr>
          <p:cNvPr id="47" name="Shape 45"/>
          <p:cNvSpPr/>
          <p:nvPr/>
        </p:nvSpPr>
        <p:spPr>
          <a:xfrm>
            <a:off x="806450" y="6826846"/>
            <a:ext cx="4080768" cy="1290340"/>
          </a:xfrm>
          <a:prstGeom prst="rect">
            <a:avLst/>
          </a:prstGeom>
          <a:solidFill>
            <a:srgbClr val="FCFBF8"/>
          </a:solidFill>
          <a:ln/>
        </p:spPr>
      </p:sp>
      <p:sp>
        <p:nvSpPr>
          <p:cNvPr id="48" name="Text 46"/>
          <p:cNvSpPr/>
          <p:nvPr/>
        </p:nvSpPr>
        <p:spPr>
          <a:xfrm>
            <a:off x="996950" y="6969721"/>
            <a:ext cx="3822191" cy="1042690"/>
          </a:xfrm>
          <a:prstGeom prst="rect">
            <a:avLst/>
          </a:prstGeom>
          <a:noFill/>
          <a:ln/>
        </p:spPr>
        <p:txBody>
          <a:bodyPr wrap="square" lIns="25400" tIns="25400" rIns="25400" bIns="25400" rtlCol="0" anchor="t">
            <a:normAutofit/>
          </a:bodyPr>
          <a:lstStyle/>
          <a:p>
            <a:pPr algn="l" indent="0" marL="0">
              <a:buNone/>
            </a:pPr>
            <a:r>
              <a:rPr lang="en-US" sz="1200" b="1" dirty="0">
                <a:solidFill>
                  <a:srgbClr val="10201A"/>
                </a:solidFill>
                <a:latin typeface="Arial" pitchFamily="34" charset="0"/>
                <a:ea typeface="Arial" pitchFamily="34" charset="-122"/>
                <a:cs typeface="Arial" pitchFamily="34" charset="-120"/>
              </a:rPr>
              <a:t>HQS / compliance tracking</a:t>
            </a:r>
            <a:endParaRPr lang="en-US" sz="1200" dirty="0"/>
          </a:p>
        </p:txBody>
      </p:sp>
      <p:sp>
        <p:nvSpPr>
          <p:cNvPr id="49" name="Shape 47"/>
          <p:cNvSpPr/>
          <p:nvPr/>
        </p:nvSpPr>
        <p:spPr>
          <a:xfrm>
            <a:off x="4896743" y="6826846"/>
            <a:ext cx="3138984" cy="1290340"/>
          </a:xfrm>
          <a:prstGeom prst="rect">
            <a:avLst/>
          </a:prstGeom>
          <a:solidFill>
            <a:srgbClr val="FCFBF8"/>
          </a:solidFill>
          <a:ln/>
        </p:spPr>
      </p:sp>
      <p:sp>
        <p:nvSpPr>
          <p:cNvPr id="50" name="Text 48"/>
          <p:cNvSpPr/>
          <p:nvPr/>
        </p:nvSpPr>
        <p:spPr>
          <a:xfrm>
            <a:off x="5068193" y="6969721"/>
            <a:ext cx="2890253" cy="1042690"/>
          </a:xfrm>
          <a:prstGeom prst="rect">
            <a:avLst/>
          </a:prstGeom>
          <a:noFill/>
          <a:ln/>
        </p:spPr>
        <p:txBody>
          <a:bodyPr wrap="square" lIns="25400" tIns="25400" rIns="25400" bIns="25400" rtlCol="0" anchor="t">
            <a:normAutofit/>
          </a:bodyPr>
          <a:lstStyle/>
          <a:p>
            <a:pPr algn="l" indent="0" marL="0">
              <a:buNone/>
            </a:pPr>
            <a:r>
              <a:rPr lang="en-US" sz="1200" dirty="0">
                <a:solidFill>
                  <a:srgbClr val="B04A4A"/>
                </a:solidFill>
                <a:latin typeface="Arial" pitchFamily="34" charset="0"/>
                <a:ea typeface="Arial" pitchFamily="34" charset="-122"/>
                <a:cs typeface="Arial" pitchFamily="34" charset="-120"/>
              </a:rPr>
              <a:t>No</a:t>
            </a:r>
            <a:endParaRPr lang="en-US" sz="1200" dirty="0"/>
          </a:p>
        </p:txBody>
      </p:sp>
      <p:sp>
        <p:nvSpPr>
          <p:cNvPr id="51" name="Shape 49"/>
          <p:cNvSpPr/>
          <p:nvPr/>
        </p:nvSpPr>
        <p:spPr>
          <a:xfrm>
            <a:off x="8045252" y="6826846"/>
            <a:ext cx="3139083" cy="1290340"/>
          </a:xfrm>
          <a:prstGeom prst="rect">
            <a:avLst/>
          </a:prstGeom>
          <a:solidFill>
            <a:srgbClr val="FCFBF8"/>
          </a:solidFill>
          <a:ln/>
        </p:spPr>
      </p:sp>
      <p:sp>
        <p:nvSpPr>
          <p:cNvPr id="52" name="Text 50"/>
          <p:cNvSpPr/>
          <p:nvPr/>
        </p:nvSpPr>
        <p:spPr>
          <a:xfrm>
            <a:off x="8216702" y="6969721"/>
            <a:ext cx="2890355" cy="1042690"/>
          </a:xfrm>
          <a:prstGeom prst="rect">
            <a:avLst/>
          </a:prstGeom>
          <a:noFill/>
          <a:ln/>
        </p:spPr>
        <p:txBody>
          <a:bodyPr wrap="square" lIns="25400" tIns="25400" rIns="25400" bIns="25400" rtlCol="0" anchor="t">
            <a:normAutofit/>
          </a:bodyPr>
          <a:lstStyle/>
          <a:p>
            <a:pPr algn="l" indent="0" marL="0">
              <a:buNone/>
            </a:pPr>
            <a:r>
              <a:rPr lang="en-US" sz="1200" dirty="0">
                <a:solidFill>
                  <a:srgbClr val="B04A4A"/>
                </a:solidFill>
                <a:latin typeface="Arial" pitchFamily="34" charset="0"/>
                <a:ea typeface="Arial" pitchFamily="34" charset="-122"/>
                <a:cs typeface="Arial" pitchFamily="34" charset="-120"/>
              </a:rPr>
              <a:t>No</a:t>
            </a:r>
            <a:endParaRPr lang="en-US" sz="1200" dirty="0"/>
          </a:p>
        </p:txBody>
      </p:sp>
      <p:sp>
        <p:nvSpPr>
          <p:cNvPr id="53" name="Shape 51"/>
          <p:cNvSpPr/>
          <p:nvPr/>
        </p:nvSpPr>
        <p:spPr>
          <a:xfrm>
            <a:off x="11193860" y="6826846"/>
            <a:ext cx="3139083" cy="1290340"/>
          </a:xfrm>
          <a:prstGeom prst="rect">
            <a:avLst/>
          </a:prstGeom>
          <a:solidFill>
            <a:srgbClr val="FCFBF8"/>
          </a:solidFill>
          <a:ln/>
        </p:spPr>
      </p:sp>
      <p:sp>
        <p:nvSpPr>
          <p:cNvPr id="54" name="Text 52"/>
          <p:cNvSpPr/>
          <p:nvPr/>
        </p:nvSpPr>
        <p:spPr>
          <a:xfrm>
            <a:off x="11365310" y="6969721"/>
            <a:ext cx="2890355" cy="1042690"/>
          </a:xfrm>
          <a:prstGeom prst="rect">
            <a:avLst/>
          </a:prstGeom>
          <a:noFill/>
          <a:ln/>
        </p:spPr>
        <p:txBody>
          <a:bodyPr wrap="square" lIns="25400" tIns="25400" rIns="25400" bIns="25400" rtlCol="0" anchor="t">
            <a:normAutofit/>
          </a:bodyPr>
          <a:lstStyle/>
          <a:p>
            <a:pPr algn="l" indent="0" marL="0">
              <a:buNone/>
            </a:pPr>
            <a:r>
              <a:rPr lang="en-US" sz="1200" dirty="0">
                <a:solidFill>
                  <a:srgbClr val="B04A4A"/>
                </a:solidFill>
                <a:latin typeface="Arial" pitchFamily="34" charset="0"/>
                <a:ea typeface="Arial" pitchFamily="34" charset="-122"/>
                <a:cs typeface="Arial" pitchFamily="34" charset="-120"/>
              </a:rPr>
              <a:t>No</a:t>
            </a:r>
            <a:endParaRPr lang="en-US" sz="1200" dirty="0"/>
          </a:p>
        </p:txBody>
      </p:sp>
      <p:sp>
        <p:nvSpPr>
          <p:cNvPr id="55" name="Shape 53"/>
          <p:cNvSpPr/>
          <p:nvPr/>
        </p:nvSpPr>
        <p:spPr>
          <a:xfrm>
            <a:off x="14342468" y="6826846"/>
            <a:ext cx="3138984" cy="1290340"/>
          </a:xfrm>
          <a:prstGeom prst="rect">
            <a:avLst/>
          </a:prstGeom>
          <a:solidFill>
            <a:srgbClr val="EDF4EF"/>
          </a:solidFill>
          <a:ln/>
        </p:spPr>
      </p:sp>
      <p:sp>
        <p:nvSpPr>
          <p:cNvPr id="56" name="Text 54"/>
          <p:cNvSpPr/>
          <p:nvPr/>
        </p:nvSpPr>
        <p:spPr>
          <a:xfrm>
            <a:off x="14513918" y="6969721"/>
            <a:ext cx="2890253" cy="1042690"/>
          </a:xfrm>
          <a:prstGeom prst="rect">
            <a:avLst/>
          </a:prstGeom>
          <a:noFill/>
          <a:ln/>
        </p:spPr>
        <p:txBody>
          <a:bodyPr wrap="square" lIns="25400" tIns="25400" rIns="25400" bIns="25400" rtlCol="0" anchor="t">
            <a:normAutofit/>
          </a:bodyPr>
          <a:lstStyle/>
          <a:p>
            <a:pPr algn="l" indent="0" marL="0">
              <a:buNone/>
            </a:pPr>
            <a:r>
              <a:rPr lang="en-US" sz="1200" b="1" dirty="0">
                <a:solidFill>
                  <a:srgbClr val="1F5E43"/>
                </a:solidFill>
                <a:latin typeface="Arial" pitchFamily="34" charset="0"/>
                <a:ea typeface="Arial" pitchFamily="34" charset="-122"/>
                <a:cs typeface="Arial" pitchFamily="34" charset="-120"/>
              </a:rPr>
              <a:t>Yes</a:t>
            </a:r>
            <a:endParaRPr lang="en-US" sz="1200" dirty="0"/>
          </a:p>
        </p:txBody>
      </p:sp>
      <p:sp>
        <p:nvSpPr>
          <p:cNvPr id="57" name="Shape 55"/>
          <p:cNvSpPr/>
          <p:nvPr/>
        </p:nvSpPr>
        <p:spPr>
          <a:xfrm>
            <a:off x="806450" y="8126710"/>
            <a:ext cx="4080768" cy="1290340"/>
          </a:xfrm>
          <a:prstGeom prst="rect">
            <a:avLst/>
          </a:prstGeom>
          <a:solidFill>
            <a:srgbClr val="FFFFFF"/>
          </a:solidFill>
          <a:ln/>
        </p:spPr>
      </p:sp>
      <p:sp>
        <p:nvSpPr>
          <p:cNvPr id="58" name="Text 56"/>
          <p:cNvSpPr/>
          <p:nvPr/>
        </p:nvSpPr>
        <p:spPr>
          <a:xfrm>
            <a:off x="996950" y="8269585"/>
            <a:ext cx="3822191" cy="1042690"/>
          </a:xfrm>
          <a:prstGeom prst="rect">
            <a:avLst/>
          </a:prstGeom>
          <a:noFill/>
          <a:ln/>
        </p:spPr>
        <p:txBody>
          <a:bodyPr wrap="square" lIns="25400" tIns="25400" rIns="25400" bIns="25400" rtlCol="0" anchor="t">
            <a:normAutofit/>
          </a:bodyPr>
          <a:lstStyle/>
          <a:p>
            <a:pPr algn="l" indent="0" marL="0">
              <a:buNone/>
            </a:pPr>
            <a:r>
              <a:rPr lang="en-US" sz="1200" b="1" dirty="0">
                <a:solidFill>
                  <a:srgbClr val="10201A"/>
                </a:solidFill>
                <a:latin typeface="Arial" pitchFamily="34" charset="0"/>
                <a:ea typeface="Arial" pitchFamily="34" charset="-122"/>
                <a:cs typeface="Arial" pitchFamily="34" charset="-120"/>
              </a:rPr>
              <a:t>Coverage</a:t>
            </a:r>
            <a:endParaRPr lang="en-US" sz="1200" dirty="0"/>
          </a:p>
        </p:txBody>
      </p:sp>
      <p:sp>
        <p:nvSpPr>
          <p:cNvPr id="59" name="Shape 57"/>
          <p:cNvSpPr/>
          <p:nvPr/>
        </p:nvSpPr>
        <p:spPr>
          <a:xfrm>
            <a:off x="4896743" y="8126710"/>
            <a:ext cx="3138984" cy="1290340"/>
          </a:xfrm>
          <a:prstGeom prst="rect">
            <a:avLst/>
          </a:prstGeom>
          <a:solidFill>
            <a:srgbClr val="FFFFFF"/>
          </a:solidFill>
          <a:ln/>
        </p:spPr>
      </p:sp>
      <p:sp>
        <p:nvSpPr>
          <p:cNvPr id="60" name="Text 58"/>
          <p:cNvSpPr/>
          <p:nvPr/>
        </p:nvSpPr>
        <p:spPr>
          <a:xfrm>
            <a:off x="5068193" y="8269585"/>
            <a:ext cx="2890253" cy="1042690"/>
          </a:xfrm>
          <a:prstGeom prst="rect">
            <a:avLst/>
          </a:prstGeom>
          <a:noFill/>
          <a:ln/>
        </p:spPr>
        <p:txBody>
          <a:bodyPr wrap="square" lIns="25400" tIns="25400" rIns="25400" bIns="25400" rtlCol="0" anchor="t">
            <a:normAutofit/>
          </a:bodyPr>
          <a:lstStyle/>
          <a:p>
            <a:pPr algn="l" indent="0" marL="0">
              <a:buNone/>
            </a:pPr>
            <a:r>
              <a:rPr lang="en-US" sz="1200" dirty="0">
                <a:solidFill>
                  <a:srgbClr val="5C6660"/>
                </a:solidFill>
                <a:latin typeface="Arial" pitchFamily="34" charset="0"/>
                <a:ea typeface="Arial" pitchFamily="34" charset="-122"/>
                <a:cs typeface="Arial" pitchFamily="34" charset="-120"/>
              </a:rPr>
              <a:t>National, dated</a:t>
            </a:r>
            <a:endParaRPr lang="en-US" sz="1200" dirty="0"/>
          </a:p>
        </p:txBody>
      </p:sp>
      <p:sp>
        <p:nvSpPr>
          <p:cNvPr id="61" name="Shape 59"/>
          <p:cNvSpPr/>
          <p:nvPr/>
        </p:nvSpPr>
        <p:spPr>
          <a:xfrm>
            <a:off x="8045252" y="8126710"/>
            <a:ext cx="3139083" cy="1290340"/>
          </a:xfrm>
          <a:prstGeom prst="rect">
            <a:avLst/>
          </a:prstGeom>
          <a:solidFill>
            <a:srgbClr val="FFFFFF"/>
          </a:solidFill>
          <a:ln/>
        </p:spPr>
      </p:sp>
      <p:sp>
        <p:nvSpPr>
          <p:cNvPr id="62" name="Text 60"/>
          <p:cNvSpPr/>
          <p:nvPr/>
        </p:nvSpPr>
        <p:spPr>
          <a:xfrm>
            <a:off x="8216702" y="8269585"/>
            <a:ext cx="2890355" cy="1042690"/>
          </a:xfrm>
          <a:prstGeom prst="rect">
            <a:avLst/>
          </a:prstGeom>
          <a:noFill/>
          <a:ln/>
        </p:spPr>
        <p:txBody>
          <a:bodyPr wrap="square" lIns="25400" tIns="25400" rIns="25400" bIns="25400" rtlCol="0" anchor="t">
            <a:normAutofit/>
          </a:bodyPr>
          <a:lstStyle/>
          <a:p>
            <a:pPr algn="l" indent="0" marL="0">
              <a:buNone/>
            </a:pPr>
            <a:r>
              <a:rPr lang="en-US" sz="1200" dirty="0">
                <a:solidFill>
                  <a:srgbClr val="5C6660"/>
                </a:solidFill>
                <a:latin typeface="Arial" pitchFamily="34" charset="0"/>
                <a:ea typeface="Arial" pitchFamily="34" charset="-122"/>
                <a:cs typeface="Arial" pitchFamily="34" charset="-120"/>
              </a:rPr>
              <a:t>National, generic</a:t>
            </a:r>
            <a:endParaRPr lang="en-US" sz="1200" dirty="0"/>
          </a:p>
        </p:txBody>
      </p:sp>
      <p:sp>
        <p:nvSpPr>
          <p:cNvPr id="63" name="Shape 61"/>
          <p:cNvSpPr/>
          <p:nvPr/>
        </p:nvSpPr>
        <p:spPr>
          <a:xfrm>
            <a:off x="11193860" y="8126710"/>
            <a:ext cx="3139083" cy="1290340"/>
          </a:xfrm>
          <a:prstGeom prst="rect">
            <a:avLst/>
          </a:prstGeom>
          <a:solidFill>
            <a:srgbClr val="FFFFFF"/>
          </a:solidFill>
          <a:ln/>
        </p:spPr>
      </p:sp>
      <p:sp>
        <p:nvSpPr>
          <p:cNvPr id="64" name="Text 62"/>
          <p:cNvSpPr/>
          <p:nvPr/>
        </p:nvSpPr>
        <p:spPr>
          <a:xfrm>
            <a:off x="11365310" y="8269585"/>
            <a:ext cx="2890355" cy="1042690"/>
          </a:xfrm>
          <a:prstGeom prst="rect">
            <a:avLst/>
          </a:prstGeom>
          <a:noFill/>
          <a:ln/>
        </p:spPr>
        <p:txBody>
          <a:bodyPr wrap="square" lIns="25400" tIns="25400" rIns="25400" bIns="25400" rtlCol="0" anchor="t">
            <a:normAutofit/>
          </a:bodyPr>
          <a:lstStyle/>
          <a:p>
            <a:pPr algn="l" indent="0" marL="0">
              <a:buNone/>
            </a:pPr>
            <a:r>
              <a:rPr lang="en-US" sz="1200" dirty="0">
                <a:solidFill>
                  <a:srgbClr val="5C6660"/>
                </a:solidFill>
                <a:latin typeface="Arial" pitchFamily="34" charset="0"/>
                <a:ea typeface="Arial" pitchFamily="34" charset="-122"/>
                <a:cs typeface="Arial" pitchFamily="34" charset="-120"/>
              </a:rPr>
              <a:t>NYC only</a:t>
            </a:r>
            <a:endParaRPr lang="en-US" sz="1200" dirty="0"/>
          </a:p>
        </p:txBody>
      </p:sp>
      <p:sp>
        <p:nvSpPr>
          <p:cNvPr id="65" name="Shape 63"/>
          <p:cNvSpPr/>
          <p:nvPr/>
        </p:nvSpPr>
        <p:spPr>
          <a:xfrm>
            <a:off x="14342468" y="8126710"/>
            <a:ext cx="3138984" cy="1290340"/>
          </a:xfrm>
          <a:prstGeom prst="rect">
            <a:avLst/>
          </a:prstGeom>
          <a:solidFill>
            <a:srgbClr val="F1F7F3"/>
          </a:solidFill>
          <a:ln/>
        </p:spPr>
      </p:sp>
      <p:sp>
        <p:nvSpPr>
          <p:cNvPr id="66" name="Text 64"/>
          <p:cNvSpPr/>
          <p:nvPr/>
        </p:nvSpPr>
        <p:spPr>
          <a:xfrm>
            <a:off x="14513918" y="8269585"/>
            <a:ext cx="2890253" cy="1042690"/>
          </a:xfrm>
          <a:prstGeom prst="rect">
            <a:avLst/>
          </a:prstGeom>
          <a:noFill/>
          <a:ln/>
        </p:spPr>
        <p:txBody>
          <a:bodyPr wrap="square" lIns="25400" tIns="25400" rIns="25400" bIns="25400" rtlCol="0" anchor="t">
            <a:normAutofit/>
          </a:bodyPr>
          <a:lstStyle/>
          <a:p>
            <a:pPr algn="l" indent="0" marL="0">
              <a:buNone/>
            </a:pPr>
            <a:r>
              <a:rPr lang="en-US" sz="1200" b="1" dirty="0">
                <a:solidFill>
                  <a:srgbClr val="1F5E43"/>
                </a:solidFill>
                <a:latin typeface="Arial" pitchFamily="34" charset="0"/>
                <a:ea typeface="Arial" pitchFamily="34" charset="-122"/>
                <a:cs typeface="Arial" pitchFamily="34" charset="-120"/>
              </a:rPr>
              <a:t>Atlanta → GA → SE</a:t>
            </a:r>
            <a:endParaRPr lang="en-US" sz="1200" dirty="0"/>
          </a:p>
        </p:txBody>
      </p:sp>
      <p:sp>
        <p:nvSpPr>
          <p:cNvPr id="67" name="Text 65"/>
          <p:cNvSpPr/>
          <p:nvPr/>
        </p:nvSpPr>
        <p:spPr>
          <a:xfrm>
            <a:off x="800100" y="9594850"/>
            <a:ext cx="2372390"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SETTLEED · COMPETITION</a:t>
            </a:r>
            <a:endParaRPr lang="en-US" sz="990" dirty="0"/>
          </a:p>
        </p:txBody>
      </p:sp>
      <p:sp>
        <p:nvSpPr>
          <p:cNvPr id="68" name="Text 66"/>
          <p:cNvSpPr/>
          <p:nvPr/>
        </p:nvSpPr>
        <p:spPr>
          <a:xfrm>
            <a:off x="16801605" y="9594850"/>
            <a:ext cx="762496"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09 / 16</a:t>
            </a:r>
            <a:endParaRPr lang="en-US" sz="99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666750" y="1292225"/>
            <a:ext cx="16954500" cy="9525"/>
          </a:xfrm>
          <a:prstGeom prst="rect">
            <a:avLst/>
          </a:prstGeom>
          <a:solidFill>
            <a:srgbClr val="18221E">
              <a:alpha val="16000"/>
            </a:srgbClr>
          </a:solidFill>
          <a:ln/>
        </p:spPr>
      </p:sp>
      <p:sp>
        <p:nvSpPr>
          <p:cNvPr id="3" name="Text 1"/>
          <p:cNvSpPr/>
          <p:nvPr/>
        </p:nvSpPr>
        <p:spPr>
          <a:xfrm>
            <a:off x="666750" y="571500"/>
            <a:ext cx="8701346" cy="215900"/>
          </a:xfrm>
          <a:prstGeom prst="rect">
            <a:avLst/>
          </a:prstGeom>
          <a:noFill/>
          <a:ln/>
        </p:spPr>
        <p:txBody>
          <a:bodyPr wrap="square" lIns="25400" tIns="25400" rIns="25400" bIns="25400" rtlCol="0" anchor="t">
            <a:normAutofit/>
          </a:bodyPr>
          <a:lstStyle/>
          <a:p>
            <a:pPr algn="l" indent="0" marL="0">
              <a:buNone/>
            </a:pPr>
            <a:r>
              <a:rPr lang="en-US" sz="1073" spc="215" kern="0" dirty="0">
                <a:solidFill>
                  <a:srgbClr val="18221E"/>
                </a:solidFill>
                <a:latin typeface="Courier New" pitchFamily="34" charset="0"/>
                <a:ea typeface="Courier New" pitchFamily="34" charset="-122"/>
                <a:cs typeface="Courier New" pitchFamily="34" charset="-120"/>
              </a:rPr>
              <a:t>CURRENT BUSINESS MODEL</a:t>
            </a:r>
            <a:endParaRPr lang="en-US" sz="1073" dirty="0"/>
          </a:p>
        </p:txBody>
      </p:sp>
      <p:sp>
        <p:nvSpPr>
          <p:cNvPr id="4" name="Text 2"/>
          <p:cNvSpPr/>
          <p:nvPr/>
        </p:nvSpPr>
        <p:spPr>
          <a:xfrm>
            <a:off x="666750" y="806450"/>
            <a:ext cx="8701346" cy="390525"/>
          </a:xfrm>
          <a:prstGeom prst="rect">
            <a:avLst/>
          </a:prstGeom>
          <a:noFill/>
          <a:ln/>
        </p:spPr>
        <p:txBody>
          <a:bodyPr wrap="square" lIns="25400" tIns="25400" rIns="25400" bIns="25400" rtlCol="0" anchor="t">
            <a:normAutofit/>
          </a:bodyPr>
          <a:lstStyle/>
          <a:p>
            <a:pPr algn="l" indent="0" marL="0">
              <a:lnSpc>
                <a:spcPct val="100000"/>
              </a:lnSpc>
              <a:buNone/>
            </a:pPr>
            <a:r>
              <a:rPr lang="en-US" sz="2775" b="1" spc="-55" kern="0" dirty="0">
                <a:solidFill>
                  <a:srgbClr val="18221E"/>
                </a:solidFill>
                <a:latin typeface="Arial" pitchFamily="34" charset="0"/>
                <a:ea typeface="Arial" pitchFamily="34" charset="-122"/>
                <a:cs typeface="Arial" pitchFamily="34" charset="-120"/>
              </a:rPr>
              <a:t>A two-sided market that gets vouchers </a:t>
            </a:r>
            <a:pPr algn="l" indent="0" marL="0">
              <a:lnSpc>
                <a:spcPct val="100000"/>
              </a:lnSpc>
              <a:buNone/>
            </a:pPr>
            <a:r>
              <a:rPr lang="en-US" sz="2775" b="1" spc="-55" kern="0" dirty="0">
                <a:solidFill>
                  <a:srgbClr val="2C7A58"/>
                </a:solidFill>
                <a:latin typeface="Arial" pitchFamily="34" charset="0"/>
                <a:ea typeface="Arial" pitchFamily="34" charset="-122"/>
                <a:cs typeface="Arial" pitchFamily="34" charset="-120"/>
              </a:rPr>
              <a:t>settleed</a:t>
            </a:r>
            <a:pPr algn="l" indent="0" marL="0">
              <a:lnSpc>
                <a:spcPct val="100000"/>
              </a:lnSpc>
              <a:buNone/>
            </a:pPr>
            <a:r>
              <a:rPr lang="en-US" sz="2775" b="1" spc="-55" kern="0" dirty="0">
                <a:solidFill>
                  <a:srgbClr val="18221E"/>
                </a:solidFill>
                <a:latin typeface="Arial" pitchFamily="34" charset="0"/>
                <a:ea typeface="Arial" pitchFamily="34" charset="-122"/>
                <a:cs typeface="Arial" pitchFamily="34" charset="-120"/>
              </a:rPr>
              <a:t>.</a:t>
            </a:r>
            <a:endParaRPr lang="en-US" sz="2775" dirty="0"/>
          </a:p>
        </p:txBody>
      </p:sp>
      <p:sp>
        <p:nvSpPr>
          <p:cNvPr id="5" name="Text 3"/>
          <p:cNvSpPr/>
          <p:nvPr/>
        </p:nvSpPr>
        <p:spPr>
          <a:xfrm>
            <a:off x="16934955" y="1000125"/>
            <a:ext cx="762496"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10 / 16</a:t>
            </a:r>
            <a:endParaRPr lang="en-US" sz="990" dirty="0"/>
          </a:p>
        </p:txBody>
      </p:sp>
      <p:sp>
        <p:nvSpPr>
          <p:cNvPr id="6" name="Shape 4"/>
          <p:cNvSpPr/>
          <p:nvPr/>
        </p:nvSpPr>
        <p:spPr>
          <a:xfrm>
            <a:off x="666750" y="1450975"/>
            <a:ext cx="3314700" cy="6988175"/>
          </a:xfrm>
          <a:prstGeom prst="roundRect">
            <a:avLst>
              <a:gd name="adj" fmla="val 1437"/>
            </a:avLst>
          </a:prstGeom>
          <a:solidFill>
            <a:srgbClr val="FFFFFF"/>
          </a:solidFill>
          <a:ln w="6350">
            <a:solidFill>
              <a:srgbClr val="18221E">
                <a:alpha val="13000"/>
              </a:srgbClr>
            </a:solidFill>
            <a:prstDash val="solid"/>
          </a:ln>
        </p:spPr>
      </p:sp>
      <p:sp>
        <p:nvSpPr>
          <p:cNvPr id="7" name="Text 5"/>
          <p:cNvSpPr/>
          <p:nvPr/>
        </p:nvSpPr>
        <p:spPr>
          <a:xfrm>
            <a:off x="844550" y="1609725"/>
            <a:ext cx="3255010" cy="190500"/>
          </a:xfrm>
          <a:prstGeom prst="rect">
            <a:avLst/>
          </a:prstGeom>
          <a:noFill/>
          <a:ln/>
        </p:spPr>
        <p:txBody>
          <a:bodyPr wrap="square" lIns="25400" tIns="25400" rIns="25400" bIns="25400" rtlCol="0" anchor="t">
            <a:normAutofit/>
          </a:bodyPr>
          <a:lstStyle/>
          <a:p>
            <a:pPr algn="l" indent="0" marL="0">
              <a:buNone/>
            </a:pPr>
            <a:r>
              <a:rPr lang="en-US" sz="907" spc="109" kern="0" dirty="0">
                <a:solidFill>
                  <a:srgbClr val="5C6660"/>
                </a:solidFill>
                <a:latin typeface="Courier New" pitchFamily="34" charset="0"/>
                <a:ea typeface="Courier New" pitchFamily="34" charset="-122"/>
                <a:cs typeface="Courier New" pitchFamily="34" charset="-120"/>
              </a:rPr>
              <a:t>KEY PARTNERS</a:t>
            </a:r>
            <a:endParaRPr lang="en-US" sz="907" dirty="0"/>
          </a:p>
        </p:txBody>
      </p:sp>
      <p:sp>
        <p:nvSpPr>
          <p:cNvPr id="8" name="Text 6"/>
          <p:cNvSpPr/>
          <p:nvPr/>
        </p:nvSpPr>
        <p:spPr>
          <a:xfrm>
            <a:off x="734536" y="1876425"/>
            <a:ext cx="3145314" cy="1096169"/>
          </a:xfrm>
          <a:prstGeom prst="rect">
            <a:avLst/>
          </a:prstGeom>
          <a:noFill/>
          <a:ln/>
        </p:spPr>
        <p:txBody>
          <a:bodyPr wrap="square" lIns="25400" tIns="25400" rIns="25400" bIns="25400" rtlCol="0" anchor="t">
            <a:normAutofit/>
          </a:bodyPr>
          <a:lstStyle/>
          <a:p>
            <a:pPr algn="l" indent="0" marL="0">
              <a:lnSpc>
                <a:spcPct val="132000"/>
              </a:lnSpc>
              <a:buNone/>
            </a:pPr>
            <a:r>
              <a:rPr lang="en-US" sz="1238" dirty="0">
                <a:solidFill>
                  <a:srgbClr val="2B332E"/>
                </a:solidFill>
                <a:latin typeface="Arial" pitchFamily="34" charset="0"/>
                <a:ea typeface="Arial" pitchFamily="34" charset="-122"/>
                <a:cs typeface="Arial" pitchFamily="34" charset="-120"/>
              </a:rPr>
              <a:t>Atlanta Housing, GA DCA</a:t>
            </a:r>
            <a:endParaRPr lang="en-US" sz="1238" dirty="0"/>
          </a:p>
          <a:p>
            <a:pPr algn="l" indent="0" marL="0">
              <a:lnSpc>
                <a:spcPct val="132000"/>
              </a:lnSpc>
              <a:buNone/>
            </a:pPr>
            <a:r>
              <a:rPr lang="en-US" sz="1238" dirty="0">
                <a:solidFill>
                  <a:srgbClr val="2B332E"/>
                </a:solidFill>
                <a:latin typeface="Arial" pitchFamily="34" charset="0"/>
                <a:ea typeface="Arial" pitchFamily="34" charset="-122"/>
                <a:cs typeface="Arial" pitchFamily="34" charset="-120"/>
              </a:rPr>
              <a:t>DeKalb, Fulton &amp; Clayton authorities</a:t>
            </a:r>
            <a:endParaRPr lang="en-US" sz="1238" dirty="0"/>
          </a:p>
          <a:p>
            <a:pPr algn="l" indent="0" marL="0">
              <a:lnSpc>
                <a:spcPct val="132000"/>
              </a:lnSpc>
              <a:buNone/>
            </a:pPr>
            <a:r>
              <a:rPr lang="en-US" sz="1238" dirty="0">
                <a:solidFill>
                  <a:srgbClr val="2B332E"/>
                </a:solidFill>
                <a:latin typeface="Arial" pitchFamily="34" charset="0"/>
                <a:ea typeface="Arial" pitchFamily="34" charset="-122"/>
                <a:cs typeface="Arial" pitchFamily="34" charset="-120"/>
              </a:rPr>
              <a:t>HQS inspectors &amp; caseworkers</a:t>
            </a:r>
            <a:endParaRPr lang="en-US" sz="1238" dirty="0"/>
          </a:p>
          <a:p>
            <a:pPr algn="l" indent="0" marL="0">
              <a:lnSpc>
                <a:spcPct val="132000"/>
              </a:lnSpc>
              <a:buNone/>
            </a:pPr>
            <a:r>
              <a:rPr lang="en-US" sz="1238" dirty="0">
                <a:solidFill>
                  <a:srgbClr val="2B332E"/>
                </a:solidFill>
                <a:latin typeface="Arial" pitchFamily="34" charset="0"/>
                <a:ea typeface="Arial" pitchFamily="34" charset="-122"/>
                <a:cs typeface="Arial" pitchFamily="34" charset="-120"/>
              </a:rPr>
              <a:t>Voucher-tenant nonprofits</a:t>
            </a:r>
            <a:endParaRPr lang="en-US" sz="1238" dirty="0"/>
          </a:p>
        </p:txBody>
      </p:sp>
      <p:sp>
        <p:nvSpPr>
          <p:cNvPr id="9" name="Shape 7"/>
          <p:cNvSpPr/>
          <p:nvPr/>
        </p:nvSpPr>
        <p:spPr>
          <a:xfrm>
            <a:off x="4076700" y="1450975"/>
            <a:ext cx="3314700" cy="3446463"/>
          </a:xfrm>
          <a:prstGeom prst="roundRect">
            <a:avLst>
              <a:gd name="adj" fmla="val 1437"/>
            </a:avLst>
          </a:prstGeom>
          <a:solidFill>
            <a:srgbClr val="FFFFFF"/>
          </a:solidFill>
          <a:ln w="6350">
            <a:solidFill>
              <a:srgbClr val="18221E">
                <a:alpha val="13000"/>
              </a:srgbClr>
            </a:solidFill>
            <a:prstDash val="solid"/>
          </a:ln>
        </p:spPr>
      </p:sp>
      <p:sp>
        <p:nvSpPr>
          <p:cNvPr id="10" name="Text 8"/>
          <p:cNvSpPr/>
          <p:nvPr/>
        </p:nvSpPr>
        <p:spPr>
          <a:xfrm>
            <a:off x="4254500" y="1609725"/>
            <a:ext cx="3255010" cy="190500"/>
          </a:xfrm>
          <a:prstGeom prst="rect">
            <a:avLst/>
          </a:prstGeom>
          <a:noFill/>
          <a:ln/>
        </p:spPr>
        <p:txBody>
          <a:bodyPr wrap="square" lIns="25400" tIns="25400" rIns="25400" bIns="25400" rtlCol="0" anchor="t">
            <a:normAutofit/>
          </a:bodyPr>
          <a:lstStyle/>
          <a:p>
            <a:pPr algn="l" indent="0" marL="0">
              <a:buNone/>
            </a:pPr>
            <a:r>
              <a:rPr lang="en-US" sz="907" spc="109" kern="0" dirty="0">
                <a:solidFill>
                  <a:srgbClr val="5C6660"/>
                </a:solidFill>
                <a:latin typeface="Courier New" pitchFamily="34" charset="0"/>
                <a:ea typeface="Courier New" pitchFamily="34" charset="-122"/>
                <a:cs typeface="Courier New" pitchFamily="34" charset="-120"/>
              </a:rPr>
              <a:t>KEY ACTIVITIES</a:t>
            </a:r>
            <a:endParaRPr lang="en-US" sz="907" dirty="0"/>
          </a:p>
        </p:txBody>
      </p:sp>
      <p:sp>
        <p:nvSpPr>
          <p:cNvPr id="11" name="Text 9"/>
          <p:cNvSpPr/>
          <p:nvPr/>
        </p:nvSpPr>
        <p:spPr>
          <a:xfrm>
            <a:off x="4144486" y="1857375"/>
            <a:ext cx="3145314" cy="784324"/>
          </a:xfrm>
          <a:prstGeom prst="rect">
            <a:avLst/>
          </a:prstGeom>
          <a:noFill/>
          <a:ln/>
        </p:spPr>
        <p:txBody>
          <a:bodyPr wrap="square" lIns="25400" tIns="25400" rIns="25400" bIns="25400" rtlCol="0" anchor="t">
            <a:normAutofit/>
          </a:bodyPr>
          <a:lstStyle/>
          <a:p>
            <a:pPr algn="l" indent="0" marL="0">
              <a:lnSpc>
                <a:spcPct val="130000"/>
              </a:lnSpc>
              <a:buNone/>
            </a:pPr>
            <a:r>
              <a:rPr lang="en-US" sz="1238" dirty="0">
                <a:solidFill>
                  <a:srgbClr val="2B332E"/>
                </a:solidFill>
                <a:latin typeface="Arial" pitchFamily="34" charset="0"/>
                <a:ea typeface="Arial" pitchFamily="34" charset="-122"/>
                <a:cs typeface="Arial" pitchFamily="34" charset="-120"/>
              </a:rPr>
              <a:t>Two-sided verification &amp; matching</a:t>
            </a:r>
            <a:endParaRPr lang="en-US" sz="1238" dirty="0"/>
          </a:p>
          <a:p>
            <a:pPr algn="l" indent="0" marL="0">
              <a:lnSpc>
                <a:spcPct val="130000"/>
              </a:lnSpc>
              <a:buNone/>
            </a:pPr>
            <a:r>
              <a:rPr lang="en-US" sz="1238" dirty="0">
                <a:solidFill>
                  <a:srgbClr val="2B332E"/>
                </a:solidFill>
                <a:latin typeface="Arial" pitchFamily="34" charset="0"/>
                <a:ea typeface="Arial" pitchFamily="34" charset="-122"/>
                <a:cs typeface="Arial" pitchFamily="34" charset="-120"/>
              </a:rPr>
              <a:t>RFTA pre-vet &amp; document extraction</a:t>
            </a:r>
            <a:endParaRPr lang="en-US" sz="1238" dirty="0"/>
          </a:p>
          <a:p>
            <a:pPr algn="l" indent="0" marL="0">
              <a:lnSpc>
                <a:spcPct val="130000"/>
              </a:lnSpc>
              <a:buNone/>
            </a:pPr>
            <a:r>
              <a:rPr lang="en-US" sz="1238" dirty="0">
                <a:solidFill>
                  <a:srgbClr val="2B332E"/>
                </a:solidFill>
                <a:latin typeface="Arial" pitchFamily="34" charset="0"/>
                <a:ea typeface="Arial" pitchFamily="34" charset="-122"/>
                <a:cs typeface="Arial" pitchFamily="34" charset="-120"/>
              </a:rPr>
              <a:t>Inspection &amp; recert deadline tracking</a:t>
            </a:r>
            <a:endParaRPr lang="en-US" sz="1238" dirty="0"/>
          </a:p>
        </p:txBody>
      </p:sp>
      <p:sp>
        <p:nvSpPr>
          <p:cNvPr id="12" name="Shape 10"/>
          <p:cNvSpPr/>
          <p:nvPr/>
        </p:nvSpPr>
        <p:spPr>
          <a:xfrm>
            <a:off x="7486650" y="1450975"/>
            <a:ext cx="3314700" cy="6988175"/>
          </a:xfrm>
          <a:prstGeom prst="roundRect">
            <a:avLst>
              <a:gd name="adj" fmla="val 1437"/>
            </a:avLst>
          </a:prstGeom>
          <a:solidFill>
            <a:srgbClr val="16201C"/>
          </a:solidFill>
          <a:ln/>
        </p:spPr>
      </p:sp>
      <p:sp>
        <p:nvSpPr>
          <p:cNvPr id="13" name="Text 11"/>
          <p:cNvSpPr/>
          <p:nvPr/>
        </p:nvSpPr>
        <p:spPr>
          <a:xfrm>
            <a:off x="7658100" y="1603375"/>
            <a:ext cx="3268980" cy="190500"/>
          </a:xfrm>
          <a:prstGeom prst="rect">
            <a:avLst/>
          </a:prstGeom>
          <a:noFill/>
          <a:ln/>
        </p:spPr>
        <p:txBody>
          <a:bodyPr wrap="square" lIns="25400" tIns="25400" rIns="25400" bIns="25400" rtlCol="0" anchor="t">
            <a:normAutofit/>
          </a:bodyPr>
          <a:lstStyle/>
          <a:p>
            <a:pPr algn="l" indent="0" marL="0">
              <a:buNone/>
            </a:pPr>
            <a:r>
              <a:rPr lang="en-US" sz="907" spc="109" kern="0" dirty="0">
                <a:solidFill>
                  <a:srgbClr val="7CC79B"/>
                </a:solidFill>
                <a:latin typeface="Courier New" pitchFamily="34" charset="0"/>
                <a:ea typeface="Courier New" pitchFamily="34" charset="-122"/>
                <a:cs typeface="Courier New" pitchFamily="34" charset="-120"/>
              </a:rPr>
              <a:t>VALUE PROPOSITIONS</a:t>
            </a:r>
            <a:endParaRPr lang="en-US" sz="907" dirty="0"/>
          </a:p>
        </p:txBody>
      </p:sp>
      <p:sp>
        <p:nvSpPr>
          <p:cNvPr id="14" name="Text 12"/>
          <p:cNvSpPr/>
          <p:nvPr/>
        </p:nvSpPr>
        <p:spPr>
          <a:xfrm>
            <a:off x="7658100" y="1870075"/>
            <a:ext cx="3060954" cy="459184"/>
          </a:xfrm>
          <a:prstGeom prst="rect">
            <a:avLst/>
          </a:prstGeom>
          <a:noFill/>
          <a:ln/>
        </p:spPr>
        <p:txBody>
          <a:bodyPr wrap="square" lIns="25400" tIns="25400" rIns="25400" bIns="25400" rtlCol="0" anchor="t">
            <a:normAutofit/>
          </a:bodyPr>
          <a:lstStyle/>
          <a:p>
            <a:pPr algn="l" indent="0" marL="0">
              <a:lnSpc>
                <a:spcPct val="132000"/>
              </a:lnSpc>
              <a:buNone/>
            </a:pPr>
            <a:r>
              <a:rPr lang="en-US" sz="1238" b="1" dirty="0">
                <a:solidFill>
                  <a:srgbClr val="FFFFFF"/>
                </a:solidFill>
                <a:latin typeface="Arial" pitchFamily="34" charset="0"/>
                <a:ea typeface="Arial" pitchFamily="34" charset="-122"/>
                <a:cs typeface="Arial" pitchFamily="34" charset="-120"/>
              </a:rPr>
              <a:t>Verified voucher-only marketplace </a:t>
            </a:r>
            <a:pPr algn="l" indent="0" marL="0">
              <a:lnSpc>
                <a:spcPct val="132000"/>
              </a:lnSpc>
              <a:buNone/>
            </a:pPr>
            <a:r>
              <a:rPr lang="en-US" sz="1238" dirty="0">
                <a:solidFill>
                  <a:srgbClr val="D6DDD6"/>
                </a:solidFill>
                <a:latin typeface="Arial" pitchFamily="34" charset="0"/>
                <a:ea typeface="Arial" pitchFamily="34" charset="-122"/>
                <a:cs typeface="Arial" pitchFamily="34" charset="-120"/>
              </a:rPr>
              <a:t>— every listing accepts Section 8</a:t>
            </a:r>
            <a:endParaRPr lang="en-US" sz="1238" dirty="0"/>
          </a:p>
        </p:txBody>
      </p:sp>
      <p:sp>
        <p:nvSpPr>
          <p:cNvPr id="15" name="Text 13"/>
          <p:cNvSpPr/>
          <p:nvPr/>
        </p:nvSpPr>
        <p:spPr>
          <a:xfrm>
            <a:off x="7658100" y="2376884"/>
            <a:ext cx="3268980" cy="245467"/>
          </a:xfrm>
          <a:prstGeom prst="rect">
            <a:avLst/>
          </a:prstGeom>
          <a:noFill/>
          <a:ln/>
        </p:spPr>
        <p:txBody>
          <a:bodyPr wrap="square" lIns="25400" tIns="25400" rIns="25400" bIns="25400" rtlCol="0" anchor="t">
            <a:normAutofit/>
          </a:bodyPr>
          <a:lstStyle/>
          <a:p>
            <a:pPr algn="l" indent="0" marL="0">
              <a:lnSpc>
                <a:spcPct val="132000"/>
              </a:lnSpc>
              <a:buNone/>
            </a:pPr>
            <a:r>
              <a:rPr lang="en-US" sz="1238" dirty="0">
                <a:solidFill>
                  <a:srgbClr val="D6DDD6"/>
                </a:solidFill>
                <a:latin typeface="Arial" pitchFamily="34" charset="0"/>
                <a:ea typeface="Arial" pitchFamily="34" charset="-122"/>
                <a:cs typeface="Arial" pitchFamily="34" charset="-120"/>
              </a:rPr>
              <a:t>Instant match alerts the moment a fit lists</a:t>
            </a:r>
            <a:endParaRPr lang="en-US" sz="1238" dirty="0"/>
          </a:p>
        </p:txBody>
      </p:sp>
      <p:sp>
        <p:nvSpPr>
          <p:cNvPr id="16" name="Text 14"/>
          <p:cNvSpPr/>
          <p:nvPr/>
        </p:nvSpPr>
        <p:spPr>
          <a:xfrm>
            <a:off x="7658100" y="2669977"/>
            <a:ext cx="3268980" cy="245467"/>
          </a:xfrm>
          <a:prstGeom prst="rect">
            <a:avLst/>
          </a:prstGeom>
          <a:noFill/>
          <a:ln/>
        </p:spPr>
        <p:txBody>
          <a:bodyPr wrap="square" lIns="25400" tIns="25400" rIns="25400" bIns="25400" rtlCol="0" anchor="t">
            <a:normAutofit/>
          </a:bodyPr>
          <a:lstStyle/>
          <a:p>
            <a:pPr algn="l" indent="0" marL="0">
              <a:lnSpc>
                <a:spcPct val="132000"/>
              </a:lnSpc>
              <a:buNone/>
            </a:pPr>
            <a:r>
              <a:rPr lang="en-US" sz="1238" dirty="0">
                <a:solidFill>
                  <a:srgbClr val="D6DDD6"/>
                </a:solidFill>
                <a:latin typeface="Arial" pitchFamily="34" charset="0"/>
                <a:ea typeface="Arial" pitchFamily="34" charset="-122"/>
                <a:cs typeface="Arial" pitchFamily="34" charset="-120"/>
              </a:rPr>
              <a:t>HQS inspection tracking + reminders</a:t>
            </a:r>
            <a:endParaRPr lang="en-US" sz="1238" dirty="0"/>
          </a:p>
        </p:txBody>
      </p:sp>
      <p:sp>
        <p:nvSpPr>
          <p:cNvPr id="17" name="Text 15"/>
          <p:cNvSpPr/>
          <p:nvPr/>
        </p:nvSpPr>
        <p:spPr>
          <a:xfrm>
            <a:off x="7658100" y="2963069"/>
            <a:ext cx="3060954" cy="452834"/>
          </a:xfrm>
          <a:prstGeom prst="rect">
            <a:avLst/>
          </a:prstGeom>
          <a:noFill/>
          <a:ln/>
        </p:spPr>
        <p:txBody>
          <a:bodyPr wrap="square" lIns="25400" tIns="25400" rIns="25400" bIns="25400" rtlCol="0" anchor="t">
            <a:normAutofit/>
          </a:bodyPr>
          <a:lstStyle/>
          <a:p>
            <a:pPr algn="l" indent="0" marL="0">
              <a:lnSpc>
                <a:spcPct val="132000"/>
              </a:lnSpc>
              <a:buNone/>
            </a:pPr>
            <a:r>
              <a:rPr lang="en-US" sz="1238" dirty="0">
                <a:solidFill>
                  <a:srgbClr val="D6DDD6"/>
                </a:solidFill>
                <a:latin typeface="Arial" pitchFamily="34" charset="0"/>
                <a:ea typeface="Arial" pitchFamily="34" charset="-122"/>
                <a:cs typeface="Arial" pitchFamily="34" charset="-120"/>
              </a:rPr>
              <a:t>Recert &amp; expiration alerts to beat the clock</a:t>
            </a:r>
            <a:endParaRPr lang="en-US" sz="1238" dirty="0"/>
          </a:p>
        </p:txBody>
      </p:sp>
      <p:sp>
        <p:nvSpPr>
          <p:cNvPr id="18" name="Text 16"/>
          <p:cNvSpPr/>
          <p:nvPr/>
        </p:nvSpPr>
        <p:spPr>
          <a:xfrm>
            <a:off x="7658100" y="3463528"/>
            <a:ext cx="3060954" cy="452834"/>
          </a:xfrm>
          <a:prstGeom prst="rect">
            <a:avLst/>
          </a:prstGeom>
          <a:noFill/>
          <a:ln/>
        </p:spPr>
        <p:txBody>
          <a:bodyPr wrap="square" lIns="25400" tIns="25400" rIns="25400" bIns="25400" rtlCol="0" anchor="t">
            <a:normAutofit/>
          </a:bodyPr>
          <a:lstStyle/>
          <a:p>
            <a:pPr algn="l" indent="0" marL="0">
              <a:lnSpc>
                <a:spcPct val="132000"/>
              </a:lnSpc>
              <a:buNone/>
            </a:pPr>
            <a:r>
              <a:rPr lang="en-US" sz="1238" dirty="0">
                <a:solidFill>
                  <a:srgbClr val="D6DDD6"/>
                </a:solidFill>
                <a:latin typeface="Arial" pitchFamily="34" charset="0"/>
                <a:ea typeface="Arial" pitchFamily="34" charset="-122"/>
                <a:cs typeface="Arial" pitchFamily="34" charset="-120"/>
              </a:rPr>
              <a:t>Localized utility-allowance math, run for both sides</a:t>
            </a:r>
            <a:endParaRPr lang="en-US" sz="1238" dirty="0"/>
          </a:p>
        </p:txBody>
      </p:sp>
      <p:sp>
        <p:nvSpPr>
          <p:cNvPr id="19" name="Shape 17"/>
          <p:cNvSpPr/>
          <p:nvPr/>
        </p:nvSpPr>
        <p:spPr>
          <a:xfrm>
            <a:off x="10896600" y="1450975"/>
            <a:ext cx="3314700" cy="3446463"/>
          </a:xfrm>
          <a:prstGeom prst="roundRect">
            <a:avLst>
              <a:gd name="adj" fmla="val 1437"/>
            </a:avLst>
          </a:prstGeom>
          <a:solidFill>
            <a:srgbClr val="FFFFFF"/>
          </a:solidFill>
          <a:ln w="6350">
            <a:solidFill>
              <a:srgbClr val="18221E">
                <a:alpha val="13000"/>
              </a:srgbClr>
            </a:solidFill>
            <a:prstDash val="solid"/>
          </a:ln>
        </p:spPr>
      </p:sp>
      <p:sp>
        <p:nvSpPr>
          <p:cNvPr id="20" name="Text 18"/>
          <p:cNvSpPr/>
          <p:nvPr/>
        </p:nvSpPr>
        <p:spPr>
          <a:xfrm>
            <a:off x="11074401" y="1609725"/>
            <a:ext cx="3255010" cy="190500"/>
          </a:xfrm>
          <a:prstGeom prst="rect">
            <a:avLst/>
          </a:prstGeom>
          <a:noFill/>
          <a:ln/>
        </p:spPr>
        <p:txBody>
          <a:bodyPr wrap="square" lIns="25400" tIns="25400" rIns="25400" bIns="25400" rtlCol="0" anchor="t">
            <a:normAutofit/>
          </a:bodyPr>
          <a:lstStyle/>
          <a:p>
            <a:pPr algn="l" indent="0" marL="0">
              <a:buNone/>
            </a:pPr>
            <a:r>
              <a:rPr lang="en-US" sz="907" spc="109" kern="0" dirty="0">
                <a:solidFill>
                  <a:srgbClr val="5C6660"/>
                </a:solidFill>
                <a:latin typeface="Courier New" pitchFamily="34" charset="0"/>
                <a:ea typeface="Courier New" pitchFamily="34" charset="-122"/>
                <a:cs typeface="Courier New" pitchFamily="34" charset="-120"/>
              </a:rPr>
              <a:t>CUSTOMER RELATIONSHIPS</a:t>
            </a:r>
            <a:endParaRPr lang="en-US" sz="907" dirty="0"/>
          </a:p>
        </p:txBody>
      </p:sp>
      <p:sp>
        <p:nvSpPr>
          <p:cNvPr id="21" name="Text 19"/>
          <p:cNvSpPr/>
          <p:nvPr/>
        </p:nvSpPr>
        <p:spPr>
          <a:xfrm>
            <a:off x="10964387" y="1857375"/>
            <a:ext cx="3145314" cy="988616"/>
          </a:xfrm>
          <a:prstGeom prst="rect">
            <a:avLst/>
          </a:prstGeom>
          <a:noFill/>
          <a:ln/>
        </p:spPr>
        <p:txBody>
          <a:bodyPr wrap="square" lIns="25400" tIns="25400" rIns="25400" bIns="25400" rtlCol="0" anchor="t">
            <a:normAutofit/>
          </a:bodyPr>
          <a:lstStyle/>
          <a:p>
            <a:pPr algn="l" indent="0" marL="0">
              <a:lnSpc>
                <a:spcPct val="130000"/>
              </a:lnSpc>
              <a:buNone/>
            </a:pPr>
            <a:r>
              <a:rPr lang="en-US" sz="1238" dirty="0">
                <a:solidFill>
                  <a:srgbClr val="2B332E"/>
                </a:solidFill>
                <a:latin typeface="Arial" pitchFamily="34" charset="0"/>
                <a:ea typeface="Arial" pitchFamily="34" charset="-122"/>
                <a:cs typeface="Arial" pitchFamily="34" charset="-120"/>
              </a:rPr>
              <a:t>Self-serve SaaS · 7-day free trial</a:t>
            </a:r>
            <a:endParaRPr lang="en-US" sz="1238" dirty="0"/>
          </a:p>
          <a:p>
            <a:pPr algn="l" indent="0" marL="0">
              <a:lnSpc>
                <a:spcPct val="130000"/>
              </a:lnSpc>
              <a:buNone/>
            </a:pPr>
            <a:r>
              <a:rPr lang="en-US" sz="1238" dirty="0">
                <a:solidFill>
                  <a:srgbClr val="2B332E"/>
                </a:solidFill>
                <a:latin typeface="Arial" pitchFamily="34" charset="0"/>
                <a:ea typeface="Arial" pitchFamily="34" charset="-122"/>
                <a:cs typeface="Arial" pitchFamily="34" charset="-120"/>
              </a:rPr>
              <a:t>Concierge onboarding for pilots</a:t>
            </a:r>
            <a:endParaRPr lang="en-US" sz="1238" dirty="0"/>
          </a:p>
          <a:p>
            <a:pPr algn="l" indent="0" marL="0">
              <a:lnSpc>
                <a:spcPct val="130000"/>
              </a:lnSpc>
              <a:buNone/>
            </a:pPr>
            <a:r>
              <a:rPr lang="en-US" sz="1238" dirty="0">
                <a:solidFill>
                  <a:srgbClr val="2B332E"/>
                </a:solidFill>
                <a:latin typeface="Arial" pitchFamily="34" charset="0"/>
                <a:ea typeface="Arial" pitchFamily="34" charset="-122"/>
                <a:cs typeface="Arial" pitchFamily="34" charset="-120"/>
              </a:rPr>
              <a:t>Insider guidance through the HAP process</a:t>
            </a:r>
            <a:endParaRPr lang="en-US" sz="1238" dirty="0"/>
          </a:p>
        </p:txBody>
      </p:sp>
      <p:sp>
        <p:nvSpPr>
          <p:cNvPr id="22" name="Shape 20"/>
          <p:cNvSpPr/>
          <p:nvPr/>
        </p:nvSpPr>
        <p:spPr>
          <a:xfrm>
            <a:off x="14306550" y="1450975"/>
            <a:ext cx="3314700" cy="6988175"/>
          </a:xfrm>
          <a:prstGeom prst="roundRect">
            <a:avLst>
              <a:gd name="adj" fmla="val 1437"/>
            </a:avLst>
          </a:prstGeom>
          <a:solidFill>
            <a:srgbClr val="FFFFFF"/>
          </a:solidFill>
          <a:ln w="6350">
            <a:solidFill>
              <a:srgbClr val="18221E">
                <a:alpha val="13000"/>
              </a:srgbClr>
            </a:solidFill>
            <a:prstDash val="solid"/>
          </a:ln>
        </p:spPr>
      </p:sp>
      <p:sp>
        <p:nvSpPr>
          <p:cNvPr id="23" name="Text 21"/>
          <p:cNvSpPr/>
          <p:nvPr/>
        </p:nvSpPr>
        <p:spPr>
          <a:xfrm>
            <a:off x="14484351" y="1609725"/>
            <a:ext cx="3255010" cy="190500"/>
          </a:xfrm>
          <a:prstGeom prst="rect">
            <a:avLst/>
          </a:prstGeom>
          <a:noFill/>
          <a:ln/>
        </p:spPr>
        <p:txBody>
          <a:bodyPr wrap="square" lIns="25400" tIns="25400" rIns="25400" bIns="25400" rtlCol="0" anchor="t">
            <a:normAutofit/>
          </a:bodyPr>
          <a:lstStyle/>
          <a:p>
            <a:pPr algn="l" indent="0" marL="0">
              <a:buNone/>
            </a:pPr>
            <a:r>
              <a:rPr lang="en-US" sz="907" spc="109" kern="0" dirty="0">
                <a:solidFill>
                  <a:srgbClr val="5C6660"/>
                </a:solidFill>
                <a:latin typeface="Courier New" pitchFamily="34" charset="0"/>
                <a:ea typeface="Courier New" pitchFamily="34" charset="-122"/>
                <a:cs typeface="Courier New" pitchFamily="34" charset="-120"/>
              </a:rPr>
              <a:t>CUSTOMER SEGMENTS</a:t>
            </a:r>
            <a:endParaRPr lang="en-US" sz="907" dirty="0"/>
          </a:p>
        </p:txBody>
      </p:sp>
      <p:sp>
        <p:nvSpPr>
          <p:cNvPr id="24" name="Text 22"/>
          <p:cNvSpPr/>
          <p:nvPr/>
        </p:nvSpPr>
        <p:spPr>
          <a:xfrm>
            <a:off x="14484351" y="1876425"/>
            <a:ext cx="3255010" cy="248741"/>
          </a:xfrm>
          <a:prstGeom prst="rect">
            <a:avLst/>
          </a:prstGeom>
          <a:noFill/>
          <a:ln/>
        </p:spPr>
        <p:txBody>
          <a:bodyPr wrap="square" lIns="25400" tIns="25400" rIns="25400" bIns="25400" rtlCol="0" anchor="t">
            <a:normAutofit/>
          </a:bodyPr>
          <a:lstStyle/>
          <a:p>
            <a:pPr algn="l" indent="0" marL="0">
              <a:lnSpc>
                <a:spcPct val="130000"/>
              </a:lnSpc>
              <a:buNone/>
            </a:pPr>
            <a:r>
              <a:rPr lang="en-US" sz="1238" b="1" dirty="0">
                <a:solidFill>
                  <a:srgbClr val="1F5E43"/>
                </a:solidFill>
                <a:latin typeface="Arial" pitchFamily="34" charset="0"/>
                <a:ea typeface="Arial" pitchFamily="34" charset="-122"/>
                <a:cs typeface="Arial" pitchFamily="34" charset="-120"/>
              </a:rPr>
              <a:t>A · </a:t>
            </a:r>
            <a:pPr algn="l" indent="0" marL="0">
              <a:lnSpc>
                <a:spcPct val="130000"/>
              </a:lnSpc>
              <a:buNone/>
            </a:pPr>
            <a:r>
              <a:rPr lang="en-US" sz="1238" dirty="0">
                <a:solidFill>
                  <a:srgbClr val="1F5E43"/>
                </a:solidFill>
                <a:latin typeface="Arial" pitchFamily="34" charset="0"/>
                <a:ea typeface="Arial" pitchFamily="34" charset="-122"/>
                <a:cs typeface="Arial" pitchFamily="34" charset="-120"/>
              </a:rPr>
              <a:t>Small / first-time landlords (1–9 units)</a:t>
            </a:r>
            <a:endParaRPr lang="en-US" sz="1238" dirty="0"/>
          </a:p>
        </p:txBody>
      </p:sp>
      <p:sp>
        <p:nvSpPr>
          <p:cNvPr id="25" name="Text 23"/>
          <p:cNvSpPr/>
          <p:nvPr/>
        </p:nvSpPr>
        <p:spPr>
          <a:xfrm>
            <a:off x="14484351" y="2172792"/>
            <a:ext cx="3255010" cy="248741"/>
          </a:xfrm>
          <a:prstGeom prst="rect">
            <a:avLst/>
          </a:prstGeom>
          <a:noFill/>
          <a:ln/>
        </p:spPr>
        <p:txBody>
          <a:bodyPr wrap="square" lIns="25400" tIns="25400" rIns="25400" bIns="25400" rtlCol="0" anchor="t">
            <a:normAutofit/>
          </a:bodyPr>
          <a:lstStyle/>
          <a:p>
            <a:pPr algn="l" indent="0" marL="0">
              <a:lnSpc>
                <a:spcPct val="130000"/>
              </a:lnSpc>
              <a:buNone/>
            </a:pPr>
            <a:r>
              <a:rPr lang="en-US" sz="1238" b="1" dirty="0">
                <a:solidFill>
                  <a:srgbClr val="1F5E43"/>
                </a:solidFill>
                <a:latin typeface="Arial" pitchFamily="34" charset="0"/>
                <a:ea typeface="Arial" pitchFamily="34" charset="-122"/>
                <a:cs typeface="Arial" pitchFamily="34" charset="-120"/>
              </a:rPr>
              <a:t>B · </a:t>
            </a:r>
            <a:pPr algn="l" indent="0" marL="0">
              <a:lnSpc>
                <a:spcPct val="130000"/>
              </a:lnSpc>
              <a:buNone/>
            </a:pPr>
            <a:r>
              <a:rPr lang="en-US" sz="1238" dirty="0">
                <a:solidFill>
                  <a:srgbClr val="1F5E43"/>
                </a:solidFill>
                <a:latin typeface="Arial" pitchFamily="34" charset="0"/>
                <a:ea typeface="Arial" pitchFamily="34" charset="-122"/>
                <a:cs typeface="Arial" pitchFamily="34" charset="-120"/>
              </a:rPr>
              <a:t>Portfolio landlords &amp; PMs (10+ units)</a:t>
            </a:r>
            <a:endParaRPr lang="en-US" sz="1238" dirty="0"/>
          </a:p>
        </p:txBody>
      </p:sp>
      <p:sp>
        <p:nvSpPr>
          <p:cNvPr id="26" name="Text 24"/>
          <p:cNvSpPr/>
          <p:nvPr/>
        </p:nvSpPr>
        <p:spPr>
          <a:xfrm>
            <a:off x="14484351" y="2469158"/>
            <a:ext cx="3255010" cy="248741"/>
          </a:xfrm>
          <a:prstGeom prst="rect">
            <a:avLst/>
          </a:prstGeom>
          <a:noFill/>
          <a:ln/>
        </p:spPr>
        <p:txBody>
          <a:bodyPr wrap="square" lIns="25400" tIns="25400" rIns="25400" bIns="25400" rtlCol="0" anchor="t">
            <a:normAutofit/>
          </a:bodyPr>
          <a:lstStyle/>
          <a:p>
            <a:pPr algn="l" indent="0" marL="0">
              <a:lnSpc>
                <a:spcPct val="130000"/>
              </a:lnSpc>
              <a:buNone/>
            </a:pPr>
            <a:r>
              <a:rPr lang="en-US" sz="1238" b="1" dirty="0">
                <a:solidFill>
                  <a:srgbClr val="8F4F2C"/>
                </a:solidFill>
                <a:latin typeface="Arial" pitchFamily="34" charset="0"/>
                <a:ea typeface="Arial" pitchFamily="34" charset="-122"/>
                <a:cs typeface="Arial" pitchFamily="34" charset="-120"/>
              </a:rPr>
              <a:t>C · </a:t>
            </a:r>
            <a:pPr algn="l" indent="0" marL="0">
              <a:lnSpc>
                <a:spcPct val="130000"/>
              </a:lnSpc>
              <a:buNone/>
            </a:pPr>
            <a:r>
              <a:rPr lang="en-US" sz="1238" dirty="0">
                <a:solidFill>
                  <a:srgbClr val="8F4F2C"/>
                </a:solidFill>
                <a:latin typeface="Arial" pitchFamily="34" charset="0"/>
                <a:ea typeface="Arial" pitchFamily="34" charset="-122"/>
                <a:cs typeface="Arial" pitchFamily="34" charset="-120"/>
              </a:rPr>
              <a:t>High-urgency voucher tenants</a:t>
            </a:r>
            <a:endParaRPr lang="en-US" sz="1238" dirty="0"/>
          </a:p>
        </p:txBody>
      </p:sp>
      <p:sp>
        <p:nvSpPr>
          <p:cNvPr id="27" name="Text 25"/>
          <p:cNvSpPr/>
          <p:nvPr/>
        </p:nvSpPr>
        <p:spPr>
          <a:xfrm>
            <a:off x="14484351" y="2765524"/>
            <a:ext cx="3255010" cy="248741"/>
          </a:xfrm>
          <a:prstGeom prst="rect">
            <a:avLst/>
          </a:prstGeom>
          <a:noFill/>
          <a:ln/>
        </p:spPr>
        <p:txBody>
          <a:bodyPr wrap="square" lIns="25400" tIns="25400" rIns="25400" bIns="25400" rtlCol="0" anchor="t">
            <a:normAutofit/>
          </a:bodyPr>
          <a:lstStyle/>
          <a:p>
            <a:pPr algn="l" indent="0" marL="0">
              <a:lnSpc>
                <a:spcPct val="130000"/>
              </a:lnSpc>
              <a:buNone/>
            </a:pPr>
            <a:r>
              <a:rPr lang="en-US" sz="1238" b="1" dirty="0">
                <a:solidFill>
                  <a:srgbClr val="8F4F2C"/>
                </a:solidFill>
                <a:latin typeface="Arial" pitchFamily="34" charset="0"/>
                <a:ea typeface="Arial" pitchFamily="34" charset="-122"/>
                <a:cs typeface="Arial" pitchFamily="34" charset="-120"/>
              </a:rPr>
              <a:t>D · </a:t>
            </a:r>
            <a:pPr algn="l" indent="0" marL="0">
              <a:lnSpc>
                <a:spcPct val="130000"/>
              </a:lnSpc>
              <a:buNone/>
            </a:pPr>
            <a:r>
              <a:rPr lang="en-US" sz="1238" dirty="0">
                <a:solidFill>
                  <a:srgbClr val="8F4F2C"/>
                </a:solidFill>
                <a:latin typeface="Arial" pitchFamily="34" charset="0"/>
                <a:ea typeface="Arial" pitchFamily="34" charset="-122"/>
                <a:cs typeface="Arial" pitchFamily="34" charset="-120"/>
              </a:rPr>
              <a:t>Port-in &amp; specialized subsidies</a:t>
            </a:r>
            <a:endParaRPr lang="en-US" sz="1238" dirty="0"/>
          </a:p>
        </p:txBody>
      </p:sp>
      <p:sp>
        <p:nvSpPr>
          <p:cNvPr id="28" name="Shape 26"/>
          <p:cNvSpPr/>
          <p:nvPr/>
        </p:nvSpPr>
        <p:spPr>
          <a:xfrm>
            <a:off x="4076700" y="4992688"/>
            <a:ext cx="3314700" cy="3446463"/>
          </a:xfrm>
          <a:prstGeom prst="roundRect">
            <a:avLst>
              <a:gd name="adj" fmla="val 1437"/>
            </a:avLst>
          </a:prstGeom>
          <a:solidFill>
            <a:srgbClr val="FFFFFF"/>
          </a:solidFill>
          <a:ln w="6350">
            <a:solidFill>
              <a:srgbClr val="18221E">
                <a:alpha val="13000"/>
              </a:srgbClr>
            </a:solidFill>
            <a:prstDash val="solid"/>
          </a:ln>
        </p:spPr>
      </p:sp>
      <p:sp>
        <p:nvSpPr>
          <p:cNvPr id="29" name="Text 27"/>
          <p:cNvSpPr/>
          <p:nvPr/>
        </p:nvSpPr>
        <p:spPr>
          <a:xfrm>
            <a:off x="4254500" y="5151438"/>
            <a:ext cx="3255010" cy="190500"/>
          </a:xfrm>
          <a:prstGeom prst="rect">
            <a:avLst/>
          </a:prstGeom>
          <a:noFill/>
          <a:ln/>
        </p:spPr>
        <p:txBody>
          <a:bodyPr wrap="square" lIns="25400" tIns="25400" rIns="25400" bIns="25400" rtlCol="0" anchor="t">
            <a:normAutofit/>
          </a:bodyPr>
          <a:lstStyle/>
          <a:p>
            <a:pPr algn="l" indent="0" marL="0">
              <a:buNone/>
            </a:pPr>
            <a:r>
              <a:rPr lang="en-US" sz="907" spc="109" kern="0" dirty="0">
                <a:solidFill>
                  <a:srgbClr val="5C6660"/>
                </a:solidFill>
                <a:latin typeface="Courier New" pitchFamily="34" charset="0"/>
                <a:ea typeface="Courier New" pitchFamily="34" charset="-122"/>
                <a:cs typeface="Courier New" pitchFamily="34" charset="-120"/>
              </a:rPr>
              <a:t>KEY RESOURCES</a:t>
            </a:r>
            <a:endParaRPr lang="en-US" sz="907" dirty="0"/>
          </a:p>
        </p:txBody>
      </p:sp>
      <p:sp>
        <p:nvSpPr>
          <p:cNvPr id="30" name="Text 28"/>
          <p:cNvSpPr/>
          <p:nvPr/>
        </p:nvSpPr>
        <p:spPr>
          <a:xfrm>
            <a:off x="4254500" y="5399088"/>
            <a:ext cx="3255010" cy="248741"/>
          </a:xfrm>
          <a:prstGeom prst="rect">
            <a:avLst/>
          </a:prstGeom>
          <a:noFill/>
          <a:ln/>
        </p:spPr>
        <p:txBody>
          <a:bodyPr wrap="square" lIns="25400" tIns="25400" rIns="25400" bIns="25400" rtlCol="0" anchor="t">
            <a:normAutofit/>
          </a:bodyPr>
          <a:lstStyle/>
          <a:p>
            <a:pPr algn="l" indent="0" marL="0">
              <a:lnSpc>
                <a:spcPct val="130000"/>
              </a:lnSpc>
              <a:buNone/>
            </a:pPr>
            <a:r>
              <a:rPr lang="en-US" sz="1238" b="1" dirty="0">
                <a:solidFill>
                  <a:srgbClr val="2B332E"/>
                </a:solidFill>
                <a:latin typeface="Arial" pitchFamily="34" charset="0"/>
                <a:ea typeface="Arial" pitchFamily="34" charset="-122"/>
                <a:cs typeface="Arial" pitchFamily="34" charset="-120"/>
              </a:rPr>
              <a:t>Insider AHA expertise </a:t>
            </a:r>
            <a:pPr algn="l" indent="0" marL="0">
              <a:lnSpc>
                <a:spcPct val="130000"/>
              </a:lnSpc>
              <a:buNone/>
            </a:pPr>
            <a:r>
              <a:rPr lang="en-US" sz="1238" dirty="0">
                <a:solidFill>
                  <a:srgbClr val="2B332E"/>
                </a:solidFill>
                <a:latin typeface="Arial" pitchFamily="34" charset="0"/>
                <a:ea typeface="Arial" pitchFamily="34" charset="-122"/>
                <a:cs typeface="Arial" pitchFamily="34" charset="-120"/>
              </a:rPr>
              <a:t>— the moat</a:t>
            </a:r>
            <a:endParaRPr lang="en-US" sz="1238" dirty="0"/>
          </a:p>
        </p:txBody>
      </p:sp>
      <p:sp>
        <p:nvSpPr>
          <p:cNvPr id="31" name="Text 29"/>
          <p:cNvSpPr/>
          <p:nvPr/>
        </p:nvSpPr>
        <p:spPr>
          <a:xfrm>
            <a:off x="4254500" y="5676404"/>
            <a:ext cx="3255010" cy="242391"/>
          </a:xfrm>
          <a:prstGeom prst="rect">
            <a:avLst/>
          </a:prstGeom>
          <a:noFill/>
          <a:ln/>
        </p:spPr>
        <p:txBody>
          <a:bodyPr wrap="square" lIns="25400" tIns="25400" rIns="25400" bIns="25400" rtlCol="0" anchor="t">
            <a:normAutofit/>
          </a:bodyPr>
          <a:lstStyle/>
          <a:p>
            <a:pPr algn="l" indent="0" marL="0">
              <a:lnSpc>
                <a:spcPct val="130000"/>
              </a:lnSpc>
              <a:buNone/>
            </a:pPr>
            <a:r>
              <a:rPr lang="en-US" sz="1238" dirty="0">
                <a:solidFill>
                  <a:srgbClr val="2B332E"/>
                </a:solidFill>
                <a:latin typeface="Arial" pitchFamily="34" charset="0"/>
                <a:ea typeface="Arial" pitchFamily="34" charset="-122"/>
                <a:cs typeface="Arial" pitchFamily="34" charset="-120"/>
              </a:rPr>
              <a:t>Verified voucher-only inventory</a:t>
            </a:r>
            <a:endParaRPr lang="en-US" sz="1238" dirty="0"/>
          </a:p>
        </p:txBody>
      </p:sp>
      <p:sp>
        <p:nvSpPr>
          <p:cNvPr id="32" name="Text 30"/>
          <p:cNvSpPr/>
          <p:nvPr/>
        </p:nvSpPr>
        <p:spPr>
          <a:xfrm>
            <a:off x="4254500" y="5947371"/>
            <a:ext cx="3255010" cy="242391"/>
          </a:xfrm>
          <a:prstGeom prst="rect">
            <a:avLst/>
          </a:prstGeom>
          <a:noFill/>
          <a:ln/>
        </p:spPr>
        <p:txBody>
          <a:bodyPr wrap="square" lIns="25400" tIns="25400" rIns="25400" bIns="25400" rtlCol="0" anchor="t">
            <a:normAutofit/>
          </a:bodyPr>
          <a:lstStyle/>
          <a:p>
            <a:pPr algn="l" indent="0" marL="0">
              <a:lnSpc>
                <a:spcPct val="130000"/>
              </a:lnSpc>
              <a:buNone/>
            </a:pPr>
            <a:r>
              <a:rPr lang="en-US" sz="1238" dirty="0">
                <a:solidFill>
                  <a:srgbClr val="2B332E"/>
                </a:solidFill>
                <a:latin typeface="Arial" pitchFamily="34" charset="0"/>
                <a:ea typeface="Arial" pitchFamily="34" charset="-122"/>
                <a:cs typeface="Arial" pitchFamily="34" charset="-120"/>
              </a:rPr>
              <a:t>The two-sided network itself</a:t>
            </a:r>
            <a:endParaRPr lang="en-US" sz="1238" dirty="0"/>
          </a:p>
        </p:txBody>
      </p:sp>
      <p:sp>
        <p:nvSpPr>
          <p:cNvPr id="33" name="Shape 31"/>
          <p:cNvSpPr/>
          <p:nvPr/>
        </p:nvSpPr>
        <p:spPr>
          <a:xfrm>
            <a:off x="10896600" y="4992688"/>
            <a:ext cx="3314700" cy="3446463"/>
          </a:xfrm>
          <a:prstGeom prst="roundRect">
            <a:avLst>
              <a:gd name="adj" fmla="val 1437"/>
            </a:avLst>
          </a:prstGeom>
          <a:solidFill>
            <a:srgbClr val="FFFFFF"/>
          </a:solidFill>
          <a:ln w="6350">
            <a:solidFill>
              <a:srgbClr val="18221E">
                <a:alpha val="13000"/>
              </a:srgbClr>
            </a:solidFill>
            <a:prstDash val="solid"/>
          </a:ln>
        </p:spPr>
      </p:sp>
      <p:sp>
        <p:nvSpPr>
          <p:cNvPr id="34" name="Text 32"/>
          <p:cNvSpPr/>
          <p:nvPr/>
        </p:nvSpPr>
        <p:spPr>
          <a:xfrm>
            <a:off x="11074401" y="5151438"/>
            <a:ext cx="3255010" cy="190500"/>
          </a:xfrm>
          <a:prstGeom prst="rect">
            <a:avLst/>
          </a:prstGeom>
          <a:noFill/>
          <a:ln/>
        </p:spPr>
        <p:txBody>
          <a:bodyPr wrap="square" lIns="25400" tIns="25400" rIns="25400" bIns="25400" rtlCol="0" anchor="t">
            <a:normAutofit/>
          </a:bodyPr>
          <a:lstStyle/>
          <a:p>
            <a:pPr algn="l" indent="0" marL="0">
              <a:buNone/>
            </a:pPr>
            <a:r>
              <a:rPr lang="en-US" sz="907" spc="109" kern="0" dirty="0">
                <a:solidFill>
                  <a:srgbClr val="5C6660"/>
                </a:solidFill>
                <a:latin typeface="Courier New" pitchFamily="34" charset="0"/>
                <a:ea typeface="Courier New" pitchFamily="34" charset="-122"/>
                <a:cs typeface="Courier New" pitchFamily="34" charset="-120"/>
              </a:rPr>
              <a:t>CHANNELS</a:t>
            </a:r>
            <a:endParaRPr lang="en-US" sz="907" dirty="0"/>
          </a:p>
        </p:txBody>
      </p:sp>
      <p:sp>
        <p:nvSpPr>
          <p:cNvPr id="35" name="Text 33"/>
          <p:cNvSpPr/>
          <p:nvPr/>
        </p:nvSpPr>
        <p:spPr>
          <a:xfrm>
            <a:off x="10964387" y="5399088"/>
            <a:ext cx="3145314" cy="513357"/>
          </a:xfrm>
          <a:prstGeom prst="rect">
            <a:avLst/>
          </a:prstGeom>
          <a:noFill/>
          <a:ln/>
        </p:spPr>
        <p:txBody>
          <a:bodyPr wrap="square" lIns="25400" tIns="25400" rIns="25400" bIns="25400" rtlCol="0" anchor="t">
            <a:normAutofit/>
          </a:bodyPr>
          <a:lstStyle/>
          <a:p>
            <a:pPr algn="l" indent="0" marL="0">
              <a:lnSpc>
                <a:spcPct val="130000"/>
              </a:lnSpc>
              <a:buNone/>
            </a:pPr>
            <a:r>
              <a:rPr lang="en-US" sz="1238" dirty="0">
                <a:solidFill>
                  <a:srgbClr val="2B332E"/>
                </a:solidFill>
                <a:latin typeface="Arial" pitchFamily="34" charset="0"/>
                <a:ea typeface="Arial" pitchFamily="34" charset="-122"/>
                <a:cs typeface="Arial" pitchFamily="34" charset="-120"/>
              </a:rPr>
              <a:t>settleed.com · authority referrals</a:t>
            </a:r>
            <a:endParaRPr lang="en-US" sz="1238" dirty="0"/>
          </a:p>
          <a:p>
            <a:pPr algn="l" indent="0" marL="0">
              <a:lnSpc>
                <a:spcPct val="130000"/>
              </a:lnSpc>
              <a:buNone/>
            </a:pPr>
            <a:r>
              <a:rPr lang="en-US" sz="1238" dirty="0">
                <a:solidFill>
                  <a:srgbClr val="2B332E"/>
                </a:solidFill>
                <a:latin typeface="Arial" pitchFamily="34" charset="0"/>
                <a:ea typeface="Arial" pitchFamily="34" charset="-122"/>
                <a:cs typeface="Arial" pitchFamily="34" charset="-120"/>
              </a:rPr>
              <a:t>Landlord FB groups · caseworkers</a:t>
            </a:r>
            <a:endParaRPr lang="en-US" sz="1238" dirty="0"/>
          </a:p>
        </p:txBody>
      </p:sp>
      <p:sp>
        <p:nvSpPr>
          <p:cNvPr id="36" name="Shape 34"/>
          <p:cNvSpPr/>
          <p:nvPr/>
        </p:nvSpPr>
        <p:spPr>
          <a:xfrm>
            <a:off x="666750" y="8534400"/>
            <a:ext cx="8429625" cy="1238250"/>
          </a:xfrm>
          <a:prstGeom prst="roundRect">
            <a:avLst>
              <a:gd name="adj" fmla="val 3846"/>
            </a:avLst>
          </a:prstGeom>
          <a:solidFill>
            <a:srgbClr val="EFEDE6"/>
          </a:solidFill>
          <a:ln w="6350">
            <a:solidFill>
              <a:srgbClr val="18221E">
                <a:alpha val="13000"/>
              </a:srgbClr>
            </a:solidFill>
            <a:prstDash val="solid"/>
          </a:ln>
        </p:spPr>
      </p:sp>
      <p:sp>
        <p:nvSpPr>
          <p:cNvPr id="37" name="Text 35"/>
          <p:cNvSpPr/>
          <p:nvPr/>
        </p:nvSpPr>
        <p:spPr>
          <a:xfrm>
            <a:off x="844550" y="8693150"/>
            <a:ext cx="8881428" cy="190500"/>
          </a:xfrm>
          <a:prstGeom prst="rect">
            <a:avLst/>
          </a:prstGeom>
          <a:noFill/>
          <a:ln/>
        </p:spPr>
        <p:txBody>
          <a:bodyPr wrap="square" lIns="25400" tIns="25400" rIns="25400" bIns="25400" rtlCol="0" anchor="t">
            <a:normAutofit/>
          </a:bodyPr>
          <a:lstStyle/>
          <a:p>
            <a:pPr algn="l" indent="0" marL="0">
              <a:buNone/>
            </a:pPr>
            <a:r>
              <a:rPr lang="en-US" sz="907" spc="109" kern="0" dirty="0">
                <a:solidFill>
                  <a:srgbClr val="5C6660"/>
                </a:solidFill>
                <a:latin typeface="Courier New" pitchFamily="34" charset="0"/>
                <a:ea typeface="Courier New" pitchFamily="34" charset="-122"/>
                <a:cs typeface="Courier New" pitchFamily="34" charset="-120"/>
              </a:rPr>
              <a:t>COST STRUCTURE</a:t>
            </a:r>
            <a:endParaRPr lang="en-US" sz="907" dirty="0"/>
          </a:p>
        </p:txBody>
      </p:sp>
      <p:sp>
        <p:nvSpPr>
          <p:cNvPr id="38" name="Text 36"/>
          <p:cNvSpPr/>
          <p:nvPr/>
        </p:nvSpPr>
        <p:spPr>
          <a:xfrm>
            <a:off x="844550" y="8940800"/>
            <a:ext cx="8881428" cy="25806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2B332E"/>
                </a:solidFill>
                <a:latin typeface="Arial" pitchFamily="34" charset="0"/>
                <a:ea typeface="Arial" pitchFamily="34" charset="-122"/>
                <a:cs typeface="Arial" pitchFamily="34" charset="-120"/>
              </a:rPr>
              <a:t>Platform &amp; product development · Verification &amp; inspection ops · Partnership &amp; compliance · Customer acquisition</a:t>
            </a:r>
            <a:endParaRPr lang="en-US" sz="1238" dirty="0"/>
          </a:p>
        </p:txBody>
      </p:sp>
      <p:sp>
        <p:nvSpPr>
          <p:cNvPr id="39" name="Shape 37"/>
          <p:cNvSpPr/>
          <p:nvPr/>
        </p:nvSpPr>
        <p:spPr>
          <a:xfrm>
            <a:off x="9191625" y="8534400"/>
            <a:ext cx="8429625" cy="1238250"/>
          </a:xfrm>
          <a:prstGeom prst="roundRect">
            <a:avLst>
              <a:gd name="adj" fmla="val 3846"/>
            </a:avLst>
          </a:prstGeom>
          <a:solidFill>
            <a:srgbClr val="2C7A58">
              <a:alpha val="10000"/>
            </a:srgbClr>
          </a:solidFill>
          <a:ln w="6350">
            <a:solidFill>
              <a:srgbClr val="2C7A58">
                <a:alpha val="30000"/>
              </a:srgbClr>
            </a:solidFill>
            <a:prstDash val="solid"/>
          </a:ln>
        </p:spPr>
      </p:sp>
      <p:sp>
        <p:nvSpPr>
          <p:cNvPr id="40" name="Text 38"/>
          <p:cNvSpPr/>
          <p:nvPr/>
        </p:nvSpPr>
        <p:spPr>
          <a:xfrm>
            <a:off x="9369425" y="8693150"/>
            <a:ext cx="8881428" cy="190500"/>
          </a:xfrm>
          <a:prstGeom prst="rect">
            <a:avLst/>
          </a:prstGeom>
          <a:noFill/>
          <a:ln/>
        </p:spPr>
        <p:txBody>
          <a:bodyPr wrap="square" lIns="25400" tIns="25400" rIns="25400" bIns="25400" rtlCol="0" anchor="t">
            <a:normAutofit/>
          </a:bodyPr>
          <a:lstStyle/>
          <a:p>
            <a:pPr algn="l" indent="0" marL="0">
              <a:buNone/>
            </a:pPr>
            <a:r>
              <a:rPr lang="en-US" sz="907" spc="109" kern="0" dirty="0">
                <a:solidFill>
                  <a:srgbClr val="2C7A58"/>
                </a:solidFill>
                <a:latin typeface="Courier New" pitchFamily="34" charset="0"/>
                <a:ea typeface="Courier New" pitchFamily="34" charset="-122"/>
                <a:cs typeface="Courier New" pitchFamily="34" charset="-120"/>
              </a:rPr>
              <a:t>REVENUE STREAMS</a:t>
            </a:r>
            <a:endParaRPr lang="en-US" sz="907" dirty="0"/>
          </a:p>
        </p:txBody>
      </p:sp>
      <p:sp>
        <p:nvSpPr>
          <p:cNvPr id="41" name="Text 39"/>
          <p:cNvSpPr/>
          <p:nvPr/>
        </p:nvSpPr>
        <p:spPr>
          <a:xfrm>
            <a:off x="9369425" y="8940800"/>
            <a:ext cx="8316246" cy="484386"/>
          </a:xfrm>
          <a:prstGeom prst="rect">
            <a:avLst/>
          </a:prstGeom>
          <a:noFill/>
          <a:ln/>
        </p:spPr>
        <p:txBody>
          <a:bodyPr wrap="square" lIns="25400" tIns="25400" rIns="25400" bIns="25400" rtlCol="0" anchor="t">
            <a:normAutofit/>
          </a:bodyPr>
          <a:lstStyle/>
          <a:p>
            <a:pPr algn="l" indent="0" marL="0">
              <a:lnSpc>
                <a:spcPct val="140000"/>
              </a:lnSpc>
              <a:buNone/>
            </a:pPr>
            <a:r>
              <a:rPr lang="en-US" sz="1238" b="1" dirty="0">
                <a:solidFill>
                  <a:srgbClr val="1F3A2C"/>
                </a:solidFill>
                <a:latin typeface="Arial" pitchFamily="34" charset="0"/>
                <a:ea typeface="Arial" pitchFamily="34" charset="-122"/>
                <a:cs typeface="Arial" pitchFamily="34" charset="-120"/>
              </a:rPr>
              <a:t>$49/mo landlord subscription </a:t>
            </a:r>
            <a:pPr algn="l" indent="0" marL="0">
              <a:lnSpc>
                <a:spcPct val="140000"/>
              </a:lnSpc>
              <a:buNone/>
            </a:pPr>
            <a:r>
              <a:rPr lang="en-US" sz="1238" dirty="0">
                <a:solidFill>
                  <a:srgbClr val="1F3A2C"/>
                </a:solidFill>
                <a:latin typeface="Arial" pitchFamily="34" charset="0"/>
                <a:ea typeface="Arial" pitchFamily="34" charset="-122"/>
                <a:cs typeface="Arial" pitchFamily="34" charset="-120"/>
              </a:rPr>
              <a:t>— the single revenue stream · </a:t>
            </a:r>
            <a:pPr algn="l" indent="0" marL="0">
              <a:lnSpc>
                <a:spcPct val="140000"/>
              </a:lnSpc>
              <a:buNone/>
            </a:pPr>
            <a:r>
              <a:rPr lang="en-US" sz="1238" b="1" dirty="0">
                <a:solidFill>
                  <a:srgbClr val="1F3A2C"/>
                </a:solidFill>
                <a:latin typeface="Arial" pitchFamily="34" charset="0"/>
                <a:ea typeface="Arial" pitchFamily="34" charset="-122"/>
                <a:cs typeface="Arial" pitchFamily="34" charset="-120"/>
              </a:rPr>
              <a:t>Free for tenants </a:t>
            </a:r>
            <a:pPr algn="l" indent="0" marL="0">
              <a:lnSpc>
                <a:spcPct val="140000"/>
              </a:lnSpc>
              <a:buNone/>
            </a:pPr>
            <a:r>
              <a:rPr lang="en-US" sz="1238" dirty="0">
                <a:solidFill>
                  <a:srgbClr val="1F3A2C"/>
                </a:solidFill>
                <a:latin typeface="Arial" pitchFamily="34" charset="0"/>
                <a:ea typeface="Arial" pitchFamily="34" charset="-122"/>
                <a:cs typeface="Arial" pitchFamily="34" charset="-120"/>
              </a:rPr>
              <a:t>(every feature) — simple, recurring SaaS revenue</a:t>
            </a:r>
            <a:endParaRPr lang="en-US" sz="1238"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800100" y="1424384"/>
            <a:ext cx="16687800" cy="9525"/>
          </a:xfrm>
          <a:prstGeom prst="rect">
            <a:avLst/>
          </a:prstGeom>
          <a:solidFill>
            <a:srgbClr val="18221E">
              <a:alpha val="16000"/>
            </a:srgbClr>
          </a:solidFill>
          <a:ln/>
        </p:spPr>
      </p:sp>
      <p:sp>
        <p:nvSpPr>
          <p:cNvPr id="3" name="Text 1"/>
          <p:cNvSpPr/>
          <p:nvPr/>
        </p:nvSpPr>
        <p:spPr>
          <a:xfrm>
            <a:off x="800100" y="609600"/>
            <a:ext cx="10619492" cy="215900"/>
          </a:xfrm>
          <a:prstGeom prst="rect">
            <a:avLst/>
          </a:prstGeom>
          <a:noFill/>
          <a:ln/>
        </p:spPr>
        <p:txBody>
          <a:bodyPr wrap="square" lIns="25400" tIns="25400" rIns="25400" bIns="25400" rtlCol="0" anchor="t">
            <a:normAutofit/>
          </a:bodyPr>
          <a:lstStyle/>
          <a:p>
            <a:pPr algn="l" indent="0" marL="0">
              <a:buNone/>
            </a:pPr>
            <a:r>
              <a:rPr lang="en-US" sz="1073" spc="215" kern="0" dirty="0">
                <a:solidFill>
                  <a:srgbClr val="2C7A58"/>
                </a:solidFill>
                <a:latin typeface="Courier New" pitchFamily="34" charset="0"/>
                <a:ea typeface="Courier New" pitchFamily="34" charset="-122"/>
                <a:cs typeface="Courier New" pitchFamily="34" charset="-120"/>
              </a:rPr>
              <a:t>REVENUE MODEL</a:t>
            </a:r>
            <a:endParaRPr lang="en-US" sz="1073" dirty="0"/>
          </a:p>
        </p:txBody>
      </p:sp>
      <p:sp>
        <p:nvSpPr>
          <p:cNvPr id="4" name="Text 2"/>
          <p:cNvSpPr/>
          <p:nvPr/>
        </p:nvSpPr>
        <p:spPr>
          <a:xfrm>
            <a:off x="800100" y="844550"/>
            <a:ext cx="10619492" cy="465534"/>
          </a:xfrm>
          <a:prstGeom prst="rect">
            <a:avLst/>
          </a:prstGeom>
          <a:noFill/>
          <a:ln/>
        </p:spPr>
        <p:txBody>
          <a:bodyPr wrap="square" lIns="25400" tIns="25400" rIns="25400" bIns="25400" rtlCol="0" anchor="t">
            <a:normAutofit/>
          </a:bodyPr>
          <a:lstStyle/>
          <a:p>
            <a:pPr algn="l" indent="0" marL="0">
              <a:lnSpc>
                <a:spcPct val="102000"/>
              </a:lnSpc>
              <a:buNone/>
            </a:pPr>
            <a:r>
              <a:rPr lang="en-US" sz="3300" b="1" spc="-66" kern="0" dirty="0">
                <a:solidFill>
                  <a:srgbClr val="14201A"/>
                </a:solidFill>
                <a:latin typeface="Arial" pitchFamily="34" charset="0"/>
                <a:ea typeface="Arial" pitchFamily="34" charset="-122"/>
                <a:cs typeface="Arial" pitchFamily="34" charset="-120"/>
              </a:rPr>
              <a:t>Landlords pay; tenants stay free. Profitable early.</a:t>
            </a:r>
            <a:endParaRPr lang="en-US" sz="3300" dirty="0"/>
          </a:p>
        </p:txBody>
      </p:sp>
      <p:sp>
        <p:nvSpPr>
          <p:cNvPr id="5" name="Text 3"/>
          <p:cNvSpPr/>
          <p:nvPr/>
        </p:nvSpPr>
        <p:spPr>
          <a:xfrm>
            <a:off x="14644985" y="1113234"/>
            <a:ext cx="3127206"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ONE FLAT PRICE · TENANTS FREE</a:t>
            </a:r>
            <a:endParaRPr lang="en-US" sz="990" dirty="0"/>
          </a:p>
        </p:txBody>
      </p:sp>
      <p:sp>
        <p:nvSpPr>
          <p:cNvPr id="6" name="Shape 4"/>
          <p:cNvSpPr/>
          <p:nvPr/>
        </p:nvSpPr>
        <p:spPr>
          <a:xfrm>
            <a:off x="800100" y="1678384"/>
            <a:ext cx="12458700" cy="3777258"/>
          </a:xfrm>
          <a:prstGeom prst="roundRect">
            <a:avLst>
              <a:gd name="adj" fmla="val 2017"/>
            </a:avLst>
          </a:prstGeom>
          <a:solidFill>
            <a:srgbClr val="FFFFFF"/>
          </a:solidFill>
          <a:ln/>
        </p:spPr>
      </p:sp>
      <p:sp>
        <p:nvSpPr>
          <p:cNvPr id="7" name="Shape 5"/>
          <p:cNvSpPr/>
          <p:nvPr/>
        </p:nvSpPr>
        <p:spPr>
          <a:xfrm>
            <a:off x="800100" y="5449292"/>
            <a:ext cx="12458700" cy="9525"/>
          </a:xfrm>
          <a:prstGeom prst="rect">
            <a:avLst/>
          </a:prstGeom>
          <a:solidFill>
            <a:srgbClr val="2C7A58">
              <a:alpha val="30000"/>
            </a:srgbClr>
          </a:solidFill>
          <a:ln/>
        </p:spPr>
      </p:sp>
      <p:sp>
        <p:nvSpPr>
          <p:cNvPr id="8" name="Shape 6"/>
          <p:cNvSpPr/>
          <p:nvPr/>
        </p:nvSpPr>
        <p:spPr>
          <a:xfrm>
            <a:off x="800100" y="1678384"/>
            <a:ext cx="12458700" cy="9525"/>
          </a:xfrm>
          <a:prstGeom prst="rect">
            <a:avLst/>
          </a:prstGeom>
          <a:solidFill>
            <a:srgbClr val="2C7A58">
              <a:alpha val="30000"/>
            </a:srgbClr>
          </a:solidFill>
          <a:ln/>
        </p:spPr>
      </p:sp>
      <p:sp>
        <p:nvSpPr>
          <p:cNvPr id="9" name="Shape 7"/>
          <p:cNvSpPr/>
          <p:nvPr/>
        </p:nvSpPr>
        <p:spPr>
          <a:xfrm>
            <a:off x="800100" y="1678384"/>
            <a:ext cx="57150" cy="3777258"/>
          </a:xfrm>
          <a:prstGeom prst="rect">
            <a:avLst/>
          </a:prstGeom>
          <a:solidFill>
            <a:srgbClr val="2C7A58"/>
          </a:solidFill>
          <a:ln/>
        </p:spPr>
      </p:sp>
      <p:sp>
        <p:nvSpPr>
          <p:cNvPr id="10" name="Shape 8"/>
          <p:cNvSpPr/>
          <p:nvPr/>
        </p:nvSpPr>
        <p:spPr>
          <a:xfrm>
            <a:off x="13252450" y="1678384"/>
            <a:ext cx="9525" cy="3777258"/>
          </a:xfrm>
          <a:prstGeom prst="rect">
            <a:avLst/>
          </a:prstGeom>
          <a:solidFill>
            <a:srgbClr val="2C7A58">
              <a:alpha val="30000"/>
            </a:srgbClr>
          </a:solidFill>
          <a:ln/>
        </p:spPr>
      </p:sp>
      <p:sp>
        <p:nvSpPr>
          <p:cNvPr id="11" name="Text 9"/>
          <p:cNvSpPr/>
          <p:nvPr/>
        </p:nvSpPr>
        <p:spPr>
          <a:xfrm>
            <a:off x="1181100" y="3288606"/>
            <a:ext cx="2217956" cy="215900"/>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2C7A58"/>
                </a:solidFill>
                <a:latin typeface="Courier New" pitchFamily="34" charset="0"/>
                <a:ea typeface="Courier New" pitchFamily="34" charset="-122"/>
                <a:cs typeface="Courier New" pitchFamily="34" charset="-120"/>
              </a:rPr>
              <a:t>LANDLORD SUBSCRIPTION</a:t>
            </a:r>
            <a:endParaRPr lang="en-US" sz="1050" dirty="0"/>
          </a:p>
        </p:txBody>
      </p:sp>
      <p:sp>
        <p:nvSpPr>
          <p:cNvPr id="12" name="Text 10"/>
          <p:cNvSpPr/>
          <p:nvPr/>
        </p:nvSpPr>
        <p:spPr>
          <a:xfrm>
            <a:off x="11514039" y="3021906"/>
            <a:ext cx="1556018" cy="491430"/>
          </a:xfrm>
          <a:prstGeom prst="rect">
            <a:avLst/>
          </a:prstGeom>
          <a:noFill/>
          <a:ln/>
        </p:spPr>
        <p:txBody>
          <a:bodyPr wrap="square" lIns="25400" tIns="25400" rIns="25400" bIns="25400" rtlCol="0" anchor="t">
            <a:normAutofit/>
          </a:bodyPr>
          <a:lstStyle/>
          <a:p>
            <a:pPr algn="l" indent="0" marL="0">
              <a:lnSpc>
                <a:spcPct val="85000"/>
              </a:lnSpc>
              <a:buNone/>
            </a:pPr>
            <a:r>
              <a:rPr lang="en-US" sz="4200" b="1" dirty="0">
                <a:solidFill>
                  <a:srgbClr val="10201A"/>
                </a:solidFill>
                <a:latin typeface="Arial" pitchFamily="34" charset="0"/>
                <a:ea typeface="Arial" pitchFamily="34" charset="-122"/>
                <a:cs typeface="Arial" pitchFamily="34" charset="-120"/>
              </a:rPr>
              <a:t>$49</a:t>
            </a:r>
            <a:pPr algn="l" indent="0" marL="0">
              <a:lnSpc>
                <a:spcPct val="85000"/>
              </a:lnSpc>
              <a:buNone/>
            </a:pPr>
            <a:r>
              <a:rPr lang="en-US" sz="1800" b="1" dirty="0">
                <a:solidFill>
                  <a:srgbClr val="5C6660"/>
                </a:solidFill>
                <a:latin typeface="Arial" pitchFamily="34" charset="0"/>
                <a:ea typeface="Arial" pitchFamily="34" charset="-122"/>
                <a:cs typeface="Arial" pitchFamily="34" charset="-120"/>
              </a:rPr>
              <a:t>/mo</a:t>
            </a:r>
            <a:endParaRPr lang="en-US" sz="4200" dirty="0"/>
          </a:p>
        </p:txBody>
      </p:sp>
      <p:sp>
        <p:nvSpPr>
          <p:cNvPr id="13" name="Text 11"/>
          <p:cNvSpPr/>
          <p:nvPr/>
        </p:nvSpPr>
        <p:spPr>
          <a:xfrm>
            <a:off x="1181100" y="3589536"/>
            <a:ext cx="12099925" cy="560586"/>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A443E"/>
                </a:solidFill>
                <a:latin typeface="Arial" pitchFamily="34" charset="0"/>
                <a:ea typeface="Arial" pitchFamily="34" charset="-122"/>
                <a:cs typeface="Arial" pitchFamily="34" charset="-120"/>
              </a:rPr>
              <a:t>Verified tenants, instant match alerts, application inbox, HQS compliance tracking, Checkr background checks &amp; rent collection. </a:t>
            </a:r>
            <a:pPr algn="l" indent="0" marL="0">
              <a:lnSpc>
                <a:spcPct val="145000"/>
              </a:lnSpc>
              <a:buNone/>
            </a:pPr>
            <a:r>
              <a:rPr lang="en-US" sz="1350" b="1" dirty="0">
                <a:solidFill>
                  <a:srgbClr val="3A443E"/>
                </a:solidFill>
                <a:latin typeface="Arial" pitchFamily="34" charset="0"/>
                <a:ea typeface="Arial" pitchFamily="34" charset="-122"/>
                <a:cs typeface="Arial" pitchFamily="34" charset="-120"/>
              </a:rPr>
              <a:t>The single, simple revenue stream.</a:t>
            </a:r>
            <a:endParaRPr lang="en-US" sz="1350" dirty="0"/>
          </a:p>
        </p:txBody>
      </p:sp>
      <p:sp>
        <p:nvSpPr>
          <p:cNvPr id="14" name="Shape 12"/>
          <p:cNvSpPr/>
          <p:nvPr/>
        </p:nvSpPr>
        <p:spPr>
          <a:xfrm>
            <a:off x="800100" y="5646143"/>
            <a:ext cx="12458700" cy="3777258"/>
          </a:xfrm>
          <a:prstGeom prst="roundRect">
            <a:avLst>
              <a:gd name="adj" fmla="val 2017"/>
            </a:avLst>
          </a:prstGeom>
          <a:solidFill>
            <a:srgbClr val="FFFFFF"/>
          </a:solidFill>
          <a:ln/>
        </p:spPr>
      </p:sp>
      <p:sp>
        <p:nvSpPr>
          <p:cNvPr id="15" name="Shape 13"/>
          <p:cNvSpPr/>
          <p:nvPr/>
        </p:nvSpPr>
        <p:spPr>
          <a:xfrm>
            <a:off x="800100" y="9417050"/>
            <a:ext cx="12458700" cy="9525"/>
          </a:xfrm>
          <a:prstGeom prst="rect">
            <a:avLst/>
          </a:prstGeom>
          <a:solidFill>
            <a:srgbClr val="B0673E">
              <a:alpha val="30000"/>
            </a:srgbClr>
          </a:solidFill>
          <a:ln/>
        </p:spPr>
      </p:sp>
      <p:sp>
        <p:nvSpPr>
          <p:cNvPr id="16" name="Shape 14"/>
          <p:cNvSpPr/>
          <p:nvPr/>
        </p:nvSpPr>
        <p:spPr>
          <a:xfrm>
            <a:off x="800100" y="5646143"/>
            <a:ext cx="12458700" cy="9525"/>
          </a:xfrm>
          <a:prstGeom prst="rect">
            <a:avLst/>
          </a:prstGeom>
          <a:solidFill>
            <a:srgbClr val="B0673E">
              <a:alpha val="30000"/>
            </a:srgbClr>
          </a:solidFill>
          <a:ln/>
        </p:spPr>
      </p:sp>
      <p:sp>
        <p:nvSpPr>
          <p:cNvPr id="17" name="Shape 15"/>
          <p:cNvSpPr/>
          <p:nvPr/>
        </p:nvSpPr>
        <p:spPr>
          <a:xfrm>
            <a:off x="800100" y="5646143"/>
            <a:ext cx="57150" cy="3777258"/>
          </a:xfrm>
          <a:prstGeom prst="rect">
            <a:avLst/>
          </a:prstGeom>
          <a:solidFill>
            <a:srgbClr val="B0673E"/>
          </a:solidFill>
          <a:ln/>
        </p:spPr>
      </p:sp>
      <p:sp>
        <p:nvSpPr>
          <p:cNvPr id="18" name="Shape 16"/>
          <p:cNvSpPr/>
          <p:nvPr/>
        </p:nvSpPr>
        <p:spPr>
          <a:xfrm>
            <a:off x="13252450" y="5646143"/>
            <a:ext cx="9525" cy="3777258"/>
          </a:xfrm>
          <a:prstGeom prst="rect">
            <a:avLst/>
          </a:prstGeom>
          <a:solidFill>
            <a:srgbClr val="B0673E">
              <a:alpha val="30000"/>
            </a:srgbClr>
          </a:solidFill>
          <a:ln/>
        </p:spPr>
      </p:sp>
      <p:sp>
        <p:nvSpPr>
          <p:cNvPr id="19" name="Text 17"/>
          <p:cNvSpPr/>
          <p:nvPr/>
        </p:nvSpPr>
        <p:spPr>
          <a:xfrm>
            <a:off x="1181100" y="7387035"/>
            <a:ext cx="748308" cy="215900"/>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B0673E"/>
                </a:solidFill>
                <a:latin typeface="Courier New" pitchFamily="34" charset="0"/>
                <a:ea typeface="Courier New" pitchFamily="34" charset="-122"/>
                <a:cs typeface="Courier New" pitchFamily="34" charset="-120"/>
              </a:rPr>
              <a:t>TENANTS</a:t>
            </a:r>
            <a:endParaRPr lang="en-US" sz="1050" dirty="0"/>
          </a:p>
        </p:txBody>
      </p:sp>
      <p:sp>
        <p:nvSpPr>
          <p:cNvPr id="20" name="Text 18"/>
          <p:cNvSpPr/>
          <p:nvPr/>
        </p:nvSpPr>
        <p:spPr>
          <a:xfrm>
            <a:off x="11824395" y="7120335"/>
            <a:ext cx="1180405" cy="491430"/>
          </a:xfrm>
          <a:prstGeom prst="rect">
            <a:avLst/>
          </a:prstGeom>
          <a:noFill/>
          <a:ln/>
        </p:spPr>
        <p:txBody>
          <a:bodyPr wrap="square" lIns="25400" tIns="25400" rIns="25400" bIns="25400" rtlCol="0" anchor="t">
            <a:normAutofit/>
          </a:bodyPr>
          <a:lstStyle/>
          <a:p>
            <a:pPr algn="l" indent="0" marL="0">
              <a:lnSpc>
                <a:spcPct val="85000"/>
              </a:lnSpc>
              <a:buNone/>
            </a:pPr>
            <a:r>
              <a:rPr lang="en-US" sz="4200" b="1" dirty="0">
                <a:solidFill>
                  <a:srgbClr val="10201A"/>
                </a:solidFill>
                <a:latin typeface="Arial" pitchFamily="34" charset="0"/>
                <a:ea typeface="Arial" pitchFamily="34" charset="-122"/>
                <a:cs typeface="Arial" pitchFamily="34" charset="-120"/>
              </a:rPr>
              <a:t>Free</a:t>
            </a:r>
            <a:endParaRPr lang="en-US" sz="4200" dirty="0"/>
          </a:p>
        </p:txBody>
      </p:sp>
      <p:sp>
        <p:nvSpPr>
          <p:cNvPr id="21" name="Text 19"/>
          <p:cNvSpPr/>
          <p:nvPr/>
        </p:nvSpPr>
        <p:spPr>
          <a:xfrm>
            <a:off x="1181100" y="7687965"/>
            <a:ext cx="12922250" cy="299343"/>
          </a:xfrm>
          <a:prstGeom prst="rect">
            <a:avLst/>
          </a:prstGeom>
          <a:noFill/>
          <a:ln/>
        </p:spPr>
        <p:txBody>
          <a:bodyPr wrap="square" lIns="25400" tIns="25400" rIns="25400" bIns="25400" rtlCol="0" anchor="t">
            <a:normAutofit/>
          </a:bodyPr>
          <a:lstStyle/>
          <a:p>
            <a:pPr algn="l" indent="0" marL="0">
              <a:lnSpc>
                <a:spcPct val="145000"/>
              </a:lnSpc>
              <a:buNone/>
            </a:pPr>
            <a:r>
              <a:rPr lang="en-US" sz="1350" b="1" dirty="0">
                <a:solidFill>
                  <a:srgbClr val="3A443E"/>
                </a:solidFill>
                <a:latin typeface="Arial" pitchFamily="34" charset="0"/>
                <a:ea typeface="Arial" pitchFamily="34" charset="-122"/>
                <a:cs typeface="Arial" pitchFamily="34" charset="-120"/>
              </a:rPr>
              <a:t>Completely free for voucher holders </a:t>
            </a:r>
            <a:pPr algn="l" indent="0" marL="0">
              <a:lnSpc>
                <a:spcPct val="145000"/>
              </a:lnSpc>
              <a:buNone/>
            </a:pPr>
            <a:r>
              <a:rPr lang="en-US" sz="1350" dirty="0">
                <a:solidFill>
                  <a:srgbClr val="3A443E"/>
                </a:solidFill>
                <a:latin typeface="Arial" pitchFamily="34" charset="0"/>
                <a:ea typeface="Arial" pitchFamily="34" charset="-122"/>
                <a:cs typeface="Arial" pitchFamily="34" charset="-120"/>
              </a:rPr>
              <a:t>— every feature, no application fees, no premium tier. Removing cost barriers fills the marketplace.</a:t>
            </a:r>
            <a:endParaRPr lang="en-US" sz="1350" dirty="0"/>
          </a:p>
        </p:txBody>
      </p:sp>
      <p:sp>
        <p:nvSpPr>
          <p:cNvPr id="22" name="Shape 20"/>
          <p:cNvSpPr/>
          <p:nvPr/>
        </p:nvSpPr>
        <p:spPr>
          <a:xfrm>
            <a:off x="13487400" y="1678384"/>
            <a:ext cx="4000500" cy="7745016"/>
          </a:xfrm>
          <a:prstGeom prst="roundRect">
            <a:avLst>
              <a:gd name="adj" fmla="val 1905"/>
            </a:avLst>
          </a:prstGeom>
          <a:solidFill>
            <a:srgbClr val="16201C"/>
          </a:solidFill>
          <a:ln/>
        </p:spPr>
      </p:sp>
      <p:sp>
        <p:nvSpPr>
          <p:cNvPr id="23" name="Text 21"/>
          <p:cNvSpPr/>
          <p:nvPr/>
        </p:nvSpPr>
        <p:spPr>
          <a:xfrm>
            <a:off x="13811250" y="1983184"/>
            <a:ext cx="3688080"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7CC79B"/>
                </a:solidFill>
                <a:latin typeface="Courier New" pitchFamily="34" charset="0"/>
                <a:ea typeface="Courier New" pitchFamily="34" charset="-122"/>
                <a:cs typeface="Courier New" pitchFamily="34" charset="-120"/>
              </a:rPr>
              <a:t>UNIT ECONOMICS</a:t>
            </a:r>
            <a:endParaRPr lang="en-US" sz="975" dirty="0"/>
          </a:p>
        </p:txBody>
      </p:sp>
      <p:sp>
        <p:nvSpPr>
          <p:cNvPr id="24" name="Shape 22"/>
          <p:cNvSpPr/>
          <p:nvPr/>
        </p:nvSpPr>
        <p:spPr>
          <a:xfrm>
            <a:off x="13811250" y="3657997"/>
            <a:ext cx="3352800" cy="9525"/>
          </a:xfrm>
          <a:prstGeom prst="rect">
            <a:avLst/>
          </a:prstGeom>
          <a:solidFill>
            <a:srgbClr val="ECEFEA">
              <a:alpha val="14000"/>
            </a:srgbClr>
          </a:solidFill>
          <a:ln/>
        </p:spPr>
      </p:sp>
      <p:sp>
        <p:nvSpPr>
          <p:cNvPr id="25" name="Text 23"/>
          <p:cNvSpPr/>
          <p:nvPr/>
        </p:nvSpPr>
        <p:spPr>
          <a:xfrm>
            <a:off x="13811250" y="2351484"/>
            <a:ext cx="1781175" cy="432395"/>
          </a:xfrm>
          <a:prstGeom prst="rect">
            <a:avLst/>
          </a:prstGeom>
          <a:noFill/>
          <a:ln/>
        </p:spPr>
        <p:txBody>
          <a:bodyPr wrap="none" lIns="25400" tIns="25400" rIns="25400" bIns="25400" rtlCol="0" anchor="t">
            <a:normAutofit/>
          </a:bodyPr>
          <a:lstStyle/>
          <a:p>
            <a:pPr algn="l" indent="0" marL="0">
              <a:lnSpc>
                <a:spcPct val="90000"/>
              </a:lnSpc>
              <a:buNone/>
            </a:pPr>
            <a:r>
              <a:rPr lang="en-US" sz="3450" b="1" dirty="0">
                <a:solidFill>
                  <a:srgbClr val="FFFFFF"/>
                </a:solidFill>
                <a:latin typeface="Arial" pitchFamily="34" charset="0"/>
                <a:ea typeface="Arial" pitchFamily="34" charset="-122"/>
                <a:cs typeface="Arial" pitchFamily="34" charset="-120"/>
              </a:rPr>
              <a:t>~6</a:t>
            </a:r>
            <a:endParaRPr lang="en-US" sz="3450" dirty="0"/>
          </a:p>
        </p:txBody>
      </p:sp>
      <p:sp>
        <p:nvSpPr>
          <p:cNvPr id="26" name="Text 24"/>
          <p:cNvSpPr/>
          <p:nvPr/>
        </p:nvSpPr>
        <p:spPr>
          <a:xfrm>
            <a:off x="15601950" y="2529285"/>
            <a:ext cx="1638300" cy="957263"/>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C4CCC4"/>
                </a:solidFill>
                <a:latin typeface="Arial" pitchFamily="34" charset="0"/>
                <a:ea typeface="Arial" pitchFamily="34" charset="-122"/>
                <a:cs typeface="Arial" pitchFamily="34" charset="-120"/>
              </a:rPr>
              <a:t>landlords to </a:t>
            </a:r>
            <a:pPr algn="l" indent="0" marL="0">
              <a:lnSpc>
                <a:spcPct val="140000"/>
              </a:lnSpc>
              <a:buNone/>
            </a:pPr>
            <a:r>
              <a:rPr lang="en-US" sz="1275" b="1" dirty="0">
                <a:solidFill>
                  <a:srgbClr val="FFFFFF"/>
                </a:solidFill>
                <a:latin typeface="Arial" pitchFamily="34" charset="0"/>
                <a:ea typeface="Arial" pitchFamily="34" charset="-122"/>
                <a:cs typeface="Arial" pitchFamily="34" charset="-120"/>
              </a:rPr>
              <a:t>break even </a:t>
            </a:r>
            <a:pPr algn="l" indent="0" marL="0">
              <a:lnSpc>
                <a:spcPct val="140000"/>
              </a:lnSpc>
              <a:buNone/>
            </a:pPr>
            <a:r>
              <a:rPr lang="en-US" sz="1275" dirty="0">
                <a:solidFill>
                  <a:srgbClr val="C4CCC4"/>
                </a:solidFill>
                <a:latin typeface="Arial" pitchFamily="34" charset="0"/>
                <a:ea typeface="Arial" pitchFamily="34" charset="-122"/>
                <a:cs typeface="Arial" pitchFamily="34" charset="-120"/>
              </a:rPr>
              <a:t>— free-tier stack means near-zero infra cost.</a:t>
            </a:r>
            <a:endParaRPr lang="en-US" sz="1275" dirty="0"/>
          </a:p>
        </p:txBody>
      </p:sp>
      <p:sp>
        <p:nvSpPr>
          <p:cNvPr id="27" name="Shape 25"/>
          <p:cNvSpPr/>
          <p:nvPr/>
        </p:nvSpPr>
        <p:spPr>
          <a:xfrm>
            <a:off x="13811250" y="4953794"/>
            <a:ext cx="3352800" cy="9525"/>
          </a:xfrm>
          <a:prstGeom prst="rect">
            <a:avLst/>
          </a:prstGeom>
          <a:solidFill>
            <a:srgbClr val="ECEFEA">
              <a:alpha val="14000"/>
            </a:srgbClr>
          </a:solidFill>
          <a:ln/>
        </p:spPr>
      </p:sp>
      <p:sp>
        <p:nvSpPr>
          <p:cNvPr id="28" name="Text 26"/>
          <p:cNvSpPr/>
          <p:nvPr/>
        </p:nvSpPr>
        <p:spPr>
          <a:xfrm>
            <a:off x="13811250" y="3873897"/>
            <a:ext cx="1781175" cy="432395"/>
          </a:xfrm>
          <a:prstGeom prst="rect">
            <a:avLst/>
          </a:prstGeom>
          <a:noFill/>
          <a:ln/>
        </p:spPr>
        <p:txBody>
          <a:bodyPr wrap="none" lIns="25400" tIns="25400" rIns="25400" bIns="25400" rtlCol="0" anchor="t">
            <a:normAutofit/>
          </a:bodyPr>
          <a:lstStyle/>
          <a:p>
            <a:pPr algn="l" indent="0" marL="0">
              <a:lnSpc>
                <a:spcPct val="90000"/>
              </a:lnSpc>
              <a:buNone/>
            </a:pPr>
            <a:r>
              <a:rPr lang="en-US" sz="3450" b="1" dirty="0">
                <a:solidFill>
                  <a:srgbClr val="7CC79B"/>
                </a:solidFill>
                <a:latin typeface="Arial" pitchFamily="34" charset="0"/>
                <a:ea typeface="Arial" pitchFamily="34" charset="-122"/>
                <a:cs typeface="Arial" pitchFamily="34" charset="-120"/>
              </a:rPr>
              <a:t>$200K+</a:t>
            </a:r>
            <a:endParaRPr lang="en-US" sz="3450" dirty="0"/>
          </a:p>
        </p:txBody>
      </p:sp>
      <p:sp>
        <p:nvSpPr>
          <p:cNvPr id="29" name="Text 27"/>
          <p:cNvSpPr/>
          <p:nvPr/>
        </p:nvSpPr>
        <p:spPr>
          <a:xfrm>
            <a:off x="15601950" y="4051697"/>
            <a:ext cx="1638300" cy="730647"/>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C4CCC4"/>
                </a:solidFill>
                <a:latin typeface="Arial" pitchFamily="34" charset="0"/>
                <a:ea typeface="Arial" pitchFamily="34" charset="-122"/>
                <a:cs typeface="Arial" pitchFamily="34" charset="-120"/>
              </a:rPr>
              <a:t>first-year </a:t>
            </a:r>
            <a:pPr algn="l" indent="0" marL="0">
              <a:lnSpc>
                <a:spcPct val="140000"/>
              </a:lnSpc>
              <a:buNone/>
            </a:pPr>
            <a:r>
              <a:rPr lang="en-US" sz="1275" b="1" dirty="0">
                <a:solidFill>
                  <a:srgbClr val="FFFFFF"/>
                </a:solidFill>
                <a:latin typeface="Arial" pitchFamily="34" charset="0"/>
                <a:ea typeface="Arial" pitchFamily="34" charset="-122"/>
                <a:cs typeface="Arial" pitchFamily="34" charset="-120"/>
              </a:rPr>
              <a:t>net revenue target </a:t>
            </a:r>
            <a:pPr algn="l" indent="0" marL="0">
              <a:lnSpc>
                <a:spcPct val="140000"/>
              </a:lnSpc>
              <a:buNone/>
            </a:pPr>
            <a:r>
              <a:rPr lang="en-US" sz="1275" dirty="0">
                <a:solidFill>
                  <a:srgbClr val="C4CCC4"/>
                </a:solidFill>
                <a:latin typeface="Arial" pitchFamily="34" charset="0"/>
                <a:ea typeface="Arial" pitchFamily="34" charset="-122"/>
                <a:cs typeface="Arial" pitchFamily="34" charset="-120"/>
              </a:rPr>
              <a:t>from the Atlanta beachhead.</a:t>
            </a:r>
            <a:endParaRPr lang="en-US" sz="1275" dirty="0"/>
          </a:p>
        </p:txBody>
      </p:sp>
      <p:sp>
        <p:nvSpPr>
          <p:cNvPr id="30" name="Text 28"/>
          <p:cNvSpPr/>
          <p:nvPr/>
        </p:nvSpPr>
        <p:spPr>
          <a:xfrm>
            <a:off x="13811250" y="5169694"/>
            <a:ext cx="1781175" cy="432395"/>
          </a:xfrm>
          <a:prstGeom prst="rect">
            <a:avLst/>
          </a:prstGeom>
          <a:noFill/>
          <a:ln/>
        </p:spPr>
        <p:txBody>
          <a:bodyPr wrap="none" lIns="25400" tIns="25400" rIns="25400" bIns="25400" rtlCol="0" anchor="t">
            <a:normAutofit/>
          </a:bodyPr>
          <a:lstStyle/>
          <a:p>
            <a:pPr algn="l" indent="0" marL="0">
              <a:lnSpc>
                <a:spcPct val="90000"/>
              </a:lnSpc>
              <a:buNone/>
            </a:pPr>
            <a:r>
              <a:rPr lang="en-US" sz="3450" b="1" dirty="0">
                <a:solidFill>
                  <a:srgbClr val="FFFFFF"/>
                </a:solidFill>
                <a:latin typeface="Arial" pitchFamily="34" charset="0"/>
                <a:ea typeface="Arial" pitchFamily="34" charset="-122"/>
                <a:cs typeface="Arial" pitchFamily="34" charset="-120"/>
              </a:rPr>
              <a:t>1</a:t>
            </a:r>
            <a:endParaRPr lang="en-US" sz="3450" dirty="0"/>
          </a:p>
        </p:txBody>
      </p:sp>
      <p:sp>
        <p:nvSpPr>
          <p:cNvPr id="31" name="Text 29"/>
          <p:cNvSpPr/>
          <p:nvPr/>
        </p:nvSpPr>
        <p:spPr>
          <a:xfrm>
            <a:off x="15601950" y="5347494"/>
            <a:ext cx="1638300" cy="957263"/>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C4CCC4"/>
                </a:solidFill>
                <a:latin typeface="Arial" pitchFamily="34" charset="0"/>
                <a:ea typeface="Arial" pitchFamily="34" charset="-122"/>
                <a:cs typeface="Arial" pitchFamily="34" charset="-120"/>
              </a:rPr>
              <a:t>simple price, recurring monthly — </a:t>
            </a:r>
            <a:pPr algn="l" indent="0" marL="0">
              <a:lnSpc>
                <a:spcPct val="140000"/>
              </a:lnSpc>
              <a:buNone/>
            </a:pPr>
            <a:r>
              <a:rPr lang="en-US" sz="1275" b="1" dirty="0">
                <a:solidFill>
                  <a:srgbClr val="FFFFFF"/>
                </a:solidFill>
                <a:latin typeface="Arial" pitchFamily="34" charset="0"/>
                <a:ea typeface="Arial" pitchFamily="34" charset="-122"/>
                <a:cs typeface="Arial" pitchFamily="34" charset="-120"/>
              </a:rPr>
              <a:t>no tenant fees, no per-placement cut.</a:t>
            </a:r>
            <a:endParaRPr lang="en-US" sz="1275" dirty="0"/>
          </a:p>
        </p:txBody>
      </p:sp>
      <p:sp>
        <p:nvSpPr>
          <p:cNvPr id="32" name="Text 30"/>
          <p:cNvSpPr/>
          <p:nvPr/>
        </p:nvSpPr>
        <p:spPr>
          <a:xfrm>
            <a:off x="800100" y="9594850"/>
            <a:ext cx="2588052"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SETTLEED · REVENUE MODEL</a:t>
            </a:r>
            <a:endParaRPr lang="en-US" sz="990" dirty="0"/>
          </a:p>
        </p:txBody>
      </p:sp>
      <p:sp>
        <p:nvSpPr>
          <p:cNvPr id="33" name="Text 31"/>
          <p:cNvSpPr/>
          <p:nvPr/>
        </p:nvSpPr>
        <p:spPr>
          <a:xfrm>
            <a:off x="16801605" y="9594850"/>
            <a:ext cx="762496"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11 / 16</a:t>
            </a:r>
            <a:endParaRPr lang="en-US" sz="99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666750" y="1292225"/>
            <a:ext cx="16954500" cy="9525"/>
          </a:xfrm>
          <a:prstGeom prst="rect">
            <a:avLst/>
          </a:prstGeom>
          <a:solidFill>
            <a:srgbClr val="18221E">
              <a:alpha val="16000"/>
            </a:srgbClr>
          </a:solidFill>
          <a:ln/>
        </p:spPr>
      </p:sp>
      <p:sp>
        <p:nvSpPr>
          <p:cNvPr id="3" name="Text 1"/>
          <p:cNvSpPr/>
          <p:nvPr/>
        </p:nvSpPr>
        <p:spPr>
          <a:xfrm>
            <a:off x="666750" y="571500"/>
            <a:ext cx="8605084" cy="215900"/>
          </a:xfrm>
          <a:prstGeom prst="rect">
            <a:avLst/>
          </a:prstGeom>
          <a:noFill/>
          <a:ln/>
        </p:spPr>
        <p:txBody>
          <a:bodyPr wrap="square" lIns="25400" tIns="25400" rIns="25400" bIns="25400" rtlCol="0" anchor="t">
            <a:normAutofit/>
          </a:bodyPr>
          <a:lstStyle/>
          <a:p>
            <a:pPr algn="l" indent="0" marL="0">
              <a:buNone/>
            </a:pPr>
            <a:r>
              <a:rPr lang="en-US" sz="1073" spc="215" kern="0" dirty="0">
                <a:solidFill>
                  <a:srgbClr val="18221E"/>
                </a:solidFill>
                <a:latin typeface="Courier New" pitchFamily="34" charset="0"/>
                <a:ea typeface="Courier New" pitchFamily="34" charset="-122"/>
                <a:cs typeface="Courier New" pitchFamily="34" charset="-120"/>
              </a:rPr>
              <a:t>VALUE PROPOSITIONS → CUSTOMER SEGMENTS</a:t>
            </a:r>
            <a:endParaRPr lang="en-US" sz="1073" dirty="0"/>
          </a:p>
        </p:txBody>
      </p:sp>
      <p:sp>
        <p:nvSpPr>
          <p:cNvPr id="4" name="Text 2"/>
          <p:cNvSpPr/>
          <p:nvPr/>
        </p:nvSpPr>
        <p:spPr>
          <a:xfrm>
            <a:off x="666750" y="806450"/>
            <a:ext cx="8605084" cy="390525"/>
          </a:xfrm>
          <a:prstGeom prst="rect">
            <a:avLst/>
          </a:prstGeom>
          <a:noFill/>
          <a:ln/>
        </p:spPr>
        <p:txBody>
          <a:bodyPr wrap="square" lIns="25400" tIns="25400" rIns="25400" bIns="25400" rtlCol="0" anchor="t">
            <a:normAutofit/>
          </a:bodyPr>
          <a:lstStyle/>
          <a:p>
            <a:pPr algn="l" indent="0" marL="0">
              <a:lnSpc>
                <a:spcPct val="100000"/>
              </a:lnSpc>
              <a:buNone/>
            </a:pPr>
            <a:r>
              <a:rPr lang="en-US" sz="2775" b="1" spc="-55" kern="0" dirty="0">
                <a:solidFill>
                  <a:srgbClr val="18221E"/>
                </a:solidFill>
                <a:latin typeface="Arial" pitchFamily="34" charset="0"/>
                <a:ea typeface="Arial" pitchFamily="34" charset="-122"/>
                <a:cs typeface="Arial" pitchFamily="34" charset="-120"/>
              </a:rPr>
              <a:t>Each segment gets a unique reason to show up.</a:t>
            </a:r>
            <a:endParaRPr lang="en-US" sz="2775" dirty="0"/>
          </a:p>
        </p:txBody>
      </p:sp>
      <p:sp>
        <p:nvSpPr>
          <p:cNvPr id="5" name="Text 3"/>
          <p:cNvSpPr/>
          <p:nvPr/>
        </p:nvSpPr>
        <p:spPr>
          <a:xfrm>
            <a:off x="16349960" y="974725"/>
            <a:ext cx="1398419" cy="222250"/>
          </a:xfrm>
          <a:prstGeom prst="rect">
            <a:avLst/>
          </a:prstGeom>
          <a:noFill/>
          <a:ln/>
        </p:spPr>
        <p:txBody>
          <a:bodyPr wrap="square" lIns="25400" tIns="25400" rIns="25400" bIns="25400" rtlCol="0" anchor="t">
            <a:normAutofit/>
          </a:bodyPr>
          <a:lstStyle/>
          <a:p>
            <a:pPr algn="l" indent="0" marL="0">
              <a:buNone/>
            </a:pPr>
            <a:r>
              <a:rPr lang="en-US" sz="1073" spc="107" kern="0" dirty="0">
                <a:solidFill>
                  <a:srgbClr val="5C6660"/>
                </a:solidFill>
                <a:latin typeface="Courier New" pitchFamily="34" charset="0"/>
                <a:ea typeface="Courier New" pitchFamily="34" charset="-122"/>
                <a:cs typeface="Courier New" pitchFamily="34" charset="-120"/>
              </a:rPr>
              <a:t>★ = UNIQUE VP</a:t>
            </a:r>
            <a:endParaRPr lang="en-US" sz="1073" dirty="0"/>
          </a:p>
        </p:txBody>
      </p:sp>
      <p:sp>
        <p:nvSpPr>
          <p:cNvPr id="6" name="Shape 4"/>
          <p:cNvSpPr/>
          <p:nvPr/>
        </p:nvSpPr>
        <p:spPr>
          <a:xfrm>
            <a:off x="666750" y="1470025"/>
            <a:ext cx="16954500" cy="844550"/>
          </a:xfrm>
          <a:prstGeom prst="roundRect">
            <a:avLst>
              <a:gd name="adj" fmla="val 6767"/>
            </a:avLst>
          </a:prstGeom>
          <a:solidFill>
            <a:srgbClr val="16201C"/>
          </a:solidFill>
          <a:ln/>
        </p:spPr>
      </p:sp>
      <p:sp>
        <p:nvSpPr>
          <p:cNvPr id="7" name="Text 5"/>
          <p:cNvSpPr/>
          <p:nvPr/>
        </p:nvSpPr>
        <p:spPr>
          <a:xfrm>
            <a:off x="895350" y="1641475"/>
            <a:ext cx="3411409" cy="241300"/>
          </a:xfrm>
          <a:prstGeom prst="rect">
            <a:avLst/>
          </a:prstGeom>
          <a:noFill/>
          <a:ln/>
        </p:spPr>
        <p:txBody>
          <a:bodyPr wrap="square" lIns="25400" tIns="25400" rIns="25400" bIns="25400" rtlCol="0" anchor="t">
            <a:normAutofit/>
          </a:bodyPr>
          <a:lstStyle/>
          <a:p>
            <a:pPr algn="l" indent="0" marL="0">
              <a:buNone/>
            </a:pPr>
            <a:r>
              <a:rPr lang="en-US" sz="1073" dirty="0">
                <a:solidFill>
                  <a:srgbClr val="7CC79B"/>
                </a:solidFill>
                <a:latin typeface="Courier New" pitchFamily="34" charset="0"/>
                <a:ea typeface="Courier New" pitchFamily="34" charset="-122"/>
                <a:cs typeface="Courier New" pitchFamily="34" charset="-120"/>
              </a:rPr>
              <a:t>VP1 </a:t>
            </a:r>
            <a:pPr algn="l" indent="0" marL="0">
              <a:buNone/>
            </a:pPr>
            <a:r>
              <a:rPr lang="en-US" sz="1200" dirty="0">
                <a:solidFill>
                  <a:srgbClr val="CFD6CF"/>
                </a:solidFill>
                <a:latin typeface="Arial" pitchFamily="34" charset="0"/>
                <a:ea typeface="Arial" pitchFamily="34" charset="-122"/>
                <a:cs typeface="Arial" pitchFamily="34" charset="-120"/>
              </a:rPr>
              <a:t>Verified voucher-only marketplace</a:t>
            </a:r>
            <a:endParaRPr lang="en-US" sz="1200" dirty="0"/>
          </a:p>
        </p:txBody>
      </p:sp>
      <p:sp>
        <p:nvSpPr>
          <p:cNvPr id="8" name="Text 6"/>
          <p:cNvSpPr/>
          <p:nvPr/>
        </p:nvSpPr>
        <p:spPr>
          <a:xfrm>
            <a:off x="4244280" y="1641475"/>
            <a:ext cx="3411518" cy="241300"/>
          </a:xfrm>
          <a:prstGeom prst="rect">
            <a:avLst/>
          </a:prstGeom>
          <a:noFill/>
          <a:ln/>
        </p:spPr>
        <p:txBody>
          <a:bodyPr wrap="square" lIns="25400" tIns="25400" rIns="25400" bIns="25400" rtlCol="0" anchor="t">
            <a:normAutofit/>
          </a:bodyPr>
          <a:lstStyle/>
          <a:p>
            <a:pPr algn="l" indent="0" marL="0">
              <a:buNone/>
            </a:pPr>
            <a:r>
              <a:rPr lang="en-US" sz="1073" dirty="0">
                <a:solidFill>
                  <a:srgbClr val="7CC79B"/>
                </a:solidFill>
                <a:latin typeface="Courier New" pitchFamily="34" charset="0"/>
                <a:ea typeface="Courier New" pitchFamily="34" charset="-122"/>
                <a:cs typeface="Courier New" pitchFamily="34" charset="-120"/>
              </a:rPr>
              <a:t>VP2 </a:t>
            </a:r>
            <a:pPr algn="l" indent="0" marL="0">
              <a:buNone/>
            </a:pPr>
            <a:r>
              <a:rPr lang="en-US" sz="1200" dirty="0">
                <a:solidFill>
                  <a:srgbClr val="CFD6CF"/>
                </a:solidFill>
                <a:latin typeface="Arial" pitchFamily="34" charset="0"/>
                <a:ea typeface="Arial" pitchFamily="34" charset="-122"/>
                <a:cs typeface="Arial" pitchFamily="34" charset="-120"/>
              </a:rPr>
              <a:t>Instant voucher match (SMS+email)</a:t>
            </a:r>
            <a:endParaRPr lang="en-US" sz="1200" dirty="0"/>
          </a:p>
        </p:txBody>
      </p:sp>
      <p:sp>
        <p:nvSpPr>
          <p:cNvPr id="9" name="Text 7"/>
          <p:cNvSpPr/>
          <p:nvPr/>
        </p:nvSpPr>
        <p:spPr>
          <a:xfrm>
            <a:off x="7593310" y="1641475"/>
            <a:ext cx="3411409" cy="241300"/>
          </a:xfrm>
          <a:prstGeom prst="rect">
            <a:avLst/>
          </a:prstGeom>
          <a:noFill/>
          <a:ln/>
        </p:spPr>
        <p:txBody>
          <a:bodyPr wrap="square" lIns="25400" tIns="25400" rIns="25400" bIns="25400" rtlCol="0" anchor="t">
            <a:normAutofit/>
          </a:bodyPr>
          <a:lstStyle/>
          <a:p>
            <a:pPr algn="l" indent="0" marL="0">
              <a:buNone/>
            </a:pPr>
            <a:r>
              <a:rPr lang="en-US" sz="1073" dirty="0">
                <a:solidFill>
                  <a:srgbClr val="7CC79B"/>
                </a:solidFill>
                <a:latin typeface="Courier New" pitchFamily="34" charset="0"/>
                <a:ea typeface="Courier New" pitchFamily="34" charset="-122"/>
                <a:cs typeface="Courier New" pitchFamily="34" charset="-120"/>
              </a:rPr>
              <a:t>VP3 </a:t>
            </a:r>
            <a:pPr algn="l" indent="0" marL="0">
              <a:buNone/>
            </a:pPr>
            <a:r>
              <a:rPr lang="en-US" sz="1200" dirty="0">
                <a:solidFill>
                  <a:srgbClr val="CFD6CF"/>
                </a:solidFill>
                <a:latin typeface="Arial" pitchFamily="34" charset="0"/>
                <a:ea typeface="Arial" pitchFamily="34" charset="-122"/>
                <a:cs typeface="Arial" pitchFamily="34" charset="-120"/>
              </a:rPr>
              <a:t>HQS inspection tracking</a:t>
            </a:r>
            <a:endParaRPr lang="en-US" sz="1200" dirty="0"/>
          </a:p>
        </p:txBody>
      </p:sp>
      <p:sp>
        <p:nvSpPr>
          <p:cNvPr id="10" name="Text 8"/>
          <p:cNvSpPr/>
          <p:nvPr/>
        </p:nvSpPr>
        <p:spPr>
          <a:xfrm>
            <a:off x="10942241" y="1641475"/>
            <a:ext cx="3411518" cy="241300"/>
          </a:xfrm>
          <a:prstGeom prst="rect">
            <a:avLst/>
          </a:prstGeom>
          <a:noFill/>
          <a:ln/>
        </p:spPr>
        <p:txBody>
          <a:bodyPr wrap="square" lIns="25400" tIns="25400" rIns="25400" bIns="25400" rtlCol="0" anchor="t">
            <a:normAutofit/>
          </a:bodyPr>
          <a:lstStyle/>
          <a:p>
            <a:pPr algn="l" indent="0" marL="0">
              <a:buNone/>
            </a:pPr>
            <a:r>
              <a:rPr lang="en-US" sz="1073" dirty="0">
                <a:solidFill>
                  <a:srgbClr val="7CC79B"/>
                </a:solidFill>
                <a:latin typeface="Courier New" pitchFamily="34" charset="0"/>
                <a:ea typeface="Courier New" pitchFamily="34" charset="-122"/>
                <a:cs typeface="Courier New" pitchFamily="34" charset="-120"/>
              </a:rPr>
              <a:t>VP4 </a:t>
            </a:r>
            <a:pPr algn="l" indent="0" marL="0">
              <a:buNone/>
            </a:pPr>
            <a:r>
              <a:rPr lang="en-US" sz="1200" dirty="0">
                <a:solidFill>
                  <a:srgbClr val="CFD6CF"/>
                </a:solidFill>
                <a:latin typeface="Arial" pitchFamily="34" charset="0"/>
                <a:ea typeface="Arial" pitchFamily="34" charset="-122"/>
                <a:cs typeface="Arial" pitchFamily="34" charset="-120"/>
              </a:rPr>
              <a:t>Application inbox for landlords</a:t>
            </a:r>
            <a:endParaRPr lang="en-US" sz="1200" dirty="0"/>
          </a:p>
        </p:txBody>
      </p:sp>
      <p:sp>
        <p:nvSpPr>
          <p:cNvPr id="11" name="Text 9"/>
          <p:cNvSpPr/>
          <p:nvPr/>
        </p:nvSpPr>
        <p:spPr>
          <a:xfrm>
            <a:off x="14291271" y="1641475"/>
            <a:ext cx="3411409" cy="241300"/>
          </a:xfrm>
          <a:prstGeom prst="rect">
            <a:avLst/>
          </a:prstGeom>
          <a:noFill/>
          <a:ln/>
        </p:spPr>
        <p:txBody>
          <a:bodyPr wrap="square" lIns="25400" tIns="25400" rIns="25400" bIns="25400" rtlCol="0" anchor="t">
            <a:normAutofit/>
          </a:bodyPr>
          <a:lstStyle/>
          <a:p>
            <a:pPr algn="l" indent="0" marL="0">
              <a:buNone/>
            </a:pPr>
            <a:r>
              <a:rPr lang="en-US" sz="1073" dirty="0">
                <a:solidFill>
                  <a:srgbClr val="7CC79B"/>
                </a:solidFill>
                <a:latin typeface="Courier New" pitchFamily="34" charset="0"/>
                <a:ea typeface="Courier New" pitchFamily="34" charset="-122"/>
                <a:cs typeface="Courier New" pitchFamily="34" charset="-120"/>
              </a:rPr>
              <a:t>VP5 </a:t>
            </a:r>
            <a:pPr algn="l" indent="0" marL="0">
              <a:buNone/>
            </a:pPr>
            <a:r>
              <a:rPr lang="en-US" sz="1200" dirty="0">
                <a:solidFill>
                  <a:srgbClr val="CFD6CF"/>
                </a:solidFill>
                <a:latin typeface="Arial" pitchFamily="34" charset="0"/>
                <a:ea typeface="Arial" pitchFamily="34" charset="-122"/>
                <a:cs typeface="Arial" pitchFamily="34" charset="-120"/>
              </a:rPr>
              <a:t>Recert &amp; expiration alerts</a:t>
            </a:r>
            <a:endParaRPr lang="en-US" sz="1200" dirty="0"/>
          </a:p>
        </p:txBody>
      </p:sp>
      <p:sp>
        <p:nvSpPr>
          <p:cNvPr id="12" name="Text 10"/>
          <p:cNvSpPr/>
          <p:nvPr/>
        </p:nvSpPr>
        <p:spPr>
          <a:xfrm>
            <a:off x="895350" y="1939925"/>
            <a:ext cx="3411409" cy="241300"/>
          </a:xfrm>
          <a:prstGeom prst="rect">
            <a:avLst/>
          </a:prstGeom>
          <a:noFill/>
          <a:ln/>
        </p:spPr>
        <p:txBody>
          <a:bodyPr wrap="square" lIns="25400" tIns="25400" rIns="25400" bIns="25400" rtlCol="0" anchor="t">
            <a:normAutofit/>
          </a:bodyPr>
          <a:lstStyle/>
          <a:p>
            <a:pPr algn="l" indent="0" marL="0">
              <a:buNone/>
            </a:pPr>
            <a:r>
              <a:rPr lang="en-US" sz="1073" dirty="0">
                <a:solidFill>
                  <a:srgbClr val="E0A878"/>
                </a:solidFill>
                <a:latin typeface="Courier New" pitchFamily="34" charset="0"/>
                <a:ea typeface="Courier New" pitchFamily="34" charset="-122"/>
                <a:cs typeface="Courier New" pitchFamily="34" charset="-120"/>
              </a:rPr>
              <a:t>VP6 </a:t>
            </a:r>
            <a:pPr algn="l" indent="0" marL="0">
              <a:buNone/>
            </a:pPr>
            <a:r>
              <a:rPr lang="en-US" sz="1200" dirty="0">
                <a:solidFill>
                  <a:srgbClr val="CFD6CF"/>
                </a:solidFill>
                <a:latin typeface="Arial" pitchFamily="34" charset="0"/>
                <a:ea typeface="Arial" pitchFamily="34" charset="-122"/>
                <a:cs typeface="Arial" pitchFamily="34" charset="-120"/>
              </a:rPr>
              <a:t>Verified voucher-holder badge</a:t>
            </a:r>
            <a:endParaRPr lang="en-US" sz="1200" dirty="0"/>
          </a:p>
        </p:txBody>
      </p:sp>
      <p:sp>
        <p:nvSpPr>
          <p:cNvPr id="13" name="Text 11"/>
          <p:cNvSpPr/>
          <p:nvPr/>
        </p:nvSpPr>
        <p:spPr>
          <a:xfrm>
            <a:off x="4244280" y="1939925"/>
            <a:ext cx="3411518" cy="241300"/>
          </a:xfrm>
          <a:prstGeom prst="rect">
            <a:avLst/>
          </a:prstGeom>
          <a:noFill/>
          <a:ln/>
        </p:spPr>
        <p:txBody>
          <a:bodyPr wrap="square" lIns="25400" tIns="25400" rIns="25400" bIns="25400" rtlCol="0" anchor="t">
            <a:normAutofit/>
          </a:bodyPr>
          <a:lstStyle/>
          <a:p>
            <a:pPr algn="l" indent="0" marL="0">
              <a:buNone/>
            </a:pPr>
            <a:r>
              <a:rPr lang="en-US" sz="1073" dirty="0">
                <a:solidFill>
                  <a:srgbClr val="E0A878"/>
                </a:solidFill>
                <a:latin typeface="Courier New" pitchFamily="34" charset="0"/>
                <a:ea typeface="Courier New" pitchFamily="34" charset="-122"/>
                <a:cs typeface="Courier New" pitchFamily="34" charset="-120"/>
              </a:rPr>
              <a:t>VP7 </a:t>
            </a:r>
            <a:pPr algn="l" indent="0" marL="0">
              <a:buNone/>
            </a:pPr>
            <a:r>
              <a:rPr lang="en-US" sz="1200" dirty="0">
                <a:solidFill>
                  <a:srgbClr val="CFD6CF"/>
                </a:solidFill>
                <a:latin typeface="Arial" pitchFamily="34" charset="0"/>
                <a:ea typeface="Arial" pitchFamily="34" charset="-122"/>
                <a:cs typeface="Arial" pitchFamily="34" charset="-120"/>
              </a:rPr>
              <a:t>Insider HAP guidance (the moat)</a:t>
            </a:r>
            <a:endParaRPr lang="en-US" sz="1200" dirty="0"/>
          </a:p>
        </p:txBody>
      </p:sp>
      <p:sp>
        <p:nvSpPr>
          <p:cNvPr id="14" name="Text 12"/>
          <p:cNvSpPr/>
          <p:nvPr/>
        </p:nvSpPr>
        <p:spPr>
          <a:xfrm>
            <a:off x="7593310" y="1939925"/>
            <a:ext cx="3411409" cy="241300"/>
          </a:xfrm>
          <a:prstGeom prst="rect">
            <a:avLst/>
          </a:prstGeom>
          <a:noFill/>
          <a:ln/>
        </p:spPr>
        <p:txBody>
          <a:bodyPr wrap="square" lIns="25400" tIns="25400" rIns="25400" bIns="25400" rtlCol="0" anchor="t">
            <a:normAutofit/>
          </a:bodyPr>
          <a:lstStyle/>
          <a:p>
            <a:pPr algn="l" indent="0" marL="0">
              <a:buNone/>
            </a:pPr>
            <a:r>
              <a:rPr lang="en-US" sz="1073" dirty="0">
                <a:solidFill>
                  <a:srgbClr val="E0A878"/>
                </a:solidFill>
                <a:latin typeface="Courier New" pitchFamily="34" charset="0"/>
                <a:ea typeface="Courier New" pitchFamily="34" charset="-122"/>
                <a:cs typeface="Courier New" pitchFamily="34" charset="-120"/>
              </a:rPr>
              <a:t>VP8 </a:t>
            </a:r>
            <a:pPr algn="l" indent="0" marL="0">
              <a:buNone/>
            </a:pPr>
            <a:r>
              <a:rPr lang="en-US" sz="1200" dirty="0">
                <a:solidFill>
                  <a:srgbClr val="CFD6CF"/>
                </a:solidFill>
                <a:latin typeface="Arial" pitchFamily="34" charset="0"/>
                <a:ea typeface="Arial" pitchFamily="34" charset="-122"/>
                <a:cs typeface="Arial" pitchFamily="34" charset="-120"/>
              </a:rPr>
              <a:t>Bulk multi-unit listings</a:t>
            </a:r>
            <a:endParaRPr lang="en-US" sz="1200" dirty="0"/>
          </a:p>
        </p:txBody>
      </p:sp>
      <p:sp>
        <p:nvSpPr>
          <p:cNvPr id="15" name="Text 13"/>
          <p:cNvSpPr/>
          <p:nvPr/>
        </p:nvSpPr>
        <p:spPr>
          <a:xfrm>
            <a:off x="10942241" y="1939925"/>
            <a:ext cx="3411518" cy="241300"/>
          </a:xfrm>
          <a:prstGeom prst="rect">
            <a:avLst/>
          </a:prstGeom>
          <a:noFill/>
          <a:ln/>
        </p:spPr>
        <p:txBody>
          <a:bodyPr wrap="square" lIns="25400" tIns="25400" rIns="25400" bIns="25400" rtlCol="0" anchor="t">
            <a:normAutofit/>
          </a:bodyPr>
          <a:lstStyle/>
          <a:p>
            <a:pPr algn="l" indent="0" marL="0">
              <a:buNone/>
            </a:pPr>
            <a:r>
              <a:rPr lang="en-US" sz="1073" dirty="0">
                <a:solidFill>
                  <a:srgbClr val="E0A878"/>
                </a:solidFill>
                <a:latin typeface="Courier New" pitchFamily="34" charset="0"/>
                <a:ea typeface="Courier New" pitchFamily="34" charset="-122"/>
                <a:cs typeface="Courier New" pitchFamily="34" charset="-120"/>
              </a:rPr>
              <a:t>VP9 </a:t>
            </a:r>
            <a:pPr algn="l" indent="0" marL="0">
              <a:buNone/>
            </a:pPr>
            <a:r>
              <a:rPr lang="en-US" sz="1200" dirty="0">
                <a:solidFill>
                  <a:srgbClr val="CFD6CF"/>
                </a:solidFill>
                <a:latin typeface="Arial" pitchFamily="34" charset="0"/>
                <a:ea typeface="Arial" pitchFamily="34" charset="-122"/>
                <a:cs typeface="Arial" pitchFamily="34" charset="-120"/>
              </a:rPr>
              <a:t>Localized utility-allowance math</a:t>
            </a:r>
            <a:endParaRPr lang="en-US" sz="1200" dirty="0"/>
          </a:p>
        </p:txBody>
      </p:sp>
      <p:sp>
        <p:nvSpPr>
          <p:cNvPr id="16" name="Text 14"/>
          <p:cNvSpPr/>
          <p:nvPr/>
        </p:nvSpPr>
        <p:spPr>
          <a:xfrm>
            <a:off x="14291271" y="1939925"/>
            <a:ext cx="3411409" cy="241300"/>
          </a:xfrm>
          <a:prstGeom prst="rect">
            <a:avLst/>
          </a:prstGeom>
          <a:noFill/>
          <a:ln/>
        </p:spPr>
        <p:txBody>
          <a:bodyPr wrap="square" lIns="25400" tIns="25400" rIns="25400" bIns="25400" rtlCol="0" anchor="t">
            <a:normAutofit/>
          </a:bodyPr>
          <a:lstStyle/>
          <a:p>
            <a:pPr algn="l" indent="0" marL="0">
              <a:buNone/>
            </a:pPr>
            <a:r>
              <a:rPr lang="en-US" sz="1073" dirty="0">
                <a:solidFill>
                  <a:srgbClr val="E0A878"/>
                </a:solidFill>
                <a:latin typeface="Courier New" pitchFamily="34" charset="0"/>
                <a:ea typeface="Courier New" pitchFamily="34" charset="-122"/>
                <a:cs typeface="Courier New" pitchFamily="34" charset="-120"/>
              </a:rPr>
              <a:t>VP10 </a:t>
            </a:r>
            <a:pPr algn="l" indent="0" marL="0">
              <a:buNone/>
            </a:pPr>
            <a:r>
              <a:rPr lang="en-US" sz="1200" dirty="0">
                <a:solidFill>
                  <a:srgbClr val="CFD6CF"/>
                </a:solidFill>
                <a:latin typeface="Arial" pitchFamily="34" charset="0"/>
                <a:ea typeface="Arial" pitchFamily="34" charset="-122"/>
                <a:cs typeface="Arial" pitchFamily="34" charset="-120"/>
              </a:rPr>
              <a:t>Unified subsidy &amp; portability map</a:t>
            </a:r>
            <a:endParaRPr lang="en-US" sz="1200" dirty="0"/>
          </a:p>
        </p:txBody>
      </p:sp>
      <p:sp>
        <p:nvSpPr>
          <p:cNvPr id="17" name="Shape 15"/>
          <p:cNvSpPr/>
          <p:nvPr/>
        </p:nvSpPr>
        <p:spPr>
          <a:xfrm>
            <a:off x="666750" y="2486025"/>
            <a:ext cx="4110038" cy="6994525"/>
          </a:xfrm>
          <a:prstGeom prst="roundRect">
            <a:avLst>
              <a:gd name="adj" fmla="val 1390"/>
            </a:avLst>
          </a:prstGeom>
          <a:solidFill>
            <a:srgbClr val="FFFFFF"/>
          </a:solidFill>
          <a:ln/>
        </p:spPr>
      </p:sp>
      <p:sp>
        <p:nvSpPr>
          <p:cNvPr id="18" name="Shape 16"/>
          <p:cNvSpPr/>
          <p:nvPr/>
        </p:nvSpPr>
        <p:spPr>
          <a:xfrm>
            <a:off x="666750" y="9474200"/>
            <a:ext cx="4110038" cy="9525"/>
          </a:xfrm>
          <a:prstGeom prst="rect">
            <a:avLst/>
          </a:prstGeom>
          <a:solidFill>
            <a:srgbClr val="18221E">
              <a:alpha val="12000"/>
            </a:srgbClr>
          </a:solidFill>
          <a:ln/>
        </p:spPr>
      </p:sp>
      <p:sp>
        <p:nvSpPr>
          <p:cNvPr id="19" name="Shape 17"/>
          <p:cNvSpPr/>
          <p:nvPr/>
        </p:nvSpPr>
        <p:spPr>
          <a:xfrm>
            <a:off x="666750" y="2486025"/>
            <a:ext cx="4110038" cy="38100"/>
          </a:xfrm>
          <a:prstGeom prst="rect">
            <a:avLst/>
          </a:prstGeom>
          <a:solidFill>
            <a:srgbClr val="2C7A58"/>
          </a:solidFill>
          <a:ln/>
        </p:spPr>
      </p:sp>
      <p:sp>
        <p:nvSpPr>
          <p:cNvPr id="20" name="Shape 18"/>
          <p:cNvSpPr/>
          <p:nvPr/>
        </p:nvSpPr>
        <p:spPr>
          <a:xfrm>
            <a:off x="666750" y="2486025"/>
            <a:ext cx="9525" cy="6994525"/>
          </a:xfrm>
          <a:prstGeom prst="rect">
            <a:avLst/>
          </a:prstGeom>
          <a:solidFill>
            <a:srgbClr val="18221E">
              <a:alpha val="12000"/>
            </a:srgbClr>
          </a:solidFill>
          <a:ln/>
        </p:spPr>
      </p:sp>
      <p:sp>
        <p:nvSpPr>
          <p:cNvPr id="21" name="Shape 19"/>
          <p:cNvSpPr/>
          <p:nvPr/>
        </p:nvSpPr>
        <p:spPr>
          <a:xfrm>
            <a:off x="4770437" y="2486025"/>
            <a:ext cx="9525" cy="6994525"/>
          </a:xfrm>
          <a:prstGeom prst="rect">
            <a:avLst/>
          </a:prstGeom>
          <a:solidFill>
            <a:srgbClr val="18221E">
              <a:alpha val="12000"/>
            </a:srgbClr>
          </a:solidFill>
          <a:ln/>
        </p:spPr>
      </p:sp>
      <p:sp>
        <p:nvSpPr>
          <p:cNvPr id="22" name="Text 20"/>
          <p:cNvSpPr/>
          <p:nvPr/>
        </p:nvSpPr>
        <p:spPr>
          <a:xfrm>
            <a:off x="901700" y="2752725"/>
            <a:ext cx="4004151" cy="196850"/>
          </a:xfrm>
          <a:prstGeom prst="rect">
            <a:avLst/>
          </a:prstGeom>
          <a:noFill/>
          <a:ln/>
        </p:spPr>
        <p:txBody>
          <a:bodyPr wrap="square" lIns="25400" tIns="25400" rIns="25400" bIns="25400" rtlCol="0" anchor="t">
            <a:normAutofit/>
          </a:bodyPr>
          <a:lstStyle/>
          <a:p>
            <a:pPr algn="l" indent="0" marL="0">
              <a:buNone/>
            </a:pPr>
            <a:r>
              <a:rPr lang="en-US" sz="990" spc="99" kern="0" dirty="0">
                <a:solidFill>
                  <a:srgbClr val="2C7A58"/>
                </a:solidFill>
                <a:latin typeface="Courier New" pitchFamily="34" charset="0"/>
                <a:ea typeface="Courier New" pitchFamily="34" charset="-122"/>
                <a:cs typeface="Courier New" pitchFamily="34" charset="-120"/>
              </a:rPr>
              <a:t>SEGMENT A</a:t>
            </a:r>
            <a:endParaRPr lang="en-US" sz="990" dirty="0"/>
          </a:p>
        </p:txBody>
      </p:sp>
      <p:sp>
        <p:nvSpPr>
          <p:cNvPr id="23" name="Text 21"/>
          <p:cNvSpPr/>
          <p:nvPr/>
        </p:nvSpPr>
        <p:spPr>
          <a:xfrm>
            <a:off x="901700" y="2968625"/>
            <a:ext cx="4004151" cy="314623"/>
          </a:xfrm>
          <a:prstGeom prst="rect">
            <a:avLst/>
          </a:prstGeom>
          <a:noFill/>
          <a:ln/>
        </p:spPr>
        <p:txBody>
          <a:bodyPr wrap="square" lIns="25400" tIns="25400" rIns="25400" bIns="25400" rtlCol="0" anchor="t">
            <a:normAutofit/>
          </a:bodyPr>
          <a:lstStyle/>
          <a:p>
            <a:pPr algn="l" indent="0" marL="0">
              <a:lnSpc>
                <a:spcPct val="110000"/>
              </a:lnSpc>
              <a:buNone/>
            </a:pPr>
            <a:r>
              <a:rPr lang="en-US" sz="1980" b="1" dirty="0">
                <a:solidFill>
                  <a:srgbClr val="18221E"/>
                </a:solidFill>
                <a:latin typeface="Arial" pitchFamily="34" charset="0"/>
                <a:ea typeface="Arial" pitchFamily="34" charset="-122"/>
                <a:cs typeface="Arial" pitchFamily="34" charset="-120"/>
              </a:rPr>
              <a:t>Small &amp; first-time landlords</a:t>
            </a:r>
            <a:endParaRPr lang="en-US" sz="1980" dirty="0"/>
          </a:p>
        </p:txBody>
      </p:sp>
      <p:sp>
        <p:nvSpPr>
          <p:cNvPr id="24" name="Text 22"/>
          <p:cNvSpPr/>
          <p:nvPr/>
        </p:nvSpPr>
        <p:spPr>
          <a:xfrm>
            <a:off x="901700" y="3397548"/>
            <a:ext cx="4004151" cy="254000"/>
          </a:xfrm>
          <a:prstGeom prst="rect">
            <a:avLst/>
          </a:prstGeom>
          <a:noFill/>
          <a:ln/>
        </p:spPr>
        <p:txBody>
          <a:bodyPr wrap="square" lIns="25400" tIns="25400" rIns="25400" bIns="25400" rtlCol="0" anchor="t">
            <a:normAutofit/>
          </a:bodyPr>
          <a:lstStyle/>
          <a:p>
            <a:pPr algn="l" indent="0" marL="0">
              <a:buNone/>
            </a:pPr>
            <a:r>
              <a:rPr lang="en-US" sz="1073" dirty="0">
                <a:solidFill>
                  <a:srgbClr val="9AA39D"/>
                </a:solidFill>
                <a:latin typeface="Courier New" pitchFamily="34" charset="0"/>
                <a:ea typeface="Courier New" pitchFamily="34" charset="-122"/>
                <a:cs typeface="Courier New" pitchFamily="34" charset="-120"/>
              </a:rPr>
              <a:t>VP1 </a:t>
            </a:r>
            <a:pPr algn="l" indent="0" marL="0">
              <a:buNone/>
            </a:pPr>
            <a:r>
              <a:rPr lang="en-US" sz="1320" dirty="0">
                <a:solidFill>
                  <a:srgbClr val="3A443E"/>
                </a:solidFill>
                <a:latin typeface="Arial" pitchFamily="34" charset="0"/>
                <a:ea typeface="Arial" pitchFamily="34" charset="-122"/>
                <a:cs typeface="Arial" pitchFamily="34" charset="-120"/>
              </a:rPr>
              <a:t>Voucher-only marketplace</a:t>
            </a:r>
            <a:endParaRPr lang="en-US" sz="1320" dirty="0"/>
          </a:p>
        </p:txBody>
      </p:sp>
      <p:sp>
        <p:nvSpPr>
          <p:cNvPr id="25" name="Text 23"/>
          <p:cNvSpPr/>
          <p:nvPr/>
        </p:nvSpPr>
        <p:spPr>
          <a:xfrm>
            <a:off x="901700" y="3699173"/>
            <a:ext cx="4004151" cy="254000"/>
          </a:xfrm>
          <a:prstGeom prst="rect">
            <a:avLst/>
          </a:prstGeom>
          <a:noFill/>
          <a:ln/>
        </p:spPr>
        <p:txBody>
          <a:bodyPr wrap="square" lIns="25400" tIns="25400" rIns="25400" bIns="25400" rtlCol="0" anchor="t">
            <a:normAutofit/>
          </a:bodyPr>
          <a:lstStyle/>
          <a:p>
            <a:pPr algn="l" indent="0" marL="0">
              <a:buNone/>
            </a:pPr>
            <a:r>
              <a:rPr lang="en-US" sz="1073" dirty="0">
                <a:solidFill>
                  <a:srgbClr val="9AA39D"/>
                </a:solidFill>
                <a:latin typeface="Courier New" pitchFamily="34" charset="0"/>
                <a:ea typeface="Courier New" pitchFamily="34" charset="-122"/>
                <a:cs typeface="Courier New" pitchFamily="34" charset="-120"/>
              </a:rPr>
              <a:t>VP3 </a:t>
            </a:r>
            <a:pPr algn="l" indent="0" marL="0">
              <a:buNone/>
            </a:pPr>
            <a:r>
              <a:rPr lang="en-US" sz="1320" dirty="0">
                <a:solidFill>
                  <a:srgbClr val="3A443E"/>
                </a:solidFill>
                <a:latin typeface="Arial" pitchFamily="34" charset="0"/>
                <a:ea typeface="Arial" pitchFamily="34" charset="-122"/>
                <a:cs typeface="Arial" pitchFamily="34" charset="-120"/>
              </a:rPr>
              <a:t>HQS inspection tracking</a:t>
            </a:r>
            <a:endParaRPr lang="en-US" sz="1320" dirty="0"/>
          </a:p>
        </p:txBody>
      </p:sp>
      <p:sp>
        <p:nvSpPr>
          <p:cNvPr id="26" name="Text 24"/>
          <p:cNvSpPr/>
          <p:nvPr/>
        </p:nvSpPr>
        <p:spPr>
          <a:xfrm>
            <a:off x="901700" y="4000798"/>
            <a:ext cx="4004151" cy="254000"/>
          </a:xfrm>
          <a:prstGeom prst="rect">
            <a:avLst/>
          </a:prstGeom>
          <a:noFill/>
          <a:ln/>
        </p:spPr>
        <p:txBody>
          <a:bodyPr wrap="square" lIns="25400" tIns="25400" rIns="25400" bIns="25400" rtlCol="0" anchor="t">
            <a:normAutofit/>
          </a:bodyPr>
          <a:lstStyle/>
          <a:p>
            <a:pPr algn="l" indent="0" marL="0">
              <a:buNone/>
            </a:pPr>
            <a:r>
              <a:rPr lang="en-US" sz="1073" dirty="0">
                <a:solidFill>
                  <a:srgbClr val="9AA39D"/>
                </a:solidFill>
                <a:latin typeface="Courier New" pitchFamily="34" charset="0"/>
                <a:ea typeface="Courier New" pitchFamily="34" charset="-122"/>
                <a:cs typeface="Courier New" pitchFamily="34" charset="-120"/>
              </a:rPr>
              <a:t>VP4 </a:t>
            </a:r>
            <a:pPr algn="l" indent="0" marL="0">
              <a:buNone/>
            </a:pPr>
            <a:r>
              <a:rPr lang="en-US" sz="1320" dirty="0">
                <a:solidFill>
                  <a:srgbClr val="3A443E"/>
                </a:solidFill>
                <a:latin typeface="Arial" pitchFamily="34" charset="0"/>
                <a:ea typeface="Arial" pitchFamily="34" charset="-122"/>
                <a:cs typeface="Arial" pitchFamily="34" charset="-120"/>
              </a:rPr>
              <a:t>Application inbox</a:t>
            </a:r>
            <a:endParaRPr lang="en-US" sz="1320" dirty="0"/>
          </a:p>
        </p:txBody>
      </p:sp>
      <p:sp>
        <p:nvSpPr>
          <p:cNvPr id="27" name="Text 25"/>
          <p:cNvSpPr/>
          <p:nvPr/>
        </p:nvSpPr>
        <p:spPr>
          <a:xfrm>
            <a:off x="901700" y="4302423"/>
            <a:ext cx="4004151" cy="254000"/>
          </a:xfrm>
          <a:prstGeom prst="rect">
            <a:avLst/>
          </a:prstGeom>
          <a:noFill/>
          <a:ln/>
        </p:spPr>
        <p:txBody>
          <a:bodyPr wrap="square" lIns="25400" tIns="25400" rIns="25400" bIns="25400" rtlCol="0" anchor="t">
            <a:normAutofit/>
          </a:bodyPr>
          <a:lstStyle/>
          <a:p>
            <a:pPr algn="l" indent="0" marL="0">
              <a:buNone/>
            </a:pPr>
            <a:r>
              <a:rPr lang="en-US" sz="1073" dirty="0">
                <a:solidFill>
                  <a:srgbClr val="9AA39D"/>
                </a:solidFill>
                <a:latin typeface="Courier New" pitchFamily="34" charset="0"/>
                <a:ea typeface="Courier New" pitchFamily="34" charset="-122"/>
                <a:cs typeface="Courier New" pitchFamily="34" charset="-120"/>
              </a:rPr>
              <a:t>VP9 </a:t>
            </a:r>
            <a:pPr algn="l" indent="0" marL="0">
              <a:buNone/>
            </a:pPr>
            <a:r>
              <a:rPr lang="en-US" sz="1320" dirty="0">
                <a:solidFill>
                  <a:srgbClr val="3A443E"/>
                </a:solidFill>
                <a:latin typeface="Arial" pitchFamily="34" charset="0"/>
                <a:ea typeface="Arial" pitchFamily="34" charset="-122"/>
                <a:cs typeface="Arial" pitchFamily="34" charset="-120"/>
              </a:rPr>
              <a:t>Localized utility math</a:t>
            </a:r>
            <a:endParaRPr lang="en-US" sz="1320" dirty="0"/>
          </a:p>
        </p:txBody>
      </p:sp>
      <p:sp>
        <p:nvSpPr>
          <p:cNvPr id="28" name="Shape 26"/>
          <p:cNvSpPr/>
          <p:nvPr/>
        </p:nvSpPr>
        <p:spPr>
          <a:xfrm>
            <a:off x="901700" y="4642148"/>
            <a:ext cx="3640138" cy="9525"/>
          </a:xfrm>
          <a:prstGeom prst="rect">
            <a:avLst/>
          </a:prstGeom>
          <a:solidFill>
            <a:srgbClr val="18221E">
              <a:alpha val="10000"/>
            </a:srgbClr>
          </a:solidFill>
          <a:ln/>
        </p:spPr>
      </p:sp>
      <p:sp>
        <p:nvSpPr>
          <p:cNvPr id="29" name="Text 27"/>
          <p:cNvSpPr/>
          <p:nvPr/>
        </p:nvSpPr>
        <p:spPr>
          <a:xfrm>
            <a:off x="901700" y="4762798"/>
            <a:ext cx="3749342" cy="260350"/>
          </a:xfrm>
          <a:prstGeom prst="rect">
            <a:avLst/>
          </a:prstGeom>
          <a:noFill/>
          <a:ln/>
        </p:spPr>
        <p:txBody>
          <a:bodyPr wrap="square" lIns="25400" tIns="25400" rIns="25400" bIns="25400" rtlCol="0" anchor="t">
            <a:normAutofit/>
          </a:bodyPr>
          <a:lstStyle/>
          <a:p>
            <a:pPr algn="l" indent="0" marL="0">
              <a:buNone/>
            </a:pPr>
            <a:r>
              <a:rPr lang="en-US" sz="1320" b="1" dirty="0">
                <a:solidFill>
                  <a:srgbClr val="2C7A58"/>
                </a:solidFill>
                <a:latin typeface="Arial" pitchFamily="34" charset="0"/>
                <a:ea typeface="Arial" pitchFamily="34" charset="-122"/>
                <a:cs typeface="Arial" pitchFamily="34" charset="-120"/>
              </a:rPr>
              <a:t>★ VP7 </a:t>
            </a:r>
            <a:pPr algn="l" indent="0" marL="0">
              <a:buNone/>
            </a:pPr>
            <a:r>
              <a:rPr lang="en-US" sz="1320" b="1" dirty="0">
                <a:solidFill>
                  <a:srgbClr val="1F5E43"/>
                </a:solidFill>
                <a:latin typeface="Arial" pitchFamily="34" charset="0"/>
                <a:ea typeface="Arial" pitchFamily="34" charset="-122"/>
                <a:cs typeface="Arial" pitchFamily="34" charset="-120"/>
              </a:rPr>
              <a:t>Insider HAP guidance</a:t>
            </a:r>
            <a:endParaRPr lang="en-US" sz="1320" dirty="0"/>
          </a:p>
        </p:txBody>
      </p:sp>
      <p:sp>
        <p:nvSpPr>
          <p:cNvPr id="30" name="Shape 28"/>
          <p:cNvSpPr/>
          <p:nvPr/>
        </p:nvSpPr>
        <p:spPr>
          <a:xfrm>
            <a:off x="4948238" y="2486025"/>
            <a:ext cx="4110038" cy="6994525"/>
          </a:xfrm>
          <a:prstGeom prst="roundRect">
            <a:avLst>
              <a:gd name="adj" fmla="val 1390"/>
            </a:avLst>
          </a:prstGeom>
          <a:solidFill>
            <a:srgbClr val="FFFFFF"/>
          </a:solidFill>
          <a:ln/>
        </p:spPr>
      </p:sp>
      <p:sp>
        <p:nvSpPr>
          <p:cNvPr id="31" name="Shape 29"/>
          <p:cNvSpPr/>
          <p:nvPr/>
        </p:nvSpPr>
        <p:spPr>
          <a:xfrm>
            <a:off x="4948238" y="9474200"/>
            <a:ext cx="4110038" cy="9525"/>
          </a:xfrm>
          <a:prstGeom prst="rect">
            <a:avLst/>
          </a:prstGeom>
          <a:solidFill>
            <a:srgbClr val="18221E">
              <a:alpha val="12000"/>
            </a:srgbClr>
          </a:solidFill>
          <a:ln/>
        </p:spPr>
      </p:sp>
      <p:sp>
        <p:nvSpPr>
          <p:cNvPr id="32" name="Shape 30"/>
          <p:cNvSpPr/>
          <p:nvPr/>
        </p:nvSpPr>
        <p:spPr>
          <a:xfrm>
            <a:off x="4948238" y="2486025"/>
            <a:ext cx="4110038" cy="38100"/>
          </a:xfrm>
          <a:prstGeom prst="rect">
            <a:avLst/>
          </a:prstGeom>
          <a:solidFill>
            <a:srgbClr val="1F5E43"/>
          </a:solidFill>
          <a:ln/>
        </p:spPr>
      </p:sp>
      <p:sp>
        <p:nvSpPr>
          <p:cNvPr id="33" name="Shape 31"/>
          <p:cNvSpPr/>
          <p:nvPr/>
        </p:nvSpPr>
        <p:spPr>
          <a:xfrm>
            <a:off x="4948238" y="2486025"/>
            <a:ext cx="9525" cy="6994525"/>
          </a:xfrm>
          <a:prstGeom prst="rect">
            <a:avLst/>
          </a:prstGeom>
          <a:solidFill>
            <a:srgbClr val="18221E">
              <a:alpha val="12000"/>
            </a:srgbClr>
          </a:solidFill>
          <a:ln/>
        </p:spPr>
      </p:sp>
      <p:sp>
        <p:nvSpPr>
          <p:cNvPr id="34" name="Shape 32"/>
          <p:cNvSpPr/>
          <p:nvPr/>
        </p:nvSpPr>
        <p:spPr>
          <a:xfrm>
            <a:off x="9051925" y="2486025"/>
            <a:ext cx="9525" cy="6994525"/>
          </a:xfrm>
          <a:prstGeom prst="rect">
            <a:avLst/>
          </a:prstGeom>
          <a:solidFill>
            <a:srgbClr val="18221E">
              <a:alpha val="12000"/>
            </a:srgbClr>
          </a:solidFill>
          <a:ln/>
        </p:spPr>
      </p:sp>
      <p:sp>
        <p:nvSpPr>
          <p:cNvPr id="35" name="Text 33"/>
          <p:cNvSpPr/>
          <p:nvPr/>
        </p:nvSpPr>
        <p:spPr>
          <a:xfrm>
            <a:off x="5183188" y="2752725"/>
            <a:ext cx="4004151" cy="196850"/>
          </a:xfrm>
          <a:prstGeom prst="rect">
            <a:avLst/>
          </a:prstGeom>
          <a:noFill/>
          <a:ln/>
        </p:spPr>
        <p:txBody>
          <a:bodyPr wrap="square" lIns="25400" tIns="25400" rIns="25400" bIns="25400" rtlCol="0" anchor="t">
            <a:normAutofit/>
          </a:bodyPr>
          <a:lstStyle/>
          <a:p>
            <a:pPr algn="l" indent="0" marL="0">
              <a:buNone/>
            </a:pPr>
            <a:r>
              <a:rPr lang="en-US" sz="990" spc="99" kern="0" dirty="0">
                <a:solidFill>
                  <a:srgbClr val="1F5E43"/>
                </a:solidFill>
                <a:latin typeface="Courier New" pitchFamily="34" charset="0"/>
                <a:ea typeface="Courier New" pitchFamily="34" charset="-122"/>
                <a:cs typeface="Courier New" pitchFamily="34" charset="-120"/>
              </a:rPr>
              <a:t>SEGMENT B</a:t>
            </a:r>
            <a:endParaRPr lang="en-US" sz="990" dirty="0"/>
          </a:p>
        </p:txBody>
      </p:sp>
      <p:sp>
        <p:nvSpPr>
          <p:cNvPr id="36" name="Text 34"/>
          <p:cNvSpPr/>
          <p:nvPr/>
        </p:nvSpPr>
        <p:spPr>
          <a:xfrm>
            <a:off x="5183188" y="2968625"/>
            <a:ext cx="4004151" cy="314623"/>
          </a:xfrm>
          <a:prstGeom prst="rect">
            <a:avLst/>
          </a:prstGeom>
          <a:noFill/>
          <a:ln/>
        </p:spPr>
        <p:txBody>
          <a:bodyPr wrap="square" lIns="25400" tIns="25400" rIns="25400" bIns="25400" rtlCol="0" anchor="t">
            <a:normAutofit/>
          </a:bodyPr>
          <a:lstStyle/>
          <a:p>
            <a:pPr algn="l" indent="0" marL="0">
              <a:lnSpc>
                <a:spcPct val="110000"/>
              </a:lnSpc>
              <a:buNone/>
            </a:pPr>
            <a:r>
              <a:rPr lang="en-US" sz="1980" b="1" dirty="0">
                <a:solidFill>
                  <a:srgbClr val="18221E"/>
                </a:solidFill>
                <a:latin typeface="Arial" pitchFamily="34" charset="0"/>
                <a:ea typeface="Arial" pitchFamily="34" charset="-122"/>
                <a:cs typeface="Arial" pitchFamily="34" charset="-120"/>
              </a:rPr>
              <a:t>Portfolio landlords &amp; PMs</a:t>
            </a:r>
            <a:endParaRPr lang="en-US" sz="1980" dirty="0"/>
          </a:p>
        </p:txBody>
      </p:sp>
      <p:sp>
        <p:nvSpPr>
          <p:cNvPr id="37" name="Text 35"/>
          <p:cNvSpPr/>
          <p:nvPr/>
        </p:nvSpPr>
        <p:spPr>
          <a:xfrm>
            <a:off x="5183188" y="3397548"/>
            <a:ext cx="4004151" cy="254000"/>
          </a:xfrm>
          <a:prstGeom prst="rect">
            <a:avLst/>
          </a:prstGeom>
          <a:noFill/>
          <a:ln/>
        </p:spPr>
        <p:txBody>
          <a:bodyPr wrap="square" lIns="25400" tIns="25400" rIns="25400" bIns="25400" rtlCol="0" anchor="t">
            <a:normAutofit/>
          </a:bodyPr>
          <a:lstStyle/>
          <a:p>
            <a:pPr algn="l" indent="0" marL="0">
              <a:buNone/>
            </a:pPr>
            <a:r>
              <a:rPr lang="en-US" sz="1073" dirty="0">
                <a:solidFill>
                  <a:srgbClr val="9AA39D"/>
                </a:solidFill>
                <a:latin typeface="Courier New" pitchFamily="34" charset="0"/>
                <a:ea typeface="Courier New" pitchFamily="34" charset="-122"/>
                <a:cs typeface="Courier New" pitchFamily="34" charset="-120"/>
              </a:rPr>
              <a:t>VP1 </a:t>
            </a:r>
            <a:pPr algn="l" indent="0" marL="0">
              <a:buNone/>
            </a:pPr>
            <a:r>
              <a:rPr lang="en-US" sz="1320" dirty="0">
                <a:solidFill>
                  <a:srgbClr val="3A443E"/>
                </a:solidFill>
                <a:latin typeface="Arial" pitchFamily="34" charset="0"/>
                <a:ea typeface="Arial" pitchFamily="34" charset="-122"/>
                <a:cs typeface="Arial" pitchFamily="34" charset="-120"/>
              </a:rPr>
              <a:t>Voucher-only marketplace</a:t>
            </a:r>
            <a:endParaRPr lang="en-US" sz="1320" dirty="0"/>
          </a:p>
        </p:txBody>
      </p:sp>
      <p:sp>
        <p:nvSpPr>
          <p:cNvPr id="38" name="Text 36"/>
          <p:cNvSpPr/>
          <p:nvPr/>
        </p:nvSpPr>
        <p:spPr>
          <a:xfrm>
            <a:off x="5183188" y="3699173"/>
            <a:ext cx="4004151" cy="254000"/>
          </a:xfrm>
          <a:prstGeom prst="rect">
            <a:avLst/>
          </a:prstGeom>
          <a:noFill/>
          <a:ln/>
        </p:spPr>
        <p:txBody>
          <a:bodyPr wrap="square" lIns="25400" tIns="25400" rIns="25400" bIns="25400" rtlCol="0" anchor="t">
            <a:normAutofit/>
          </a:bodyPr>
          <a:lstStyle/>
          <a:p>
            <a:pPr algn="l" indent="0" marL="0">
              <a:buNone/>
            </a:pPr>
            <a:r>
              <a:rPr lang="en-US" sz="1073" dirty="0">
                <a:solidFill>
                  <a:srgbClr val="9AA39D"/>
                </a:solidFill>
                <a:latin typeface="Courier New" pitchFamily="34" charset="0"/>
                <a:ea typeface="Courier New" pitchFamily="34" charset="-122"/>
                <a:cs typeface="Courier New" pitchFamily="34" charset="-120"/>
              </a:rPr>
              <a:t>VP3 </a:t>
            </a:r>
            <a:pPr algn="l" indent="0" marL="0">
              <a:buNone/>
            </a:pPr>
            <a:r>
              <a:rPr lang="en-US" sz="1320" dirty="0">
                <a:solidFill>
                  <a:srgbClr val="3A443E"/>
                </a:solidFill>
                <a:latin typeface="Arial" pitchFamily="34" charset="0"/>
                <a:ea typeface="Arial" pitchFamily="34" charset="-122"/>
                <a:cs typeface="Arial" pitchFamily="34" charset="-120"/>
              </a:rPr>
              <a:t>HQS inspection tracking</a:t>
            </a:r>
            <a:endParaRPr lang="en-US" sz="1320" dirty="0"/>
          </a:p>
        </p:txBody>
      </p:sp>
      <p:sp>
        <p:nvSpPr>
          <p:cNvPr id="39" name="Text 37"/>
          <p:cNvSpPr/>
          <p:nvPr/>
        </p:nvSpPr>
        <p:spPr>
          <a:xfrm>
            <a:off x="5183188" y="4000798"/>
            <a:ext cx="4004151" cy="254000"/>
          </a:xfrm>
          <a:prstGeom prst="rect">
            <a:avLst/>
          </a:prstGeom>
          <a:noFill/>
          <a:ln/>
        </p:spPr>
        <p:txBody>
          <a:bodyPr wrap="square" lIns="25400" tIns="25400" rIns="25400" bIns="25400" rtlCol="0" anchor="t">
            <a:normAutofit/>
          </a:bodyPr>
          <a:lstStyle/>
          <a:p>
            <a:pPr algn="l" indent="0" marL="0">
              <a:buNone/>
            </a:pPr>
            <a:r>
              <a:rPr lang="en-US" sz="1073" dirty="0">
                <a:solidFill>
                  <a:srgbClr val="9AA39D"/>
                </a:solidFill>
                <a:latin typeface="Courier New" pitchFamily="34" charset="0"/>
                <a:ea typeface="Courier New" pitchFamily="34" charset="-122"/>
                <a:cs typeface="Courier New" pitchFamily="34" charset="-120"/>
              </a:rPr>
              <a:t>VP4 </a:t>
            </a:r>
            <a:pPr algn="l" indent="0" marL="0">
              <a:buNone/>
            </a:pPr>
            <a:r>
              <a:rPr lang="en-US" sz="1320" dirty="0">
                <a:solidFill>
                  <a:srgbClr val="3A443E"/>
                </a:solidFill>
                <a:latin typeface="Arial" pitchFamily="34" charset="0"/>
                <a:ea typeface="Arial" pitchFamily="34" charset="-122"/>
                <a:cs typeface="Arial" pitchFamily="34" charset="-120"/>
              </a:rPr>
              <a:t>Application inbox</a:t>
            </a:r>
            <a:endParaRPr lang="en-US" sz="1320" dirty="0"/>
          </a:p>
        </p:txBody>
      </p:sp>
      <p:sp>
        <p:nvSpPr>
          <p:cNvPr id="40" name="Text 38"/>
          <p:cNvSpPr/>
          <p:nvPr/>
        </p:nvSpPr>
        <p:spPr>
          <a:xfrm>
            <a:off x="5183188" y="4302423"/>
            <a:ext cx="4004151" cy="254000"/>
          </a:xfrm>
          <a:prstGeom prst="rect">
            <a:avLst/>
          </a:prstGeom>
          <a:noFill/>
          <a:ln/>
        </p:spPr>
        <p:txBody>
          <a:bodyPr wrap="square" lIns="25400" tIns="25400" rIns="25400" bIns="25400" rtlCol="0" anchor="t">
            <a:normAutofit/>
          </a:bodyPr>
          <a:lstStyle/>
          <a:p>
            <a:pPr algn="l" indent="0" marL="0">
              <a:buNone/>
            </a:pPr>
            <a:r>
              <a:rPr lang="en-US" sz="1073" dirty="0">
                <a:solidFill>
                  <a:srgbClr val="9AA39D"/>
                </a:solidFill>
                <a:latin typeface="Courier New" pitchFamily="34" charset="0"/>
                <a:ea typeface="Courier New" pitchFamily="34" charset="-122"/>
                <a:cs typeface="Courier New" pitchFamily="34" charset="-120"/>
              </a:rPr>
              <a:t>VP5 </a:t>
            </a:r>
            <a:pPr algn="l" indent="0" marL="0">
              <a:buNone/>
            </a:pPr>
            <a:r>
              <a:rPr lang="en-US" sz="1320" dirty="0">
                <a:solidFill>
                  <a:srgbClr val="3A443E"/>
                </a:solidFill>
                <a:latin typeface="Arial" pitchFamily="34" charset="0"/>
                <a:ea typeface="Arial" pitchFamily="34" charset="-122"/>
                <a:cs typeface="Arial" pitchFamily="34" charset="-120"/>
              </a:rPr>
              <a:t>Recert &amp; expiration alerts</a:t>
            </a:r>
            <a:endParaRPr lang="en-US" sz="1320" dirty="0"/>
          </a:p>
        </p:txBody>
      </p:sp>
      <p:sp>
        <p:nvSpPr>
          <p:cNvPr id="41" name="Shape 39"/>
          <p:cNvSpPr/>
          <p:nvPr/>
        </p:nvSpPr>
        <p:spPr>
          <a:xfrm>
            <a:off x="5183188" y="4642148"/>
            <a:ext cx="3640138" cy="9525"/>
          </a:xfrm>
          <a:prstGeom prst="rect">
            <a:avLst/>
          </a:prstGeom>
          <a:solidFill>
            <a:srgbClr val="18221E">
              <a:alpha val="10000"/>
            </a:srgbClr>
          </a:solidFill>
          <a:ln/>
        </p:spPr>
      </p:sp>
      <p:sp>
        <p:nvSpPr>
          <p:cNvPr id="42" name="Text 40"/>
          <p:cNvSpPr/>
          <p:nvPr/>
        </p:nvSpPr>
        <p:spPr>
          <a:xfrm>
            <a:off x="5183188" y="4762798"/>
            <a:ext cx="3749342" cy="260350"/>
          </a:xfrm>
          <a:prstGeom prst="rect">
            <a:avLst/>
          </a:prstGeom>
          <a:noFill/>
          <a:ln/>
        </p:spPr>
        <p:txBody>
          <a:bodyPr wrap="square" lIns="25400" tIns="25400" rIns="25400" bIns="25400" rtlCol="0" anchor="t">
            <a:normAutofit/>
          </a:bodyPr>
          <a:lstStyle/>
          <a:p>
            <a:pPr algn="l" indent="0" marL="0">
              <a:buNone/>
            </a:pPr>
            <a:r>
              <a:rPr lang="en-US" sz="1320" b="1" dirty="0">
                <a:solidFill>
                  <a:srgbClr val="2C7A58"/>
                </a:solidFill>
                <a:latin typeface="Arial" pitchFamily="34" charset="0"/>
                <a:ea typeface="Arial" pitchFamily="34" charset="-122"/>
                <a:cs typeface="Arial" pitchFamily="34" charset="-120"/>
              </a:rPr>
              <a:t>★ VP8 </a:t>
            </a:r>
            <a:pPr algn="l" indent="0" marL="0">
              <a:buNone/>
            </a:pPr>
            <a:r>
              <a:rPr lang="en-US" sz="1320" b="1" dirty="0">
                <a:solidFill>
                  <a:srgbClr val="1F5E43"/>
                </a:solidFill>
                <a:latin typeface="Arial" pitchFamily="34" charset="0"/>
                <a:ea typeface="Arial" pitchFamily="34" charset="-122"/>
                <a:cs typeface="Arial" pitchFamily="34" charset="-120"/>
              </a:rPr>
              <a:t>Bulk multi-unit listings</a:t>
            </a:r>
            <a:endParaRPr lang="en-US" sz="1320" dirty="0"/>
          </a:p>
        </p:txBody>
      </p:sp>
      <p:sp>
        <p:nvSpPr>
          <p:cNvPr id="43" name="Shape 41"/>
          <p:cNvSpPr/>
          <p:nvPr/>
        </p:nvSpPr>
        <p:spPr>
          <a:xfrm>
            <a:off x="9229725" y="2486025"/>
            <a:ext cx="4110038" cy="6994525"/>
          </a:xfrm>
          <a:prstGeom prst="roundRect">
            <a:avLst>
              <a:gd name="adj" fmla="val 1390"/>
            </a:avLst>
          </a:prstGeom>
          <a:solidFill>
            <a:srgbClr val="FFFFFF"/>
          </a:solidFill>
          <a:ln/>
        </p:spPr>
      </p:sp>
      <p:sp>
        <p:nvSpPr>
          <p:cNvPr id="44" name="Shape 42"/>
          <p:cNvSpPr/>
          <p:nvPr/>
        </p:nvSpPr>
        <p:spPr>
          <a:xfrm>
            <a:off x="9229725" y="9474200"/>
            <a:ext cx="4110038" cy="9525"/>
          </a:xfrm>
          <a:prstGeom prst="rect">
            <a:avLst/>
          </a:prstGeom>
          <a:solidFill>
            <a:srgbClr val="18221E">
              <a:alpha val="12000"/>
            </a:srgbClr>
          </a:solidFill>
          <a:ln/>
        </p:spPr>
      </p:sp>
      <p:sp>
        <p:nvSpPr>
          <p:cNvPr id="45" name="Shape 43"/>
          <p:cNvSpPr/>
          <p:nvPr/>
        </p:nvSpPr>
        <p:spPr>
          <a:xfrm>
            <a:off x="9229725" y="2486025"/>
            <a:ext cx="4110038" cy="38100"/>
          </a:xfrm>
          <a:prstGeom prst="rect">
            <a:avLst/>
          </a:prstGeom>
          <a:solidFill>
            <a:srgbClr val="B0673E"/>
          </a:solidFill>
          <a:ln/>
        </p:spPr>
      </p:sp>
      <p:sp>
        <p:nvSpPr>
          <p:cNvPr id="46" name="Shape 44"/>
          <p:cNvSpPr/>
          <p:nvPr/>
        </p:nvSpPr>
        <p:spPr>
          <a:xfrm>
            <a:off x="9229725" y="2486025"/>
            <a:ext cx="9525" cy="6994525"/>
          </a:xfrm>
          <a:prstGeom prst="rect">
            <a:avLst/>
          </a:prstGeom>
          <a:solidFill>
            <a:srgbClr val="18221E">
              <a:alpha val="12000"/>
            </a:srgbClr>
          </a:solidFill>
          <a:ln/>
        </p:spPr>
      </p:sp>
      <p:sp>
        <p:nvSpPr>
          <p:cNvPr id="47" name="Shape 45"/>
          <p:cNvSpPr/>
          <p:nvPr/>
        </p:nvSpPr>
        <p:spPr>
          <a:xfrm>
            <a:off x="13333412" y="2486025"/>
            <a:ext cx="9525" cy="6994525"/>
          </a:xfrm>
          <a:prstGeom prst="rect">
            <a:avLst/>
          </a:prstGeom>
          <a:solidFill>
            <a:srgbClr val="18221E">
              <a:alpha val="12000"/>
            </a:srgbClr>
          </a:solidFill>
          <a:ln/>
        </p:spPr>
      </p:sp>
      <p:sp>
        <p:nvSpPr>
          <p:cNvPr id="48" name="Text 46"/>
          <p:cNvSpPr/>
          <p:nvPr/>
        </p:nvSpPr>
        <p:spPr>
          <a:xfrm>
            <a:off x="9464675" y="2752725"/>
            <a:ext cx="4004151" cy="196850"/>
          </a:xfrm>
          <a:prstGeom prst="rect">
            <a:avLst/>
          </a:prstGeom>
          <a:noFill/>
          <a:ln/>
        </p:spPr>
        <p:txBody>
          <a:bodyPr wrap="square" lIns="25400" tIns="25400" rIns="25400" bIns="25400" rtlCol="0" anchor="t">
            <a:normAutofit/>
          </a:bodyPr>
          <a:lstStyle/>
          <a:p>
            <a:pPr algn="l" indent="0" marL="0">
              <a:buNone/>
            </a:pPr>
            <a:r>
              <a:rPr lang="en-US" sz="990" spc="99" kern="0" dirty="0">
                <a:solidFill>
                  <a:srgbClr val="B0673E"/>
                </a:solidFill>
                <a:latin typeface="Courier New" pitchFamily="34" charset="0"/>
                <a:ea typeface="Courier New" pitchFamily="34" charset="-122"/>
                <a:cs typeface="Courier New" pitchFamily="34" charset="-120"/>
              </a:rPr>
              <a:t>SEGMENT C</a:t>
            </a:r>
            <a:endParaRPr lang="en-US" sz="990" dirty="0"/>
          </a:p>
        </p:txBody>
      </p:sp>
      <p:sp>
        <p:nvSpPr>
          <p:cNvPr id="49" name="Text 47"/>
          <p:cNvSpPr/>
          <p:nvPr/>
        </p:nvSpPr>
        <p:spPr>
          <a:xfrm>
            <a:off x="9464675" y="2968625"/>
            <a:ext cx="3749342" cy="591145"/>
          </a:xfrm>
          <a:prstGeom prst="rect">
            <a:avLst/>
          </a:prstGeom>
          <a:noFill/>
          <a:ln/>
        </p:spPr>
        <p:txBody>
          <a:bodyPr wrap="square" lIns="25400" tIns="25400" rIns="25400" bIns="25400" rtlCol="0" anchor="t">
            <a:normAutofit/>
          </a:bodyPr>
          <a:lstStyle/>
          <a:p>
            <a:pPr algn="l" indent="0" marL="0">
              <a:lnSpc>
                <a:spcPct val="110000"/>
              </a:lnSpc>
              <a:buNone/>
            </a:pPr>
            <a:r>
              <a:rPr lang="en-US" sz="1980" b="1" dirty="0">
                <a:solidFill>
                  <a:srgbClr val="18221E"/>
                </a:solidFill>
                <a:latin typeface="Arial" pitchFamily="34" charset="0"/>
                <a:ea typeface="Arial" pitchFamily="34" charset="-122"/>
                <a:cs typeface="Arial" pitchFamily="34" charset="-120"/>
              </a:rPr>
              <a:t>High-urgency voucher tenants</a:t>
            </a:r>
            <a:endParaRPr lang="en-US" sz="1980" dirty="0"/>
          </a:p>
        </p:txBody>
      </p:sp>
      <p:sp>
        <p:nvSpPr>
          <p:cNvPr id="50" name="Text 48"/>
          <p:cNvSpPr/>
          <p:nvPr/>
        </p:nvSpPr>
        <p:spPr>
          <a:xfrm>
            <a:off x="9464675" y="3674071"/>
            <a:ext cx="4004151" cy="254000"/>
          </a:xfrm>
          <a:prstGeom prst="rect">
            <a:avLst/>
          </a:prstGeom>
          <a:noFill/>
          <a:ln/>
        </p:spPr>
        <p:txBody>
          <a:bodyPr wrap="square" lIns="25400" tIns="25400" rIns="25400" bIns="25400" rtlCol="0" anchor="t">
            <a:normAutofit/>
          </a:bodyPr>
          <a:lstStyle/>
          <a:p>
            <a:pPr algn="l" indent="0" marL="0">
              <a:buNone/>
            </a:pPr>
            <a:r>
              <a:rPr lang="en-US" sz="1073" dirty="0">
                <a:solidFill>
                  <a:srgbClr val="9AA39D"/>
                </a:solidFill>
                <a:latin typeface="Courier New" pitchFamily="34" charset="0"/>
                <a:ea typeface="Courier New" pitchFamily="34" charset="-122"/>
                <a:cs typeface="Courier New" pitchFamily="34" charset="-120"/>
              </a:rPr>
              <a:t>VP1 </a:t>
            </a:r>
            <a:pPr algn="l" indent="0" marL="0">
              <a:buNone/>
            </a:pPr>
            <a:r>
              <a:rPr lang="en-US" sz="1320" dirty="0">
                <a:solidFill>
                  <a:srgbClr val="3A443E"/>
                </a:solidFill>
                <a:latin typeface="Arial" pitchFamily="34" charset="0"/>
                <a:ea typeface="Arial" pitchFamily="34" charset="-122"/>
                <a:cs typeface="Arial" pitchFamily="34" charset="-120"/>
              </a:rPr>
              <a:t>Voucher-only marketplace</a:t>
            </a:r>
            <a:endParaRPr lang="en-US" sz="1320" dirty="0"/>
          </a:p>
        </p:txBody>
      </p:sp>
      <p:sp>
        <p:nvSpPr>
          <p:cNvPr id="51" name="Text 49"/>
          <p:cNvSpPr/>
          <p:nvPr/>
        </p:nvSpPr>
        <p:spPr>
          <a:xfrm>
            <a:off x="9464675" y="3975695"/>
            <a:ext cx="4004151" cy="254000"/>
          </a:xfrm>
          <a:prstGeom prst="rect">
            <a:avLst/>
          </a:prstGeom>
          <a:noFill/>
          <a:ln/>
        </p:spPr>
        <p:txBody>
          <a:bodyPr wrap="square" lIns="25400" tIns="25400" rIns="25400" bIns="25400" rtlCol="0" anchor="t">
            <a:normAutofit/>
          </a:bodyPr>
          <a:lstStyle/>
          <a:p>
            <a:pPr algn="l" indent="0" marL="0">
              <a:buNone/>
            </a:pPr>
            <a:r>
              <a:rPr lang="en-US" sz="1073" dirty="0">
                <a:solidFill>
                  <a:srgbClr val="9AA39D"/>
                </a:solidFill>
                <a:latin typeface="Courier New" pitchFamily="34" charset="0"/>
                <a:ea typeface="Courier New" pitchFamily="34" charset="-122"/>
                <a:cs typeface="Courier New" pitchFamily="34" charset="-120"/>
              </a:rPr>
              <a:t>VP5 </a:t>
            </a:r>
            <a:pPr algn="l" indent="0" marL="0">
              <a:buNone/>
            </a:pPr>
            <a:r>
              <a:rPr lang="en-US" sz="1320" dirty="0">
                <a:solidFill>
                  <a:srgbClr val="3A443E"/>
                </a:solidFill>
                <a:latin typeface="Arial" pitchFamily="34" charset="0"/>
                <a:ea typeface="Arial" pitchFamily="34" charset="-122"/>
                <a:cs typeface="Arial" pitchFamily="34" charset="-120"/>
              </a:rPr>
              <a:t>Expiration alerts</a:t>
            </a:r>
            <a:endParaRPr lang="en-US" sz="1320" dirty="0"/>
          </a:p>
        </p:txBody>
      </p:sp>
      <p:sp>
        <p:nvSpPr>
          <p:cNvPr id="52" name="Text 50"/>
          <p:cNvSpPr/>
          <p:nvPr/>
        </p:nvSpPr>
        <p:spPr>
          <a:xfrm>
            <a:off x="9464675" y="4277320"/>
            <a:ext cx="4004151" cy="254000"/>
          </a:xfrm>
          <a:prstGeom prst="rect">
            <a:avLst/>
          </a:prstGeom>
          <a:noFill/>
          <a:ln/>
        </p:spPr>
        <p:txBody>
          <a:bodyPr wrap="square" lIns="25400" tIns="25400" rIns="25400" bIns="25400" rtlCol="0" anchor="t">
            <a:normAutofit/>
          </a:bodyPr>
          <a:lstStyle/>
          <a:p>
            <a:pPr algn="l" indent="0" marL="0">
              <a:buNone/>
            </a:pPr>
            <a:r>
              <a:rPr lang="en-US" sz="1073" dirty="0">
                <a:solidFill>
                  <a:srgbClr val="9AA39D"/>
                </a:solidFill>
                <a:latin typeface="Courier New" pitchFamily="34" charset="0"/>
                <a:ea typeface="Courier New" pitchFamily="34" charset="-122"/>
                <a:cs typeface="Courier New" pitchFamily="34" charset="-120"/>
              </a:rPr>
              <a:t>VP6 </a:t>
            </a:r>
            <a:pPr algn="l" indent="0" marL="0">
              <a:buNone/>
            </a:pPr>
            <a:r>
              <a:rPr lang="en-US" sz="1320" dirty="0">
                <a:solidFill>
                  <a:srgbClr val="3A443E"/>
                </a:solidFill>
                <a:latin typeface="Arial" pitchFamily="34" charset="0"/>
                <a:ea typeface="Arial" pitchFamily="34" charset="-122"/>
                <a:cs typeface="Arial" pitchFamily="34" charset="-120"/>
              </a:rPr>
              <a:t>Verified voucher badge</a:t>
            </a:r>
            <a:endParaRPr lang="en-US" sz="1320" dirty="0"/>
          </a:p>
        </p:txBody>
      </p:sp>
      <p:sp>
        <p:nvSpPr>
          <p:cNvPr id="53" name="Shape 51"/>
          <p:cNvSpPr/>
          <p:nvPr/>
        </p:nvSpPr>
        <p:spPr>
          <a:xfrm>
            <a:off x="9464675" y="4617046"/>
            <a:ext cx="3640138" cy="9525"/>
          </a:xfrm>
          <a:prstGeom prst="rect">
            <a:avLst/>
          </a:prstGeom>
          <a:solidFill>
            <a:srgbClr val="18221E">
              <a:alpha val="10000"/>
            </a:srgbClr>
          </a:solidFill>
          <a:ln/>
        </p:spPr>
      </p:sp>
      <p:sp>
        <p:nvSpPr>
          <p:cNvPr id="54" name="Text 52"/>
          <p:cNvSpPr/>
          <p:nvPr/>
        </p:nvSpPr>
        <p:spPr>
          <a:xfrm>
            <a:off x="9464675" y="4737696"/>
            <a:ext cx="3749342" cy="260350"/>
          </a:xfrm>
          <a:prstGeom prst="rect">
            <a:avLst/>
          </a:prstGeom>
          <a:noFill/>
          <a:ln/>
        </p:spPr>
        <p:txBody>
          <a:bodyPr wrap="square" lIns="25400" tIns="25400" rIns="25400" bIns="25400" rtlCol="0" anchor="t">
            <a:normAutofit/>
          </a:bodyPr>
          <a:lstStyle/>
          <a:p>
            <a:pPr algn="l" indent="0" marL="0">
              <a:buNone/>
            </a:pPr>
            <a:r>
              <a:rPr lang="en-US" sz="1320" b="1" dirty="0">
                <a:solidFill>
                  <a:srgbClr val="B0673E"/>
                </a:solidFill>
                <a:latin typeface="Arial" pitchFamily="34" charset="0"/>
                <a:ea typeface="Arial" pitchFamily="34" charset="-122"/>
                <a:cs typeface="Arial" pitchFamily="34" charset="-120"/>
              </a:rPr>
              <a:t>★ VP2 </a:t>
            </a:r>
            <a:pPr algn="l" indent="0" marL="0">
              <a:buNone/>
            </a:pPr>
            <a:r>
              <a:rPr lang="en-US" sz="1320" b="1" dirty="0">
                <a:solidFill>
                  <a:srgbClr val="8F4F2C"/>
                </a:solidFill>
                <a:latin typeface="Arial" pitchFamily="34" charset="0"/>
                <a:ea typeface="Arial" pitchFamily="34" charset="-122"/>
                <a:cs typeface="Arial" pitchFamily="34" charset="-120"/>
              </a:rPr>
              <a:t>Instant voucher match</a:t>
            </a:r>
            <a:endParaRPr lang="en-US" sz="1320" dirty="0"/>
          </a:p>
        </p:txBody>
      </p:sp>
      <p:sp>
        <p:nvSpPr>
          <p:cNvPr id="55" name="Shape 53"/>
          <p:cNvSpPr/>
          <p:nvPr/>
        </p:nvSpPr>
        <p:spPr>
          <a:xfrm>
            <a:off x="13511213" y="2486025"/>
            <a:ext cx="4110038" cy="6994525"/>
          </a:xfrm>
          <a:prstGeom prst="roundRect">
            <a:avLst>
              <a:gd name="adj" fmla="val 1390"/>
            </a:avLst>
          </a:prstGeom>
          <a:solidFill>
            <a:srgbClr val="FFFFFF"/>
          </a:solidFill>
          <a:ln/>
        </p:spPr>
      </p:sp>
      <p:sp>
        <p:nvSpPr>
          <p:cNvPr id="56" name="Shape 54"/>
          <p:cNvSpPr/>
          <p:nvPr/>
        </p:nvSpPr>
        <p:spPr>
          <a:xfrm>
            <a:off x="13511213" y="9474200"/>
            <a:ext cx="4110038" cy="9525"/>
          </a:xfrm>
          <a:prstGeom prst="rect">
            <a:avLst/>
          </a:prstGeom>
          <a:solidFill>
            <a:srgbClr val="18221E">
              <a:alpha val="12000"/>
            </a:srgbClr>
          </a:solidFill>
          <a:ln/>
        </p:spPr>
      </p:sp>
      <p:sp>
        <p:nvSpPr>
          <p:cNvPr id="57" name="Shape 55"/>
          <p:cNvSpPr/>
          <p:nvPr/>
        </p:nvSpPr>
        <p:spPr>
          <a:xfrm>
            <a:off x="13511213" y="2486025"/>
            <a:ext cx="4110038" cy="38100"/>
          </a:xfrm>
          <a:prstGeom prst="rect">
            <a:avLst/>
          </a:prstGeom>
          <a:solidFill>
            <a:srgbClr val="8F4F2C"/>
          </a:solidFill>
          <a:ln/>
        </p:spPr>
      </p:sp>
      <p:sp>
        <p:nvSpPr>
          <p:cNvPr id="58" name="Shape 56"/>
          <p:cNvSpPr/>
          <p:nvPr/>
        </p:nvSpPr>
        <p:spPr>
          <a:xfrm>
            <a:off x="13511213" y="2486025"/>
            <a:ext cx="9525" cy="6994525"/>
          </a:xfrm>
          <a:prstGeom prst="rect">
            <a:avLst/>
          </a:prstGeom>
          <a:solidFill>
            <a:srgbClr val="18221E">
              <a:alpha val="12000"/>
            </a:srgbClr>
          </a:solidFill>
          <a:ln/>
        </p:spPr>
      </p:sp>
      <p:sp>
        <p:nvSpPr>
          <p:cNvPr id="59" name="Shape 57"/>
          <p:cNvSpPr/>
          <p:nvPr/>
        </p:nvSpPr>
        <p:spPr>
          <a:xfrm>
            <a:off x="17614900" y="2486025"/>
            <a:ext cx="9525" cy="6994525"/>
          </a:xfrm>
          <a:prstGeom prst="rect">
            <a:avLst/>
          </a:prstGeom>
          <a:solidFill>
            <a:srgbClr val="18221E">
              <a:alpha val="12000"/>
            </a:srgbClr>
          </a:solidFill>
          <a:ln/>
        </p:spPr>
      </p:sp>
      <p:sp>
        <p:nvSpPr>
          <p:cNvPr id="60" name="Text 58"/>
          <p:cNvSpPr/>
          <p:nvPr/>
        </p:nvSpPr>
        <p:spPr>
          <a:xfrm>
            <a:off x="13746163" y="2752725"/>
            <a:ext cx="4004151" cy="196850"/>
          </a:xfrm>
          <a:prstGeom prst="rect">
            <a:avLst/>
          </a:prstGeom>
          <a:noFill/>
          <a:ln/>
        </p:spPr>
        <p:txBody>
          <a:bodyPr wrap="square" lIns="25400" tIns="25400" rIns="25400" bIns="25400" rtlCol="0" anchor="t">
            <a:normAutofit/>
          </a:bodyPr>
          <a:lstStyle/>
          <a:p>
            <a:pPr algn="l" indent="0" marL="0">
              <a:buNone/>
            </a:pPr>
            <a:r>
              <a:rPr lang="en-US" sz="990" spc="99" kern="0" dirty="0">
                <a:solidFill>
                  <a:srgbClr val="8F4F2C"/>
                </a:solidFill>
                <a:latin typeface="Courier New" pitchFamily="34" charset="0"/>
                <a:ea typeface="Courier New" pitchFamily="34" charset="-122"/>
                <a:cs typeface="Courier New" pitchFamily="34" charset="-120"/>
              </a:rPr>
              <a:t>SEGMENT D</a:t>
            </a:r>
            <a:endParaRPr lang="en-US" sz="990" dirty="0"/>
          </a:p>
        </p:txBody>
      </p:sp>
      <p:sp>
        <p:nvSpPr>
          <p:cNvPr id="61" name="Text 59"/>
          <p:cNvSpPr/>
          <p:nvPr/>
        </p:nvSpPr>
        <p:spPr>
          <a:xfrm>
            <a:off x="13746163" y="2968625"/>
            <a:ext cx="3749342" cy="591145"/>
          </a:xfrm>
          <a:prstGeom prst="rect">
            <a:avLst/>
          </a:prstGeom>
          <a:noFill/>
          <a:ln/>
        </p:spPr>
        <p:txBody>
          <a:bodyPr wrap="square" lIns="25400" tIns="25400" rIns="25400" bIns="25400" rtlCol="0" anchor="t">
            <a:normAutofit/>
          </a:bodyPr>
          <a:lstStyle/>
          <a:p>
            <a:pPr algn="l" indent="0" marL="0">
              <a:lnSpc>
                <a:spcPct val="110000"/>
              </a:lnSpc>
              <a:buNone/>
            </a:pPr>
            <a:r>
              <a:rPr lang="en-US" sz="1980" b="1" dirty="0">
                <a:solidFill>
                  <a:srgbClr val="18221E"/>
                </a:solidFill>
                <a:latin typeface="Arial" pitchFamily="34" charset="0"/>
                <a:ea typeface="Arial" pitchFamily="34" charset="-122"/>
                <a:cs typeface="Arial" pitchFamily="34" charset="-120"/>
              </a:rPr>
              <a:t>Port-in &amp; specialized subsidies</a:t>
            </a:r>
            <a:endParaRPr lang="en-US" sz="1980" dirty="0"/>
          </a:p>
        </p:txBody>
      </p:sp>
      <p:sp>
        <p:nvSpPr>
          <p:cNvPr id="62" name="Text 60"/>
          <p:cNvSpPr/>
          <p:nvPr/>
        </p:nvSpPr>
        <p:spPr>
          <a:xfrm>
            <a:off x="13746163" y="3674071"/>
            <a:ext cx="4004151" cy="254000"/>
          </a:xfrm>
          <a:prstGeom prst="rect">
            <a:avLst/>
          </a:prstGeom>
          <a:noFill/>
          <a:ln/>
        </p:spPr>
        <p:txBody>
          <a:bodyPr wrap="square" lIns="25400" tIns="25400" rIns="25400" bIns="25400" rtlCol="0" anchor="t">
            <a:normAutofit/>
          </a:bodyPr>
          <a:lstStyle/>
          <a:p>
            <a:pPr algn="l" indent="0" marL="0">
              <a:buNone/>
            </a:pPr>
            <a:r>
              <a:rPr lang="en-US" sz="1073" dirty="0">
                <a:solidFill>
                  <a:srgbClr val="9AA39D"/>
                </a:solidFill>
                <a:latin typeface="Courier New" pitchFamily="34" charset="0"/>
                <a:ea typeface="Courier New" pitchFamily="34" charset="-122"/>
                <a:cs typeface="Courier New" pitchFamily="34" charset="-120"/>
              </a:rPr>
              <a:t>VP1 </a:t>
            </a:r>
            <a:pPr algn="l" indent="0" marL="0">
              <a:buNone/>
            </a:pPr>
            <a:r>
              <a:rPr lang="en-US" sz="1320" dirty="0">
                <a:solidFill>
                  <a:srgbClr val="3A443E"/>
                </a:solidFill>
                <a:latin typeface="Arial" pitchFamily="34" charset="0"/>
                <a:ea typeface="Arial" pitchFamily="34" charset="-122"/>
                <a:cs typeface="Arial" pitchFamily="34" charset="-120"/>
              </a:rPr>
              <a:t>Voucher-only marketplace</a:t>
            </a:r>
            <a:endParaRPr lang="en-US" sz="1320" dirty="0"/>
          </a:p>
        </p:txBody>
      </p:sp>
      <p:sp>
        <p:nvSpPr>
          <p:cNvPr id="63" name="Text 61"/>
          <p:cNvSpPr/>
          <p:nvPr/>
        </p:nvSpPr>
        <p:spPr>
          <a:xfrm>
            <a:off x="13746163" y="3975695"/>
            <a:ext cx="4004151" cy="254000"/>
          </a:xfrm>
          <a:prstGeom prst="rect">
            <a:avLst/>
          </a:prstGeom>
          <a:noFill/>
          <a:ln/>
        </p:spPr>
        <p:txBody>
          <a:bodyPr wrap="square" lIns="25400" tIns="25400" rIns="25400" bIns="25400" rtlCol="0" anchor="t">
            <a:normAutofit/>
          </a:bodyPr>
          <a:lstStyle/>
          <a:p>
            <a:pPr algn="l" indent="0" marL="0">
              <a:buNone/>
            </a:pPr>
            <a:r>
              <a:rPr lang="en-US" sz="1073" dirty="0">
                <a:solidFill>
                  <a:srgbClr val="9AA39D"/>
                </a:solidFill>
                <a:latin typeface="Courier New" pitchFamily="34" charset="0"/>
                <a:ea typeface="Courier New" pitchFamily="34" charset="-122"/>
                <a:cs typeface="Courier New" pitchFamily="34" charset="-120"/>
              </a:rPr>
              <a:t>VP6 </a:t>
            </a:r>
            <a:pPr algn="l" indent="0" marL="0">
              <a:buNone/>
            </a:pPr>
            <a:r>
              <a:rPr lang="en-US" sz="1320" dirty="0">
                <a:solidFill>
                  <a:srgbClr val="3A443E"/>
                </a:solidFill>
                <a:latin typeface="Arial" pitchFamily="34" charset="0"/>
                <a:ea typeface="Arial" pitchFamily="34" charset="-122"/>
                <a:cs typeface="Arial" pitchFamily="34" charset="-120"/>
              </a:rPr>
              <a:t>Verified voucher badge</a:t>
            </a:r>
            <a:endParaRPr lang="en-US" sz="1320" dirty="0"/>
          </a:p>
        </p:txBody>
      </p:sp>
      <p:sp>
        <p:nvSpPr>
          <p:cNvPr id="64" name="Text 62"/>
          <p:cNvSpPr/>
          <p:nvPr/>
        </p:nvSpPr>
        <p:spPr>
          <a:xfrm>
            <a:off x="13746163" y="4277320"/>
            <a:ext cx="4004151" cy="254000"/>
          </a:xfrm>
          <a:prstGeom prst="rect">
            <a:avLst/>
          </a:prstGeom>
          <a:noFill/>
          <a:ln/>
        </p:spPr>
        <p:txBody>
          <a:bodyPr wrap="square" lIns="25400" tIns="25400" rIns="25400" bIns="25400" rtlCol="0" anchor="t">
            <a:normAutofit/>
          </a:bodyPr>
          <a:lstStyle/>
          <a:p>
            <a:pPr algn="l" indent="0" marL="0">
              <a:buNone/>
            </a:pPr>
            <a:r>
              <a:rPr lang="en-US" sz="1073" dirty="0">
                <a:solidFill>
                  <a:srgbClr val="9AA39D"/>
                </a:solidFill>
                <a:latin typeface="Courier New" pitchFamily="34" charset="0"/>
                <a:ea typeface="Courier New" pitchFamily="34" charset="-122"/>
                <a:cs typeface="Courier New" pitchFamily="34" charset="-120"/>
              </a:rPr>
              <a:t>VP9 </a:t>
            </a:r>
            <a:pPr algn="l" indent="0" marL="0">
              <a:buNone/>
            </a:pPr>
            <a:r>
              <a:rPr lang="en-US" sz="1320" dirty="0">
                <a:solidFill>
                  <a:srgbClr val="3A443E"/>
                </a:solidFill>
                <a:latin typeface="Arial" pitchFamily="34" charset="0"/>
                <a:ea typeface="Arial" pitchFamily="34" charset="-122"/>
                <a:cs typeface="Arial" pitchFamily="34" charset="-120"/>
              </a:rPr>
              <a:t>Localized utility math</a:t>
            </a:r>
            <a:endParaRPr lang="en-US" sz="1320" dirty="0"/>
          </a:p>
        </p:txBody>
      </p:sp>
      <p:sp>
        <p:nvSpPr>
          <p:cNvPr id="65" name="Shape 63"/>
          <p:cNvSpPr/>
          <p:nvPr/>
        </p:nvSpPr>
        <p:spPr>
          <a:xfrm>
            <a:off x="13746163" y="4617046"/>
            <a:ext cx="3640138" cy="9525"/>
          </a:xfrm>
          <a:prstGeom prst="rect">
            <a:avLst/>
          </a:prstGeom>
          <a:solidFill>
            <a:srgbClr val="18221E">
              <a:alpha val="10000"/>
            </a:srgbClr>
          </a:solidFill>
          <a:ln/>
        </p:spPr>
      </p:sp>
      <p:sp>
        <p:nvSpPr>
          <p:cNvPr id="66" name="Text 64"/>
          <p:cNvSpPr/>
          <p:nvPr/>
        </p:nvSpPr>
        <p:spPr>
          <a:xfrm>
            <a:off x="13746163" y="4737696"/>
            <a:ext cx="3749342" cy="260350"/>
          </a:xfrm>
          <a:prstGeom prst="rect">
            <a:avLst/>
          </a:prstGeom>
          <a:noFill/>
          <a:ln/>
        </p:spPr>
        <p:txBody>
          <a:bodyPr wrap="square" lIns="25400" tIns="25400" rIns="25400" bIns="25400" rtlCol="0" anchor="t">
            <a:normAutofit/>
          </a:bodyPr>
          <a:lstStyle/>
          <a:p>
            <a:pPr algn="l" indent="0" marL="0">
              <a:buNone/>
            </a:pPr>
            <a:r>
              <a:rPr lang="en-US" sz="1320" b="1" dirty="0">
                <a:solidFill>
                  <a:srgbClr val="B0673E"/>
                </a:solidFill>
                <a:latin typeface="Arial" pitchFamily="34" charset="0"/>
                <a:ea typeface="Arial" pitchFamily="34" charset="-122"/>
                <a:cs typeface="Arial" pitchFamily="34" charset="-120"/>
              </a:rPr>
              <a:t>★ VP10 </a:t>
            </a:r>
            <a:pPr algn="l" indent="0" marL="0">
              <a:buNone/>
            </a:pPr>
            <a:r>
              <a:rPr lang="en-US" sz="1320" b="1" dirty="0">
                <a:solidFill>
                  <a:srgbClr val="8F4F2C"/>
                </a:solidFill>
                <a:latin typeface="Arial" pitchFamily="34" charset="0"/>
                <a:ea typeface="Arial" pitchFamily="34" charset="-122"/>
                <a:cs typeface="Arial" pitchFamily="34" charset="-120"/>
              </a:rPr>
              <a:t>Unified subsidy mapping</a:t>
            </a:r>
            <a:endParaRPr lang="en-US" sz="1320" dirty="0"/>
          </a:p>
        </p:txBody>
      </p:sp>
      <p:sp>
        <p:nvSpPr>
          <p:cNvPr id="67" name="Text 65"/>
          <p:cNvSpPr/>
          <p:nvPr/>
        </p:nvSpPr>
        <p:spPr>
          <a:xfrm>
            <a:off x="16934955" y="9613900"/>
            <a:ext cx="762496"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12 / 16</a:t>
            </a:r>
            <a:endParaRPr lang="en-US" sz="99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800100" y="1424384"/>
            <a:ext cx="16687800" cy="9525"/>
          </a:xfrm>
          <a:prstGeom prst="rect">
            <a:avLst/>
          </a:prstGeom>
          <a:solidFill>
            <a:srgbClr val="18221E">
              <a:alpha val="16000"/>
            </a:srgbClr>
          </a:solidFill>
          <a:ln/>
        </p:spPr>
      </p:sp>
      <p:sp>
        <p:nvSpPr>
          <p:cNvPr id="3" name="Text 1"/>
          <p:cNvSpPr/>
          <p:nvPr/>
        </p:nvSpPr>
        <p:spPr>
          <a:xfrm>
            <a:off x="800100" y="609600"/>
            <a:ext cx="9351060" cy="215900"/>
          </a:xfrm>
          <a:prstGeom prst="rect">
            <a:avLst/>
          </a:prstGeom>
          <a:noFill/>
          <a:ln/>
        </p:spPr>
        <p:txBody>
          <a:bodyPr wrap="square" lIns="25400" tIns="25400" rIns="25400" bIns="25400" rtlCol="0" anchor="t">
            <a:normAutofit/>
          </a:bodyPr>
          <a:lstStyle/>
          <a:p>
            <a:pPr algn="l" indent="0" marL="0">
              <a:buNone/>
            </a:pPr>
            <a:r>
              <a:rPr lang="en-US" sz="1073" spc="215" kern="0" dirty="0">
                <a:solidFill>
                  <a:srgbClr val="2C7A58"/>
                </a:solidFill>
                <a:latin typeface="Courier New" pitchFamily="34" charset="0"/>
                <a:ea typeface="Courier New" pitchFamily="34" charset="-122"/>
                <a:cs typeface="Courier New" pitchFamily="34" charset="-120"/>
              </a:rPr>
              <a:t>TRACTION · WHAT'S BUILT</a:t>
            </a:r>
            <a:endParaRPr lang="en-US" sz="1073" dirty="0"/>
          </a:p>
        </p:txBody>
      </p:sp>
      <p:sp>
        <p:nvSpPr>
          <p:cNvPr id="4" name="Text 2"/>
          <p:cNvSpPr/>
          <p:nvPr/>
        </p:nvSpPr>
        <p:spPr>
          <a:xfrm>
            <a:off x="800100" y="844550"/>
            <a:ext cx="9351060" cy="465534"/>
          </a:xfrm>
          <a:prstGeom prst="rect">
            <a:avLst/>
          </a:prstGeom>
          <a:noFill/>
          <a:ln/>
        </p:spPr>
        <p:txBody>
          <a:bodyPr wrap="square" lIns="25400" tIns="25400" rIns="25400" bIns="25400" rtlCol="0" anchor="t">
            <a:normAutofit/>
          </a:bodyPr>
          <a:lstStyle/>
          <a:p>
            <a:pPr algn="l" indent="0" marL="0">
              <a:lnSpc>
                <a:spcPct val="102000"/>
              </a:lnSpc>
              <a:buNone/>
            </a:pPr>
            <a:r>
              <a:rPr lang="en-US" sz="3300" b="1" spc="-66" kern="0" dirty="0">
                <a:solidFill>
                  <a:srgbClr val="14201A"/>
                </a:solidFill>
                <a:latin typeface="Arial" pitchFamily="34" charset="0"/>
                <a:ea typeface="Arial" pitchFamily="34" charset="-122"/>
                <a:cs typeface="Arial" pitchFamily="34" charset="-120"/>
              </a:rPr>
              <a:t>A working MVP, built solo in a 6-week sprint.</a:t>
            </a:r>
            <a:endParaRPr lang="en-US" sz="3300" dirty="0"/>
          </a:p>
        </p:txBody>
      </p:sp>
      <p:sp>
        <p:nvSpPr>
          <p:cNvPr id="5" name="Text 3"/>
          <p:cNvSpPr/>
          <p:nvPr/>
        </p:nvSpPr>
        <p:spPr>
          <a:xfrm>
            <a:off x="16507520" y="1113234"/>
            <a:ext cx="1056580"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END TO END</a:t>
            </a:r>
            <a:endParaRPr lang="en-US" sz="990" dirty="0"/>
          </a:p>
        </p:txBody>
      </p:sp>
      <p:sp>
        <p:nvSpPr>
          <p:cNvPr id="6" name="Shape 4"/>
          <p:cNvSpPr/>
          <p:nvPr/>
        </p:nvSpPr>
        <p:spPr>
          <a:xfrm>
            <a:off x="800100" y="1659334"/>
            <a:ext cx="10353477" cy="7764066"/>
          </a:xfrm>
          <a:prstGeom prst="roundRect">
            <a:avLst>
              <a:gd name="adj" fmla="val 981"/>
            </a:avLst>
          </a:prstGeom>
          <a:solidFill>
            <a:srgbClr val="FFFFFF"/>
          </a:solidFill>
          <a:ln w="6350">
            <a:solidFill>
              <a:srgbClr val="18221E">
                <a:alpha val="12000"/>
              </a:srgbClr>
            </a:solidFill>
            <a:prstDash val="solid"/>
          </a:ln>
        </p:spPr>
      </p:sp>
      <p:sp>
        <p:nvSpPr>
          <p:cNvPr id="7" name="Text 5"/>
          <p:cNvSpPr/>
          <p:nvPr/>
        </p:nvSpPr>
        <p:spPr>
          <a:xfrm>
            <a:off x="1092200" y="1913334"/>
            <a:ext cx="10746205"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2C7A58"/>
                </a:solidFill>
                <a:latin typeface="Courier New" pitchFamily="34" charset="0"/>
                <a:ea typeface="Courier New" pitchFamily="34" charset="-122"/>
                <a:cs typeface="Courier New" pitchFamily="34" charset="-120"/>
              </a:rPr>
              <a:t>SHIPPED &amp; LIVE</a:t>
            </a:r>
            <a:endParaRPr lang="en-US" sz="975" dirty="0"/>
          </a:p>
        </p:txBody>
      </p:sp>
      <p:sp>
        <p:nvSpPr>
          <p:cNvPr id="8" name="Text 6"/>
          <p:cNvSpPr/>
          <p:nvPr/>
        </p:nvSpPr>
        <p:spPr>
          <a:xfrm>
            <a:off x="1092200" y="2224484"/>
            <a:ext cx="204688" cy="260945"/>
          </a:xfrm>
          <a:prstGeom prst="rect">
            <a:avLst/>
          </a:prstGeom>
          <a:noFill/>
          <a:ln/>
        </p:spPr>
        <p:txBody>
          <a:bodyPr wrap="square" lIns="25400" tIns="25400" rIns="25400" bIns="25400" rtlCol="0" anchor="t">
            <a:normAutofit/>
          </a:bodyPr>
          <a:lstStyle/>
          <a:p>
            <a:pPr algn="l" indent="0" marL="0">
              <a:lnSpc>
                <a:spcPct val="130000"/>
              </a:lnSpc>
              <a:buNone/>
            </a:pPr>
            <a:r>
              <a:rPr lang="en-US" sz="1350" b="1" dirty="0">
                <a:solidFill>
                  <a:srgbClr val="2C7A58"/>
                </a:solidFill>
                <a:latin typeface="Arial" pitchFamily="34" charset="0"/>
                <a:ea typeface="Arial" pitchFamily="34" charset="-122"/>
                <a:cs typeface="Arial" pitchFamily="34" charset="-120"/>
              </a:rPr>
              <a:t>✓</a:t>
            </a:r>
            <a:endParaRPr lang="en-US" sz="1350" dirty="0"/>
          </a:p>
        </p:txBody>
      </p:sp>
      <p:sp>
        <p:nvSpPr>
          <p:cNvPr id="9" name="Text 7"/>
          <p:cNvSpPr/>
          <p:nvPr/>
        </p:nvSpPr>
        <p:spPr>
          <a:xfrm>
            <a:off x="1325463" y="2224484"/>
            <a:ext cx="4633784" cy="250230"/>
          </a:xfrm>
          <a:prstGeom prst="rect">
            <a:avLst/>
          </a:prstGeom>
          <a:noFill/>
          <a:ln/>
        </p:spPr>
        <p:txBody>
          <a:bodyPr wrap="square" lIns="25400" tIns="25400" rIns="25400" bIns="25400" rtlCol="0" anchor="t">
            <a:normAutofit/>
          </a:bodyPr>
          <a:lstStyle/>
          <a:p>
            <a:pPr algn="l" indent="0" marL="0">
              <a:lnSpc>
                <a:spcPct val="135000"/>
              </a:lnSpc>
              <a:buNone/>
            </a:pPr>
            <a:r>
              <a:rPr lang="en-US" sz="1238" b="1" dirty="0">
                <a:solidFill>
                  <a:srgbClr val="2B332E"/>
                </a:solidFill>
                <a:latin typeface="Arial" pitchFamily="34" charset="0"/>
                <a:ea typeface="Arial" pitchFamily="34" charset="-122"/>
                <a:cs typeface="Arial" pitchFamily="34" charset="-120"/>
              </a:rPr>
              <a:t>Role-based auth </a:t>
            </a:r>
            <a:pPr algn="l" indent="0" marL="0">
              <a:lnSpc>
                <a:spcPct val="135000"/>
              </a:lnSpc>
              <a:buNone/>
            </a:pPr>
            <a:r>
              <a:rPr lang="en-US" sz="1238" dirty="0">
                <a:solidFill>
                  <a:srgbClr val="2B332E"/>
                </a:solidFill>
                <a:latin typeface="Arial" pitchFamily="34" charset="0"/>
                <a:ea typeface="Arial" pitchFamily="34" charset="-122"/>
                <a:cs typeface="Arial" pitchFamily="34" charset="-120"/>
              </a:rPr>
              <a:t>— landlord vs. tenant signup, email confirm</a:t>
            </a:r>
            <a:endParaRPr lang="en-US" sz="1238" dirty="0"/>
          </a:p>
        </p:txBody>
      </p:sp>
      <p:sp>
        <p:nvSpPr>
          <p:cNvPr id="10" name="Text 8"/>
          <p:cNvSpPr/>
          <p:nvPr/>
        </p:nvSpPr>
        <p:spPr>
          <a:xfrm>
            <a:off x="6100664" y="2224484"/>
            <a:ext cx="204688" cy="260945"/>
          </a:xfrm>
          <a:prstGeom prst="rect">
            <a:avLst/>
          </a:prstGeom>
          <a:noFill/>
          <a:ln/>
        </p:spPr>
        <p:txBody>
          <a:bodyPr wrap="square" lIns="25400" tIns="25400" rIns="25400" bIns="25400" rtlCol="0" anchor="t">
            <a:normAutofit/>
          </a:bodyPr>
          <a:lstStyle/>
          <a:p>
            <a:pPr algn="l" indent="0" marL="0">
              <a:lnSpc>
                <a:spcPct val="130000"/>
              </a:lnSpc>
              <a:buNone/>
            </a:pPr>
            <a:r>
              <a:rPr lang="en-US" sz="1350" b="1" dirty="0">
                <a:solidFill>
                  <a:srgbClr val="2C7A58"/>
                </a:solidFill>
                <a:latin typeface="Arial" pitchFamily="34" charset="0"/>
                <a:ea typeface="Arial" pitchFamily="34" charset="-122"/>
                <a:cs typeface="Arial" pitchFamily="34" charset="-120"/>
              </a:rPr>
              <a:t>✓</a:t>
            </a:r>
            <a:endParaRPr lang="en-US" sz="1350" dirty="0"/>
          </a:p>
        </p:txBody>
      </p:sp>
      <p:sp>
        <p:nvSpPr>
          <p:cNvPr id="11" name="Text 9"/>
          <p:cNvSpPr/>
          <p:nvPr/>
        </p:nvSpPr>
        <p:spPr>
          <a:xfrm>
            <a:off x="6333927" y="2224484"/>
            <a:ext cx="3749526" cy="250230"/>
          </a:xfrm>
          <a:prstGeom prst="rect">
            <a:avLst/>
          </a:prstGeom>
          <a:noFill/>
          <a:ln/>
        </p:spPr>
        <p:txBody>
          <a:bodyPr wrap="square" lIns="25400" tIns="25400" rIns="25400" bIns="25400" rtlCol="0" anchor="t">
            <a:normAutofit/>
          </a:bodyPr>
          <a:lstStyle/>
          <a:p>
            <a:pPr algn="l" indent="0" marL="0">
              <a:lnSpc>
                <a:spcPct val="135000"/>
              </a:lnSpc>
              <a:buNone/>
            </a:pPr>
            <a:r>
              <a:rPr lang="en-US" sz="1238" b="1" dirty="0">
                <a:solidFill>
                  <a:srgbClr val="2B332E"/>
                </a:solidFill>
                <a:latin typeface="Arial" pitchFamily="34" charset="0"/>
                <a:ea typeface="Arial" pitchFamily="34" charset="-122"/>
                <a:cs typeface="Arial" pitchFamily="34" charset="-120"/>
              </a:rPr>
              <a:t>Landlord dashboard </a:t>
            </a:r>
            <a:pPr algn="l" indent="0" marL="0">
              <a:lnSpc>
                <a:spcPct val="135000"/>
              </a:lnSpc>
              <a:buNone/>
            </a:pPr>
            <a:r>
              <a:rPr lang="en-US" sz="1238" dirty="0">
                <a:solidFill>
                  <a:srgbClr val="2B332E"/>
                </a:solidFill>
                <a:latin typeface="Arial" pitchFamily="34" charset="0"/>
                <a:ea typeface="Arial" pitchFamily="34" charset="-122"/>
                <a:cs typeface="Arial" pitchFamily="34" charset="-120"/>
              </a:rPr>
              <a:t>— listings with photo upload</a:t>
            </a:r>
            <a:endParaRPr lang="en-US" sz="1238" dirty="0"/>
          </a:p>
        </p:txBody>
      </p:sp>
      <p:sp>
        <p:nvSpPr>
          <p:cNvPr id="12" name="Text 10"/>
          <p:cNvSpPr/>
          <p:nvPr/>
        </p:nvSpPr>
        <p:spPr>
          <a:xfrm>
            <a:off x="1092200" y="2571155"/>
            <a:ext cx="204688" cy="260945"/>
          </a:xfrm>
          <a:prstGeom prst="rect">
            <a:avLst/>
          </a:prstGeom>
          <a:noFill/>
          <a:ln/>
        </p:spPr>
        <p:txBody>
          <a:bodyPr wrap="square" lIns="25400" tIns="25400" rIns="25400" bIns="25400" rtlCol="0" anchor="t">
            <a:normAutofit/>
          </a:bodyPr>
          <a:lstStyle/>
          <a:p>
            <a:pPr algn="l" indent="0" marL="0">
              <a:lnSpc>
                <a:spcPct val="130000"/>
              </a:lnSpc>
              <a:buNone/>
            </a:pPr>
            <a:r>
              <a:rPr lang="en-US" sz="1350" b="1" dirty="0">
                <a:solidFill>
                  <a:srgbClr val="2C7A58"/>
                </a:solidFill>
                <a:latin typeface="Arial" pitchFamily="34" charset="0"/>
                <a:ea typeface="Arial" pitchFamily="34" charset="-122"/>
                <a:cs typeface="Arial" pitchFamily="34" charset="-120"/>
              </a:rPr>
              <a:t>✓</a:t>
            </a:r>
            <a:endParaRPr lang="en-US" sz="1350" dirty="0"/>
          </a:p>
        </p:txBody>
      </p:sp>
      <p:sp>
        <p:nvSpPr>
          <p:cNvPr id="13" name="Text 11"/>
          <p:cNvSpPr/>
          <p:nvPr/>
        </p:nvSpPr>
        <p:spPr>
          <a:xfrm>
            <a:off x="1325463" y="2571155"/>
            <a:ext cx="4674057" cy="250230"/>
          </a:xfrm>
          <a:prstGeom prst="rect">
            <a:avLst/>
          </a:prstGeom>
          <a:noFill/>
          <a:ln/>
        </p:spPr>
        <p:txBody>
          <a:bodyPr wrap="square" lIns="25400" tIns="25400" rIns="25400" bIns="25400" rtlCol="0" anchor="t">
            <a:normAutofit/>
          </a:bodyPr>
          <a:lstStyle/>
          <a:p>
            <a:pPr algn="l" indent="0" marL="0">
              <a:lnSpc>
                <a:spcPct val="135000"/>
              </a:lnSpc>
              <a:buNone/>
            </a:pPr>
            <a:r>
              <a:rPr lang="en-US" sz="1238" b="1" dirty="0">
                <a:solidFill>
                  <a:srgbClr val="2B332E"/>
                </a:solidFill>
                <a:latin typeface="Arial" pitchFamily="34" charset="0"/>
                <a:ea typeface="Arial" pitchFamily="34" charset="-122"/>
                <a:cs typeface="Arial" pitchFamily="34" charset="-120"/>
              </a:rPr>
              <a:t>HQS inspection tracker </a:t>
            </a:r>
            <a:pPr algn="l" indent="0" marL="0">
              <a:lnSpc>
                <a:spcPct val="135000"/>
              </a:lnSpc>
              <a:buNone/>
            </a:pPr>
            <a:r>
              <a:rPr lang="en-US" sz="1238" dirty="0">
                <a:solidFill>
                  <a:srgbClr val="2B332E"/>
                </a:solidFill>
                <a:latin typeface="Arial" pitchFamily="34" charset="0"/>
                <a:ea typeface="Arial" pitchFamily="34" charset="-122"/>
                <a:cs typeface="Arial" pitchFamily="34" charset="-120"/>
              </a:rPr>
              <a:t>— auto dates, urgency, HAP warnings</a:t>
            </a:r>
            <a:endParaRPr lang="en-US" sz="1238" dirty="0"/>
          </a:p>
        </p:txBody>
      </p:sp>
      <p:sp>
        <p:nvSpPr>
          <p:cNvPr id="14" name="Text 12"/>
          <p:cNvSpPr/>
          <p:nvPr/>
        </p:nvSpPr>
        <p:spPr>
          <a:xfrm>
            <a:off x="6100664" y="2571155"/>
            <a:ext cx="204688" cy="260945"/>
          </a:xfrm>
          <a:prstGeom prst="rect">
            <a:avLst/>
          </a:prstGeom>
          <a:noFill/>
          <a:ln/>
        </p:spPr>
        <p:txBody>
          <a:bodyPr wrap="square" lIns="25400" tIns="25400" rIns="25400" bIns="25400" rtlCol="0" anchor="t">
            <a:normAutofit/>
          </a:bodyPr>
          <a:lstStyle/>
          <a:p>
            <a:pPr algn="l" indent="0" marL="0">
              <a:lnSpc>
                <a:spcPct val="130000"/>
              </a:lnSpc>
              <a:buNone/>
            </a:pPr>
            <a:r>
              <a:rPr lang="en-US" sz="1350" b="1" dirty="0">
                <a:solidFill>
                  <a:srgbClr val="2C7A58"/>
                </a:solidFill>
                <a:latin typeface="Arial" pitchFamily="34" charset="0"/>
                <a:ea typeface="Arial" pitchFamily="34" charset="-122"/>
                <a:cs typeface="Arial" pitchFamily="34" charset="-120"/>
              </a:rPr>
              <a:t>✓</a:t>
            </a:r>
            <a:endParaRPr lang="en-US" sz="1350" dirty="0"/>
          </a:p>
        </p:txBody>
      </p:sp>
      <p:sp>
        <p:nvSpPr>
          <p:cNvPr id="15" name="Text 13"/>
          <p:cNvSpPr/>
          <p:nvPr/>
        </p:nvSpPr>
        <p:spPr>
          <a:xfrm>
            <a:off x="6333927" y="2571155"/>
            <a:ext cx="3895775" cy="250230"/>
          </a:xfrm>
          <a:prstGeom prst="rect">
            <a:avLst/>
          </a:prstGeom>
          <a:noFill/>
          <a:ln/>
        </p:spPr>
        <p:txBody>
          <a:bodyPr wrap="square" lIns="25400" tIns="25400" rIns="25400" bIns="25400" rtlCol="0" anchor="t">
            <a:normAutofit/>
          </a:bodyPr>
          <a:lstStyle/>
          <a:p>
            <a:pPr algn="l" indent="0" marL="0">
              <a:lnSpc>
                <a:spcPct val="135000"/>
              </a:lnSpc>
              <a:buNone/>
            </a:pPr>
            <a:r>
              <a:rPr lang="en-US" sz="1238" b="1" dirty="0">
                <a:solidFill>
                  <a:srgbClr val="2B332E"/>
                </a:solidFill>
                <a:latin typeface="Arial" pitchFamily="34" charset="0"/>
                <a:ea typeface="Arial" pitchFamily="34" charset="-122"/>
                <a:cs typeface="Arial" pitchFamily="34" charset="-120"/>
              </a:rPr>
              <a:t>Tenant search </a:t>
            </a:r>
            <a:pPr algn="l" indent="0" marL="0">
              <a:lnSpc>
                <a:spcPct val="135000"/>
              </a:lnSpc>
              <a:buNone/>
            </a:pPr>
            <a:r>
              <a:rPr lang="en-US" sz="1238" dirty="0">
                <a:solidFill>
                  <a:srgbClr val="2B332E"/>
                </a:solidFill>
                <a:latin typeface="Arial" pitchFamily="34" charset="0"/>
                <a:ea typeface="Arial" pitchFamily="34" charset="-122"/>
                <a:cs typeface="Arial" pitchFamily="34" charset="-120"/>
              </a:rPr>
              <a:t>— voucher size, beds, neighborhood</a:t>
            </a:r>
            <a:endParaRPr lang="en-US" sz="1238" dirty="0"/>
          </a:p>
        </p:txBody>
      </p:sp>
      <p:sp>
        <p:nvSpPr>
          <p:cNvPr id="16" name="Text 14"/>
          <p:cNvSpPr/>
          <p:nvPr/>
        </p:nvSpPr>
        <p:spPr>
          <a:xfrm>
            <a:off x="1092200" y="2917825"/>
            <a:ext cx="204688" cy="260945"/>
          </a:xfrm>
          <a:prstGeom prst="rect">
            <a:avLst/>
          </a:prstGeom>
          <a:noFill/>
          <a:ln/>
        </p:spPr>
        <p:txBody>
          <a:bodyPr wrap="square" lIns="25400" tIns="25400" rIns="25400" bIns="25400" rtlCol="0" anchor="t">
            <a:normAutofit/>
          </a:bodyPr>
          <a:lstStyle/>
          <a:p>
            <a:pPr algn="l" indent="0" marL="0">
              <a:lnSpc>
                <a:spcPct val="130000"/>
              </a:lnSpc>
              <a:buNone/>
            </a:pPr>
            <a:r>
              <a:rPr lang="en-US" sz="1350" b="1" dirty="0">
                <a:solidFill>
                  <a:srgbClr val="2C7A58"/>
                </a:solidFill>
                <a:latin typeface="Arial" pitchFamily="34" charset="0"/>
                <a:ea typeface="Arial" pitchFamily="34" charset="-122"/>
                <a:cs typeface="Arial" pitchFamily="34" charset="-120"/>
              </a:rPr>
              <a:t>✓</a:t>
            </a:r>
            <a:endParaRPr lang="en-US" sz="1350" dirty="0"/>
          </a:p>
        </p:txBody>
      </p:sp>
      <p:sp>
        <p:nvSpPr>
          <p:cNvPr id="17" name="Text 15"/>
          <p:cNvSpPr/>
          <p:nvPr/>
        </p:nvSpPr>
        <p:spPr>
          <a:xfrm>
            <a:off x="1325463" y="2917825"/>
            <a:ext cx="3203714" cy="250230"/>
          </a:xfrm>
          <a:prstGeom prst="rect">
            <a:avLst/>
          </a:prstGeom>
          <a:noFill/>
          <a:ln/>
        </p:spPr>
        <p:txBody>
          <a:bodyPr wrap="square" lIns="25400" tIns="25400" rIns="25400" bIns="25400" rtlCol="0" anchor="t">
            <a:normAutofit/>
          </a:bodyPr>
          <a:lstStyle/>
          <a:p>
            <a:pPr algn="l" indent="0" marL="0">
              <a:lnSpc>
                <a:spcPct val="135000"/>
              </a:lnSpc>
              <a:buNone/>
            </a:pPr>
            <a:r>
              <a:rPr lang="en-US" sz="1238" b="1" dirty="0">
                <a:solidFill>
                  <a:srgbClr val="2B332E"/>
                </a:solidFill>
                <a:latin typeface="Arial" pitchFamily="34" charset="0"/>
                <a:ea typeface="Arial" pitchFamily="34" charset="-122"/>
                <a:cs typeface="Arial" pitchFamily="34" charset="-120"/>
              </a:rPr>
              <a:t>One-tap application </a:t>
            </a:r>
            <a:pPr algn="l" indent="0" marL="0">
              <a:lnSpc>
                <a:spcPct val="135000"/>
              </a:lnSpc>
              <a:buNone/>
            </a:pPr>
            <a:r>
              <a:rPr lang="en-US" sz="1238" dirty="0">
                <a:solidFill>
                  <a:srgbClr val="2B332E"/>
                </a:solidFill>
                <a:latin typeface="Arial" pitchFamily="34" charset="0"/>
                <a:ea typeface="Arial" pitchFamily="34" charset="-122"/>
                <a:cs typeface="Arial" pitchFamily="34" charset="-120"/>
              </a:rPr>
              <a:t>flow + status tracking</a:t>
            </a:r>
            <a:endParaRPr lang="en-US" sz="1238" dirty="0"/>
          </a:p>
        </p:txBody>
      </p:sp>
      <p:sp>
        <p:nvSpPr>
          <p:cNvPr id="18" name="Text 16"/>
          <p:cNvSpPr/>
          <p:nvPr/>
        </p:nvSpPr>
        <p:spPr>
          <a:xfrm>
            <a:off x="6100664" y="2917825"/>
            <a:ext cx="204688" cy="260945"/>
          </a:xfrm>
          <a:prstGeom prst="rect">
            <a:avLst/>
          </a:prstGeom>
          <a:noFill/>
          <a:ln/>
        </p:spPr>
        <p:txBody>
          <a:bodyPr wrap="square" lIns="25400" tIns="25400" rIns="25400" bIns="25400" rtlCol="0" anchor="t">
            <a:normAutofit/>
          </a:bodyPr>
          <a:lstStyle/>
          <a:p>
            <a:pPr algn="l" indent="0" marL="0">
              <a:lnSpc>
                <a:spcPct val="130000"/>
              </a:lnSpc>
              <a:buNone/>
            </a:pPr>
            <a:r>
              <a:rPr lang="en-US" sz="1350" b="1" dirty="0">
                <a:solidFill>
                  <a:srgbClr val="2C7A58"/>
                </a:solidFill>
                <a:latin typeface="Arial" pitchFamily="34" charset="0"/>
                <a:ea typeface="Arial" pitchFamily="34" charset="-122"/>
                <a:cs typeface="Arial" pitchFamily="34" charset="-120"/>
              </a:rPr>
              <a:t>✓</a:t>
            </a:r>
            <a:endParaRPr lang="en-US" sz="1350" dirty="0"/>
          </a:p>
        </p:txBody>
      </p:sp>
      <p:sp>
        <p:nvSpPr>
          <p:cNvPr id="19" name="Text 17"/>
          <p:cNvSpPr/>
          <p:nvPr/>
        </p:nvSpPr>
        <p:spPr>
          <a:xfrm>
            <a:off x="6333927" y="2917825"/>
            <a:ext cx="3587452" cy="250230"/>
          </a:xfrm>
          <a:prstGeom prst="rect">
            <a:avLst/>
          </a:prstGeom>
          <a:noFill/>
          <a:ln/>
        </p:spPr>
        <p:txBody>
          <a:bodyPr wrap="square" lIns="25400" tIns="25400" rIns="25400" bIns="25400" rtlCol="0" anchor="t">
            <a:normAutofit/>
          </a:bodyPr>
          <a:lstStyle/>
          <a:p>
            <a:pPr algn="l" indent="0" marL="0">
              <a:lnSpc>
                <a:spcPct val="135000"/>
              </a:lnSpc>
              <a:buNone/>
            </a:pPr>
            <a:r>
              <a:rPr lang="en-US" sz="1238" b="1" dirty="0">
                <a:solidFill>
                  <a:srgbClr val="2B332E"/>
                </a:solidFill>
                <a:latin typeface="Arial" pitchFamily="34" charset="0"/>
                <a:ea typeface="Arial" pitchFamily="34" charset="-122"/>
                <a:cs typeface="Arial" pitchFamily="34" charset="-120"/>
              </a:rPr>
              <a:t>Tenant onboarding </a:t>
            </a:r>
            <a:pPr algn="l" indent="0" marL="0">
              <a:lnSpc>
                <a:spcPct val="135000"/>
              </a:lnSpc>
              <a:buNone/>
            </a:pPr>
            <a:r>
              <a:rPr lang="en-US" sz="1238" dirty="0">
                <a:solidFill>
                  <a:srgbClr val="2B332E"/>
                </a:solidFill>
                <a:latin typeface="Arial" pitchFamily="34" charset="0"/>
                <a:ea typeface="Arial" pitchFamily="34" charset="-122"/>
                <a:cs typeface="Arial" pitchFamily="34" charset="-120"/>
              </a:rPr>
              <a:t>— voucher, household, pets</a:t>
            </a:r>
            <a:endParaRPr lang="en-US" sz="1238" dirty="0"/>
          </a:p>
        </p:txBody>
      </p:sp>
      <p:sp>
        <p:nvSpPr>
          <p:cNvPr id="20" name="Text 18"/>
          <p:cNvSpPr/>
          <p:nvPr/>
        </p:nvSpPr>
        <p:spPr>
          <a:xfrm>
            <a:off x="1092200" y="3264496"/>
            <a:ext cx="204688" cy="260945"/>
          </a:xfrm>
          <a:prstGeom prst="rect">
            <a:avLst/>
          </a:prstGeom>
          <a:noFill/>
          <a:ln/>
        </p:spPr>
        <p:txBody>
          <a:bodyPr wrap="square" lIns="25400" tIns="25400" rIns="25400" bIns="25400" rtlCol="0" anchor="t">
            <a:normAutofit/>
          </a:bodyPr>
          <a:lstStyle/>
          <a:p>
            <a:pPr algn="l" indent="0" marL="0">
              <a:lnSpc>
                <a:spcPct val="130000"/>
              </a:lnSpc>
              <a:buNone/>
            </a:pPr>
            <a:r>
              <a:rPr lang="en-US" sz="1350" b="1" dirty="0">
                <a:solidFill>
                  <a:srgbClr val="2C7A58"/>
                </a:solidFill>
                <a:latin typeface="Arial" pitchFamily="34" charset="0"/>
                <a:ea typeface="Arial" pitchFamily="34" charset="-122"/>
                <a:cs typeface="Arial" pitchFamily="34" charset="-120"/>
              </a:rPr>
              <a:t>✓</a:t>
            </a:r>
            <a:endParaRPr lang="en-US" sz="1350" dirty="0"/>
          </a:p>
        </p:txBody>
      </p:sp>
      <p:sp>
        <p:nvSpPr>
          <p:cNvPr id="21" name="Text 19"/>
          <p:cNvSpPr/>
          <p:nvPr/>
        </p:nvSpPr>
        <p:spPr>
          <a:xfrm>
            <a:off x="1325463" y="3264496"/>
            <a:ext cx="4459486" cy="250230"/>
          </a:xfrm>
          <a:prstGeom prst="rect">
            <a:avLst/>
          </a:prstGeom>
          <a:noFill/>
          <a:ln/>
        </p:spPr>
        <p:txBody>
          <a:bodyPr wrap="square" lIns="25400" tIns="25400" rIns="25400" bIns="25400" rtlCol="0" anchor="t">
            <a:normAutofit/>
          </a:bodyPr>
          <a:lstStyle/>
          <a:p>
            <a:pPr algn="l" indent="0" marL="0">
              <a:lnSpc>
                <a:spcPct val="135000"/>
              </a:lnSpc>
              <a:buNone/>
            </a:pPr>
            <a:r>
              <a:rPr lang="en-US" sz="1238" b="1" dirty="0">
                <a:solidFill>
                  <a:srgbClr val="2B332E"/>
                </a:solidFill>
                <a:latin typeface="Arial" pitchFamily="34" charset="0"/>
                <a:ea typeface="Arial" pitchFamily="34" charset="-122"/>
                <a:cs typeface="Arial" pitchFamily="34" charset="-120"/>
              </a:rPr>
              <a:t>Payment-standards engine </a:t>
            </a:r>
            <a:pPr algn="l" indent="0" marL="0">
              <a:lnSpc>
                <a:spcPct val="135000"/>
              </a:lnSpc>
              <a:buNone/>
            </a:pPr>
            <a:r>
              <a:rPr lang="en-US" sz="1238" dirty="0">
                <a:solidFill>
                  <a:srgbClr val="2B332E"/>
                </a:solidFill>
                <a:latin typeface="Arial" pitchFamily="34" charset="0"/>
                <a:ea typeface="Arial" pitchFamily="34" charset="-122"/>
                <a:cs typeface="Arial" pitchFamily="34" charset="-120"/>
              </a:rPr>
              <a:t>— max rent by HA &amp; bedrooms</a:t>
            </a:r>
            <a:endParaRPr lang="en-US" sz="1238" dirty="0"/>
          </a:p>
        </p:txBody>
      </p:sp>
      <p:sp>
        <p:nvSpPr>
          <p:cNvPr id="22" name="Text 20"/>
          <p:cNvSpPr/>
          <p:nvPr/>
        </p:nvSpPr>
        <p:spPr>
          <a:xfrm>
            <a:off x="6100664" y="3264496"/>
            <a:ext cx="204688" cy="260945"/>
          </a:xfrm>
          <a:prstGeom prst="rect">
            <a:avLst/>
          </a:prstGeom>
          <a:noFill/>
          <a:ln/>
        </p:spPr>
        <p:txBody>
          <a:bodyPr wrap="square" lIns="25400" tIns="25400" rIns="25400" bIns="25400" rtlCol="0" anchor="t">
            <a:normAutofit/>
          </a:bodyPr>
          <a:lstStyle/>
          <a:p>
            <a:pPr algn="l" indent="0" marL="0">
              <a:lnSpc>
                <a:spcPct val="130000"/>
              </a:lnSpc>
              <a:buNone/>
            </a:pPr>
            <a:r>
              <a:rPr lang="en-US" sz="1350" b="1" dirty="0">
                <a:solidFill>
                  <a:srgbClr val="2C7A58"/>
                </a:solidFill>
                <a:latin typeface="Arial" pitchFamily="34" charset="0"/>
                <a:ea typeface="Arial" pitchFamily="34" charset="-122"/>
                <a:cs typeface="Arial" pitchFamily="34" charset="-120"/>
              </a:rPr>
              <a:t>✓</a:t>
            </a:r>
            <a:endParaRPr lang="en-US" sz="1350" dirty="0"/>
          </a:p>
        </p:txBody>
      </p:sp>
      <p:sp>
        <p:nvSpPr>
          <p:cNvPr id="23" name="Text 21"/>
          <p:cNvSpPr/>
          <p:nvPr/>
        </p:nvSpPr>
        <p:spPr>
          <a:xfrm>
            <a:off x="6333927" y="3264496"/>
            <a:ext cx="3203059" cy="250230"/>
          </a:xfrm>
          <a:prstGeom prst="rect">
            <a:avLst/>
          </a:prstGeom>
          <a:noFill/>
          <a:ln/>
        </p:spPr>
        <p:txBody>
          <a:bodyPr wrap="square" lIns="25400" tIns="25400" rIns="25400" bIns="25400" rtlCol="0" anchor="t">
            <a:normAutofit/>
          </a:bodyPr>
          <a:lstStyle/>
          <a:p>
            <a:pPr algn="l" indent="0" marL="0">
              <a:lnSpc>
                <a:spcPct val="135000"/>
              </a:lnSpc>
              <a:buNone/>
            </a:pPr>
            <a:r>
              <a:rPr lang="en-US" sz="1238" b="1" dirty="0">
                <a:solidFill>
                  <a:srgbClr val="2B332E"/>
                </a:solidFill>
                <a:latin typeface="Arial" pitchFamily="34" charset="0"/>
                <a:ea typeface="Arial" pitchFamily="34" charset="-122"/>
                <a:cs typeface="Arial" pitchFamily="34" charset="-120"/>
              </a:rPr>
              <a:t>Legal pages </a:t>
            </a:r>
            <a:pPr algn="l" indent="0" marL="0">
              <a:lnSpc>
                <a:spcPct val="135000"/>
              </a:lnSpc>
              <a:buNone/>
            </a:pPr>
            <a:r>
              <a:rPr lang="en-US" sz="1238" dirty="0">
                <a:solidFill>
                  <a:srgbClr val="2B332E"/>
                </a:solidFill>
                <a:latin typeface="Arial" pitchFamily="34" charset="0"/>
                <a:ea typeface="Arial" pitchFamily="34" charset="-122"/>
                <a:cs typeface="Arial" pitchFamily="34" charset="-120"/>
              </a:rPr>
              <a:t>— Terms of Service &amp; Privacy</a:t>
            </a:r>
            <a:endParaRPr lang="en-US" sz="1238" dirty="0"/>
          </a:p>
        </p:txBody>
      </p:sp>
      <p:sp>
        <p:nvSpPr>
          <p:cNvPr id="24" name="Shape 22"/>
          <p:cNvSpPr/>
          <p:nvPr/>
        </p:nvSpPr>
        <p:spPr>
          <a:xfrm>
            <a:off x="11382177" y="1659334"/>
            <a:ext cx="6105724" cy="931168"/>
          </a:xfrm>
          <a:prstGeom prst="roundRect">
            <a:avLst>
              <a:gd name="adj" fmla="val 8183"/>
            </a:avLst>
          </a:prstGeom>
          <a:solidFill>
            <a:srgbClr val="B0673E">
              <a:alpha val="8000"/>
            </a:srgbClr>
          </a:solidFill>
          <a:ln w="6350">
            <a:solidFill>
              <a:srgbClr val="B0673E">
                <a:alpha val="28000"/>
              </a:srgbClr>
            </a:solidFill>
            <a:prstDash val="solid"/>
          </a:ln>
        </p:spPr>
      </p:sp>
      <p:sp>
        <p:nvSpPr>
          <p:cNvPr id="25" name="Text 23"/>
          <p:cNvSpPr/>
          <p:nvPr/>
        </p:nvSpPr>
        <p:spPr>
          <a:xfrm>
            <a:off x="11636177" y="1875234"/>
            <a:ext cx="6157496"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B0673E"/>
                </a:solidFill>
                <a:latin typeface="Courier New" pitchFamily="34" charset="0"/>
                <a:ea typeface="Courier New" pitchFamily="34" charset="-122"/>
                <a:cs typeface="Courier New" pitchFamily="34" charset="-120"/>
              </a:rPr>
              <a:t>IN PROGRESS</a:t>
            </a:r>
            <a:endParaRPr lang="en-US" sz="975" dirty="0"/>
          </a:p>
        </p:txBody>
      </p:sp>
      <p:sp>
        <p:nvSpPr>
          <p:cNvPr id="26" name="Text 24"/>
          <p:cNvSpPr/>
          <p:nvPr/>
        </p:nvSpPr>
        <p:spPr>
          <a:xfrm>
            <a:off x="11636177" y="2148284"/>
            <a:ext cx="219472" cy="243780"/>
          </a:xfrm>
          <a:prstGeom prst="rect">
            <a:avLst/>
          </a:prstGeom>
          <a:noFill/>
          <a:ln/>
        </p:spPr>
        <p:txBody>
          <a:bodyPr wrap="square" lIns="25400" tIns="25400" rIns="25400" bIns="25400" rtlCol="0" anchor="t">
            <a:normAutofit/>
          </a:bodyPr>
          <a:lstStyle/>
          <a:p>
            <a:pPr algn="l" indent="0" marL="0">
              <a:lnSpc>
                <a:spcPct val="120000"/>
              </a:lnSpc>
              <a:buNone/>
            </a:pPr>
            <a:r>
              <a:rPr lang="en-US" sz="1350" dirty="0">
                <a:solidFill>
                  <a:srgbClr val="B0673E"/>
                </a:solidFill>
                <a:latin typeface="Arial" pitchFamily="34" charset="0"/>
                <a:ea typeface="Arial" pitchFamily="34" charset="-122"/>
                <a:cs typeface="Arial" pitchFamily="34" charset="-120"/>
              </a:rPr>
              <a:t>◐</a:t>
            </a:r>
            <a:endParaRPr lang="en-US" sz="1350" dirty="0"/>
          </a:p>
        </p:txBody>
      </p:sp>
      <p:sp>
        <p:nvSpPr>
          <p:cNvPr id="27" name="Text 25"/>
          <p:cNvSpPr/>
          <p:nvPr/>
        </p:nvSpPr>
        <p:spPr>
          <a:xfrm>
            <a:off x="11884223" y="2148284"/>
            <a:ext cx="3440986" cy="264418"/>
          </a:xfrm>
          <a:prstGeom prst="rect">
            <a:avLst/>
          </a:prstGeom>
          <a:noFill/>
          <a:ln/>
        </p:spPr>
        <p:txBody>
          <a:bodyPr wrap="square" lIns="25400" tIns="25400" rIns="25400" bIns="25400" rtlCol="0" anchor="t">
            <a:normAutofit/>
          </a:bodyPr>
          <a:lstStyle/>
          <a:p>
            <a:pPr algn="l" indent="0" marL="0">
              <a:lnSpc>
                <a:spcPct val="140000"/>
              </a:lnSpc>
              <a:buNone/>
            </a:pPr>
            <a:r>
              <a:rPr lang="en-US" sz="1238" b="1" dirty="0">
                <a:solidFill>
                  <a:srgbClr val="2B332E"/>
                </a:solidFill>
                <a:latin typeface="Arial" pitchFamily="34" charset="0"/>
                <a:ea typeface="Arial" pitchFamily="34" charset="-122"/>
                <a:cs typeface="Arial" pitchFamily="34" charset="-120"/>
              </a:rPr>
              <a:t>Stripe subscriptions </a:t>
            </a:r>
            <a:pPr algn="l" indent="0" marL="0">
              <a:lnSpc>
                <a:spcPct val="140000"/>
              </a:lnSpc>
              <a:buNone/>
            </a:pPr>
            <a:r>
              <a:rPr lang="en-US" sz="1238" dirty="0">
                <a:solidFill>
                  <a:srgbClr val="2B332E"/>
                </a:solidFill>
                <a:latin typeface="Arial" pitchFamily="34" charset="0"/>
                <a:ea typeface="Arial" pitchFamily="34" charset="-122"/>
                <a:cs typeface="Arial" pitchFamily="34" charset="-120"/>
              </a:rPr>
              <a:t>— first paying customers</a:t>
            </a:r>
            <a:endParaRPr lang="en-US" sz="1238" dirty="0"/>
          </a:p>
        </p:txBody>
      </p:sp>
      <p:sp>
        <p:nvSpPr>
          <p:cNvPr id="28" name="Shape 26"/>
          <p:cNvSpPr/>
          <p:nvPr/>
        </p:nvSpPr>
        <p:spPr>
          <a:xfrm>
            <a:off x="11382177" y="2761952"/>
            <a:ext cx="6105724" cy="6661448"/>
          </a:xfrm>
          <a:prstGeom prst="roundRect">
            <a:avLst>
              <a:gd name="adj" fmla="val 1248"/>
            </a:avLst>
          </a:prstGeom>
          <a:solidFill>
            <a:srgbClr val="16201C"/>
          </a:solidFill>
          <a:ln/>
        </p:spPr>
      </p:sp>
      <p:sp>
        <p:nvSpPr>
          <p:cNvPr id="29" name="Text 27"/>
          <p:cNvSpPr/>
          <p:nvPr/>
        </p:nvSpPr>
        <p:spPr>
          <a:xfrm>
            <a:off x="11629827" y="2990552"/>
            <a:ext cx="6171466"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7CC79B"/>
                </a:solidFill>
                <a:latin typeface="Courier New" pitchFamily="34" charset="0"/>
                <a:ea typeface="Courier New" pitchFamily="34" charset="-122"/>
                <a:cs typeface="Courier New" pitchFamily="34" charset="-120"/>
              </a:rPr>
              <a:t>UP NEXT</a:t>
            </a:r>
            <a:endParaRPr lang="en-US" sz="975" dirty="0"/>
          </a:p>
        </p:txBody>
      </p:sp>
      <p:sp>
        <p:nvSpPr>
          <p:cNvPr id="30" name="Text 28"/>
          <p:cNvSpPr/>
          <p:nvPr/>
        </p:nvSpPr>
        <p:spPr>
          <a:xfrm>
            <a:off x="11629827" y="3282653"/>
            <a:ext cx="233362" cy="26441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7CC79B"/>
                </a:solidFill>
                <a:latin typeface="Arial" pitchFamily="34" charset="0"/>
                <a:ea typeface="Arial" pitchFamily="34" charset="-122"/>
                <a:cs typeface="Arial" pitchFamily="34" charset="-120"/>
              </a:rPr>
              <a:t>→</a:t>
            </a:r>
            <a:endParaRPr lang="en-US" sz="1238" dirty="0"/>
          </a:p>
        </p:txBody>
      </p:sp>
      <p:sp>
        <p:nvSpPr>
          <p:cNvPr id="31" name="Text 29"/>
          <p:cNvSpPr/>
          <p:nvPr/>
        </p:nvSpPr>
        <p:spPr>
          <a:xfrm>
            <a:off x="11891765" y="3282653"/>
            <a:ext cx="4048462" cy="26441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DFE6DF"/>
                </a:solidFill>
                <a:latin typeface="Arial" pitchFamily="34" charset="0"/>
                <a:ea typeface="Arial" pitchFamily="34" charset="-122"/>
                <a:cs typeface="Arial" pitchFamily="34" charset="-120"/>
              </a:rPr>
              <a:t>Email + SMS alerts — the core </a:t>
            </a:r>
            <a:pPr algn="l" indent="0" marL="0">
              <a:lnSpc>
                <a:spcPct val="140000"/>
              </a:lnSpc>
              <a:buNone/>
            </a:pPr>
            <a:r>
              <a:rPr lang="en-US" sz="1238" b="1" dirty="0">
                <a:solidFill>
                  <a:srgbClr val="FFFFFF"/>
                </a:solidFill>
                <a:latin typeface="Arial" pitchFamily="34" charset="0"/>
                <a:ea typeface="Arial" pitchFamily="34" charset="-122"/>
                <a:cs typeface="Arial" pitchFamily="34" charset="-120"/>
              </a:rPr>
              <a:t>instant-match </a:t>
            </a:r>
            <a:pPr algn="l" indent="0" marL="0">
              <a:lnSpc>
                <a:spcPct val="140000"/>
              </a:lnSpc>
              <a:buNone/>
            </a:pPr>
            <a:r>
              <a:rPr lang="en-US" sz="1238" dirty="0">
                <a:solidFill>
                  <a:srgbClr val="DFE6DF"/>
                </a:solidFill>
                <a:latin typeface="Arial" pitchFamily="34" charset="0"/>
                <a:ea typeface="Arial" pitchFamily="34" charset="-122"/>
                <a:cs typeface="Arial" pitchFamily="34" charset="-120"/>
              </a:rPr>
              <a:t>promise</a:t>
            </a:r>
            <a:endParaRPr lang="en-US" sz="1238" dirty="0"/>
          </a:p>
        </p:txBody>
      </p:sp>
      <p:sp>
        <p:nvSpPr>
          <p:cNvPr id="32" name="Text 30"/>
          <p:cNvSpPr/>
          <p:nvPr/>
        </p:nvSpPr>
        <p:spPr>
          <a:xfrm>
            <a:off x="11629827" y="3632795"/>
            <a:ext cx="233362" cy="26441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7CC79B"/>
                </a:solidFill>
                <a:latin typeface="Arial" pitchFamily="34" charset="0"/>
                <a:ea typeface="Arial" pitchFamily="34" charset="-122"/>
                <a:cs typeface="Arial" pitchFamily="34" charset="-120"/>
              </a:rPr>
              <a:t>→</a:t>
            </a:r>
            <a:endParaRPr lang="en-US" sz="1238" dirty="0"/>
          </a:p>
        </p:txBody>
      </p:sp>
      <p:sp>
        <p:nvSpPr>
          <p:cNvPr id="33" name="Text 31"/>
          <p:cNvSpPr/>
          <p:nvPr/>
        </p:nvSpPr>
        <p:spPr>
          <a:xfrm>
            <a:off x="11891765" y="3632795"/>
            <a:ext cx="3579049" cy="26441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DFE6DF"/>
                </a:solidFill>
                <a:latin typeface="Arial" pitchFamily="34" charset="0"/>
                <a:ea typeface="Arial" pitchFamily="34" charset="-122"/>
                <a:cs typeface="Arial" pitchFamily="34" charset="-120"/>
              </a:rPr>
              <a:t>Landlord </a:t>
            </a:r>
            <a:pPr algn="l" indent="0" marL="0">
              <a:lnSpc>
                <a:spcPct val="140000"/>
              </a:lnSpc>
              <a:buNone/>
            </a:pPr>
            <a:r>
              <a:rPr lang="en-US" sz="1238" b="1" dirty="0">
                <a:solidFill>
                  <a:srgbClr val="FFFFFF"/>
                </a:solidFill>
                <a:latin typeface="Arial" pitchFamily="34" charset="0"/>
                <a:ea typeface="Arial" pitchFamily="34" charset="-122"/>
                <a:cs typeface="Arial" pitchFamily="34" charset="-120"/>
              </a:rPr>
              <a:t>application inbox </a:t>
            </a:r>
            <a:pPr algn="l" indent="0" marL="0">
              <a:lnSpc>
                <a:spcPct val="140000"/>
              </a:lnSpc>
              <a:buNone/>
            </a:pPr>
            <a:r>
              <a:rPr lang="en-US" sz="1238" dirty="0">
                <a:solidFill>
                  <a:srgbClr val="DFE6DF"/>
                </a:solidFill>
                <a:latin typeface="Arial" pitchFamily="34" charset="0"/>
                <a:ea typeface="Arial" pitchFamily="34" charset="-122"/>
                <a:cs typeface="Arial" pitchFamily="34" charset="-120"/>
              </a:rPr>
              <a:t>— review &amp; respond</a:t>
            </a:r>
            <a:endParaRPr lang="en-US" sz="1238" dirty="0"/>
          </a:p>
        </p:txBody>
      </p:sp>
      <p:sp>
        <p:nvSpPr>
          <p:cNvPr id="34" name="Text 32"/>
          <p:cNvSpPr/>
          <p:nvPr/>
        </p:nvSpPr>
        <p:spPr>
          <a:xfrm>
            <a:off x="11629827" y="3982938"/>
            <a:ext cx="233362" cy="25806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7CC79B"/>
                </a:solidFill>
                <a:latin typeface="Arial" pitchFamily="34" charset="0"/>
                <a:ea typeface="Arial" pitchFamily="34" charset="-122"/>
                <a:cs typeface="Arial" pitchFamily="34" charset="-120"/>
              </a:rPr>
              <a:t>→</a:t>
            </a:r>
            <a:endParaRPr lang="en-US" sz="1238" dirty="0"/>
          </a:p>
        </p:txBody>
      </p:sp>
      <p:sp>
        <p:nvSpPr>
          <p:cNvPr id="35" name="Text 33"/>
          <p:cNvSpPr/>
          <p:nvPr/>
        </p:nvSpPr>
        <p:spPr>
          <a:xfrm>
            <a:off x="11891765" y="3982938"/>
            <a:ext cx="3165951" cy="258068"/>
          </a:xfrm>
          <a:prstGeom prst="rect">
            <a:avLst/>
          </a:prstGeom>
          <a:noFill/>
          <a:ln/>
        </p:spPr>
        <p:txBody>
          <a:bodyPr wrap="square" lIns="25400" tIns="25400" rIns="25400" bIns="25400" rtlCol="0" anchor="t">
            <a:normAutofit/>
          </a:bodyPr>
          <a:lstStyle/>
          <a:p>
            <a:pPr algn="l" indent="0" marL="0">
              <a:lnSpc>
                <a:spcPct val="140000"/>
              </a:lnSpc>
              <a:buNone/>
            </a:pPr>
            <a:r>
              <a:rPr lang="en-US" sz="1238" dirty="0">
                <a:solidFill>
                  <a:srgbClr val="DFE6DF"/>
                </a:solidFill>
                <a:latin typeface="Arial" pitchFamily="34" charset="0"/>
                <a:ea typeface="Arial" pitchFamily="34" charset="-122"/>
                <a:cs typeface="Arial" pitchFamily="34" charset="-120"/>
              </a:rPr>
              <a:t>Beta with 2–3 landlords, then live launch</a:t>
            </a:r>
            <a:endParaRPr lang="en-US" sz="1238" dirty="0"/>
          </a:p>
        </p:txBody>
      </p:sp>
      <p:sp>
        <p:nvSpPr>
          <p:cNvPr id="36" name="Text 34"/>
          <p:cNvSpPr/>
          <p:nvPr/>
        </p:nvSpPr>
        <p:spPr>
          <a:xfrm>
            <a:off x="800100" y="9594850"/>
            <a:ext cx="2480221"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SETTLEED · WHAT'S BUILT</a:t>
            </a:r>
            <a:endParaRPr lang="en-US" sz="990" dirty="0"/>
          </a:p>
        </p:txBody>
      </p:sp>
      <p:sp>
        <p:nvSpPr>
          <p:cNvPr id="37" name="Text 35"/>
          <p:cNvSpPr/>
          <p:nvPr/>
        </p:nvSpPr>
        <p:spPr>
          <a:xfrm>
            <a:off x="16801605" y="9594850"/>
            <a:ext cx="762496"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13 / 16</a:t>
            </a:r>
            <a:endParaRPr lang="en-US" sz="99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800100" y="1301750"/>
            <a:ext cx="16687800" cy="9525"/>
          </a:xfrm>
          <a:prstGeom prst="rect">
            <a:avLst/>
          </a:prstGeom>
          <a:solidFill>
            <a:srgbClr val="18221E">
              <a:alpha val="16000"/>
            </a:srgbClr>
          </a:solidFill>
          <a:ln/>
        </p:spPr>
      </p:sp>
      <p:sp>
        <p:nvSpPr>
          <p:cNvPr id="3" name="Text 1"/>
          <p:cNvSpPr/>
          <p:nvPr/>
        </p:nvSpPr>
        <p:spPr>
          <a:xfrm>
            <a:off x="800100" y="533400"/>
            <a:ext cx="7464891" cy="215900"/>
          </a:xfrm>
          <a:prstGeom prst="rect">
            <a:avLst/>
          </a:prstGeom>
          <a:noFill/>
          <a:ln/>
        </p:spPr>
        <p:txBody>
          <a:bodyPr wrap="square" lIns="25400" tIns="25400" rIns="25400" bIns="25400" rtlCol="0" anchor="t">
            <a:normAutofit/>
          </a:bodyPr>
          <a:lstStyle/>
          <a:p>
            <a:pPr algn="l" indent="0" marL="0">
              <a:buNone/>
            </a:pPr>
            <a:r>
              <a:rPr lang="en-US" sz="1073" spc="215" kern="0" dirty="0">
                <a:solidFill>
                  <a:srgbClr val="2C7A58"/>
                </a:solidFill>
                <a:latin typeface="Courier New" pitchFamily="34" charset="0"/>
                <a:ea typeface="Courier New" pitchFamily="34" charset="-122"/>
                <a:cs typeface="Courier New" pitchFamily="34" charset="-120"/>
              </a:rPr>
              <a:t>VALIDATION SCORECARD</a:t>
            </a:r>
            <a:endParaRPr lang="en-US" sz="1073" dirty="0"/>
          </a:p>
        </p:txBody>
      </p:sp>
      <p:sp>
        <p:nvSpPr>
          <p:cNvPr id="4" name="Text 2"/>
          <p:cNvSpPr/>
          <p:nvPr/>
        </p:nvSpPr>
        <p:spPr>
          <a:xfrm>
            <a:off x="800100" y="768350"/>
            <a:ext cx="7464891" cy="438150"/>
          </a:xfrm>
          <a:prstGeom prst="rect">
            <a:avLst/>
          </a:prstGeom>
          <a:noFill/>
          <a:ln/>
        </p:spPr>
        <p:txBody>
          <a:bodyPr wrap="square" lIns="25400" tIns="25400" rIns="25400" bIns="25400" rtlCol="0" anchor="t">
            <a:normAutofit/>
          </a:bodyPr>
          <a:lstStyle/>
          <a:p>
            <a:pPr algn="l" indent="0" marL="0">
              <a:lnSpc>
                <a:spcPct val="100000"/>
              </a:lnSpc>
              <a:buNone/>
            </a:pPr>
            <a:r>
              <a:rPr lang="en-US" sz="3150" b="1" spc="-63" kern="0" dirty="0">
                <a:solidFill>
                  <a:srgbClr val="14201A"/>
                </a:solidFill>
                <a:latin typeface="Arial" pitchFamily="34" charset="0"/>
                <a:ea typeface="Arial" pitchFamily="34" charset="-122"/>
                <a:cs typeface="Arial" pitchFamily="34" charset="-120"/>
              </a:rPr>
              <a:t>Where our confidence stands today.</a:t>
            </a:r>
            <a:endParaRPr lang="en-US" sz="3150" dirty="0"/>
          </a:p>
        </p:txBody>
      </p:sp>
      <p:sp>
        <p:nvSpPr>
          <p:cNvPr id="5" name="Text 3"/>
          <p:cNvSpPr/>
          <p:nvPr/>
        </p:nvSpPr>
        <p:spPr>
          <a:xfrm>
            <a:off x="16213436" y="1009650"/>
            <a:ext cx="1401911"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103 INTERVIEWS</a:t>
            </a:r>
            <a:endParaRPr lang="en-US" sz="990" dirty="0"/>
          </a:p>
        </p:txBody>
      </p:sp>
      <p:sp>
        <p:nvSpPr>
          <p:cNvPr id="6" name="Shape 4"/>
          <p:cNvSpPr/>
          <p:nvPr/>
        </p:nvSpPr>
        <p:spPr>
          <a:xfrm>
            <a:off x="800100" y="1536700"/>
            <a:ext cx="1804988" cy="1308100"/>
          </a:xfrm>
          <a:prstGeom prst="roundRect">
            <a:avLst>
              <a:gd name="adj" fmla="val 5825"/>
            </a:avLst>
          </a:prstGeom>
          <a:solidFill>
            <a:srgbClr val="FFFFFF"/>
          </a:solidFill>
          <a:ln w="6350">
            <a:solidFill>
              <a:srgbClr val="2C7A58">
                <a:alpha val="30000"/>
              </a:srgbClr>
            </a:solidFill>
            <a:prstDash val="solid"/>
          </a:ln>
        </p:spPr>
      </p:sp>
      <p:sp>
        <p:nvSpPr>
          <p:cNvPr id="7" name="Text 5"/>
          <p:cNvSpPr/>
          <p:nvPr/>
        </p:nvSpPr>
        <p:spPr>
          <a:xfrm>
            <a:off x="1054100" y="1771650"/>
            <a:ext cx="1426686" cy="190500"/>
          </a:xfrm>
          <a:prstGeom prst="rect">
            <a:avLst/>
          </a:prstGeom>
          <a:noFill/>
          <a:ln/>
        </p:spPr>
        <p:txBody>
          <a:bodyPr wrap="square" lIns="25400" tIns="25400" rIns="25400" bIns="25400" rtlCol="0" anchor="t">
            <a:normAutofit/>
          </a:bodyPr>
          <a:lstStyle/>
          <a:p>
            <a:pPr algn="l" indent="0" marL="0">
              <a:buNone/>
            </a:pPr>
            <a:r>
              <a:rPr lang="en-US" sz="938" spc="113" kern="0" dirty="0">
                <a:solidFill>
                  <a:srgbClr val="5C6660"/>
                </a:solidFill>
                <a:latin typeface="Courier New" pitchFamily="34" charset="0"/>
                <a:ea typeface="Courier New" pitchFamily="34" charset="-122"/>
                <a:cs typeface="Courier New" pitchFamily="34" charset="-120"/>
              </a:rPr>
              <a:t>SDF 1 · PROBLEM</a:t>
            </a:r>
            <a:endParaRPr lang="en-US" sz="938" dirty="0"/>
          </a:p>
        </p:txBody>
      </p:sp>
      <p:sp>
        <p:nvSpPr>
          <p:cNvPr id="8" name="Shape 6"/>
          <p:cNvSpPr/>
          <p:nvPr/>
        </p:nvSpPr>
        <p:spPr>
          <a:xfrm>
            <a:off x="1054100" y="2166938"/>
            <a:ext cx="123825" cy="123825"/>
          </a:xfrm>
          <a:prstGeom prst="ellipse">
            <a:avLst/>
          </a:prstGeom>
          <a:solidFill>
            <a:srgbClr val="2C7A58"/>
          </a:solidFill>
          <a:ln/>
          <a:effectLst>
            <a:outerShdw sx="100000" sy="100000" kx="0" ky="0" algn="bl" rotWithShape="0" blurRad="101600" dist="50800" dir="16200000">
              <a:srgbClr val="2C7A58">
                <a:alpha val="16000"/>
              </a:srgbClr>
            </a:outerShdw>
          </a:effectLst>
        </p:spPr>
      </p:sp>
      <p:sp>
        <p:nvSpPr>
          <p:cNvPr id="9" name="Text 7"/>
          <p:cNvSpPr/>
          <p:nvPr/>
        </p:nvSpPr>
        <p:spPr>
          <a:xfrm>
            <a:off x="1282700" y="2057400"/>
            <a:ext cx="903387" cy="381000"/>
          </a:xfrm>
          <a:prstGeom prst="rect">
            <a:avLst/>
          </a:prstGeom>
          <a:noFill/>
          <a:ln/>
        </p:spPr>
        <p:txBody>
          <a:bodyPr wrap="square" lIns="25400" tIns="25400" rIns="25400" bIns="25400" rtlCol="0" anchor="t">
            <a:normAutofit/>
          </a:bodyPr>
          <a:lstStyle/>
          <a:p>
            <a:pPr algn="l" indent="0" marL="0">
              <a:lnSpc>
                <a:spcPct val="90000"/>
              </a:lnSpc>
              <a:buNone/>
            </a:pPr>
            <a:r>
              <a:rPr lang="en-US" sz="3000" b="1" dirty="0">
                <a:solidFill>
                  <a:srgbClr val="10201A"/>
                </a:solidFill>
                <a:latin typeface="Arial" pitchFamily="34" charset="0"/>
                <a:ea typeface="Arial" pitchFamily="34" charset="-122"/>
                <a:cs typeface="Arial" pitchFamily="34" charset="-120"/>
              </a:rPr>
              <a:t>High</a:t>
            </a:r>
            <a:endParaRPr lang="en-US" sz="3000" dirty="0"/>
          </a:p>
        </p:txBody>
      </p:sp>
      <p:sp>
        <p:nvSpPr>
          <p:cNvPr id="10" name="Shape 8"/>
          <p:cNvSpPr/>
          <p:nvPr/>
        </p:nvSpPr>
        <p:spPr>
          <a:xfrm>
            <a:off x="1054100" y="2552700"/>
            <a:ext cx="400546" cy="57150"/>
          </a:xfrm>
          <a:prstGeom prst="roundRect">
            <a:avLst>
              <a:gd name="adj" fmla="val 50000"/>
            </a:avLst>
          </a:prstGeom>
          <a:solidFill>
            <a:srgbClr val="2C7A58"/>
          </a:solidFill>
          <a:ln/>
        </p:spPr>
      </p:sp>
      <p:sp>
        <p:nvSpPr>
          <p:cNvPr id="11" name="Shape 9"/>
          <p:cNvSpPr/>
          <p:nvPr/>
        </p:nvSpPr>
        <p:spPr>
          <a:xfrm>
            <a:off x="1502271" y="2552700"/>
            <a:ext cx="400645" cy="57150"/>
          </a:xfrm>
          <a:prstGeom prst="roundRect">
            <a:avLst>
              <a:gd name="adj" fmla="val 50000"/>
            </a:avLst>
          </a:prstGeom>
          <a:solidFill>
            <a:srgbClr val="2C7A58"/>
          </a:solidFill>
          <a:ln/>
        </p:spPr>
      </p:sp>
      <p:sp>
        <p:nvSpPr>
          <p:cNvPr id="12" name="Shape 10"/>
          <p:cNvSpPr/>
          <p:nvPr/>
        </p:nvSpPr>
        <p:spPr>
          <a:xfrm>
            <a:off x="1950541" y="2552700"/>
            <a:ext cx="400546" cy="57150"/>
          </a:xfrm>
          <a:prstGeom prst="roundRect">
            <a:avLst>
              <a:gd name="adj" fmla="val 50000"/>
            </a:avLst>
          </a:prstGeom>
          <a:solidFill>
            <a:srgbClr val="2C7A58"/>
          </a:solidFill>
          <a:ln/>
        </p:spPr>
      </p:sp>
      <p:sp>
        <p:nvSpPr>
          <p:cNvPr id="13" name="Shape 11"/>
          <p:cNvSpPr/>
          <p:nvPr/>
        </p:nvSpPr>
        <p:spPr>
          <a:xfrm>
            <a:off x="2795588" y="1536700"/>
            <a:ext cx="2195513" cy="1308100"/>
          </a:xfrm>
          <a:prstGeom prst="roundRect">
            <a:avLst>
              <a:gd name="adj" fmla="val 5825"/>
            </a:avLst>
          </a:prstGeom>
          <a:solidFill>
            <a:srgbClr val="FFFFFF"/>
          </a:solidFill>
          <a:ln w="6350">
            <a:solidFill>
              <a:srgbClr val="B0673E">
                <a:alpha val="32000"/>
              </a:srgbClr>
            </a:solidFill>
            <a:prstDash val="solid"/>
          </a:ln>
        </p:spPr>
      </p:sp>
      <p:sp>
        <p:nvSpPr>
          <p:cNvPr id="14" name="Text 12"/>
          <p:cNvSpPr/>
          <p:nvPr/>
        </p:nvSpPr>
        <p:spPr>
          <a:xfrm>
            <a:off x="3049588" y="1771650"/>
            <a:ext cx="1856264" cy="190500"/>
          </a:xfrm>
          <a:prstGeom prst="rect">
            <a:avLst/>
          </a:prstGeom>
          <a:noFill/>
          <a:ln/>
        </p:spPr>
        <p:txBody>
          <a:bodyPr wrap="square" lIns="25400" tIns="25400" rIns="25400" bIns="25400" rtlCol="0" anchor="t">
            <a:normAutofit/>
          </a:bodyPr>
          <a:lstStyle/>
          <a:p>
            <a:pPr algn="l" indent="0" marL="0">
              <a:buNone/>
            </a:pPr>
            <a:r>
              <a:rPr lang="en-US" sz="938" spc="113" kern="0" dirty="0">
                <a:solidFill>
                  <a:srgbClr val="5C6660"/>
                </a:solidFill>
                <a:latin typeface="Courier New" pitchFamily="34" charset="0"/>
                <a:ea typeface="Courier New" pitchFamily="34" charset="-122"/>
                <a:cs typeface="Courier New" pitchFamily="34" charset="-120"/>
              </a:rPr>
              <a:t>SDF 2 · SOLUTION</a:t>
            </a:r>
            <a:endParaRPr lang="en-US" sz="938" dirty="0"/>
          </a:p>
        </p:txBody>
      </p:sp>
      <p:sp>
        <p:nvSpPr>
          <p:cNvPr id="15" name="Shape 13"/>
          <p:cNvSpPr/>
          <p:nvPr/>
        </p:nvSpPr>
        <p:spPr>
          <a:xfrm>
            <a:off x="3049588" y="2166938"/>
            <a:ext cx="123825" cy="123825"/>
          </a:xfrm>
          <a:prstGeom prst="ellipse">
            <a:avLst/>
          </a:prstGeom>
          <a:solidFill>
            <a:srgbClr val="B0673E"/>
          </a:solidFill>
          <a:ln/>
          <a:effectLst>
            <a:outerShdw sx="100000" sy="100000" kx="0" ky="0" algn="bl" rotWithShape="0" blurRad="101600" dist="50800" dir="16200000">
              <a:srgbClr val="B0673E">
                <a:alpha val="16000"/>
              </a:srgbClr>
            </a:outerShdw>
          </a:effectLst>
        </p:spPr>
      </p:sp>
      <p:sp>
        <p:nvSpPr>
          <p:cNvPr id="16" name="Text 14"/>
          <p:cNvSpPr/>
          <p:nvPr/>
        </p:nvSpPr>
        <p:spPr>
          <a:xfrm>
            <a:off x="3278188" y="2057400"/>
            <a:ext cx="1604804" cy="381000"/>
          </a:xfrm>
          <a:prstGeom prst="rect">
            <a:avLst/>
          </a:prstGeom>
          <a:noFill/>
          <a:ln/>
        </p:spPr>
        <p:txBody>
          <a:bodyPr wrap="square" lIns="25400" tIns="25400" rIns="25400" bIns="25400" rtlCol="0" anchor="t">
            <a:normAutofit/>
          </a:bodyPr>
          <a:lstStyle/>
          <a:p>
            <a:pPr algn="l" indent="0" marL="0">
              <a:lnSpc>
                <a:spcPct val="90000"/>
              </a:lnSpc>
              <a:buNone/>
            </a:pPr>
            <a:r>
              <a:rPr lang="en-US" sz="3000" b="1" dirty="0">
                <a:solidFill>
                  <a:srgbClr val="10201A"/>
                </a:solidFill>
                <a:latin typeface="Arial" pitchFamily="34" charset="0"/>
                <a:ea typeface="Arial" pitchFamily="34" charset="-122"/>
                <a:cs typeface="Arial" pitchFamily="34" charset="-120"/>
              </a:rPr>
              <a:t>Medium</a:t>
            </a:r>
            <a:endParaRPr lang="en-US" sz="3000" dirty="0"/>
          </a:p>
        </p:txBody>
      </p:sp>
      <p:sp>
        <p:nvSpPr>
          <p:cNvPr id="17" name="Shape 15"/>
          <p:cNvSpPr/>
          <p:nvPr/>
        </p:nvSpPr>
        <p:spPr>
          <a:xfrm>
            <a:off x="3049588" y="2552700"/>
            <a:ext cx="530721" cy="57150"/>
          </a:xfrm>
          <a:prstGeom prst="roundRect">
            <a:avLst>
              <a:gd name="adj" fmla="val 50000"/>
            </a:avLst>
          </a:prstGeom>
          <a:solidFill>
            <a:srgbClr val="B0673E"/>
          </a:solidFill>
          <a:ln/>
        </p:spPr>
      </p:sp>
      <p:sp>
        <p:nvSpPr>
          <p:cNvPr id="18" name="Shape 16"/>
          <p:cNvSpPr/>
          <p:nvPr/>
        </p:nvSpPr>
        <p:spPr>
          <a:xfrm>
            <a:off x="3627934" y="2552700"/>
            <a:ext cx="530820" cy="57150"/>
          </a:xfrm>
          <a:prstGeom prst="roundRect">
            <a:avLst>
              <a:gd name="adj" fmla="val 50000"/>
            </a:avLst>
          </a:prstGeom>
          <a:solidFill>
            <a:srgbClr val="B0673E"/>
          </a:solidFill>
          <a:ln/>
        </p:spPr>
      </p:sp>
      <p:sp>
        <p:nvSpPr>
          <p:cNvPr id="19" name="Shape 17"/>
          <p:cNvSpPr/>
          <p:nvPr/>
        </p:nvSpPr>
        <p:spPr>
          <a:xfrm>
            <a:off x="4206379" y="2552700"/>
            <a:ext cx="530721" cy="57150"/>
          </a:xfrm>
          <a:prstGeom prst="roundRect">
            <a:avLst>
              <a:gd name="adj" fmla="val 50000"/>
            </a:avLst>
          </a:prstGeom>
          <a:solidFill>
            <a:srgbClr val="18221E">
              <a:alpha val="10000"/>
            </a:srgbClr>
          </a:solidFill>
          <a:ln/>
        </p:spPr>
      </p:sp>
      <p:sp>
        <p:nvSpPr>
          <p:cNvPr id="20" name="Shape 18"/>
          <p:cNvSpPr/>
          <p:nvPr/>
        </p:nvSpPr>
        <p:spPr>
          <a:xfrm>
            <a:off x="800100" y="3035300"/>
            <a:ext cx="4191000" cy="6426200"/>
          </a:xfrm>
          <a:prstGeom prst="roundRect">
            <a:avLst>
              <a:gd name="adj" fmla="val 1818"/>
            </a:avLst>
          </a:prstGeom>
          <a:solidFill>
            <a:srgbClr val="16201C"/>
          </a:solidFill>
          <a:ln/>
        </p:spPr>
      </p:sp>
      <p:sp>
        <p:nvSpPr>
          <p:cNvPr id="21" name="Text 19"/>
          <p:cNvSpPr/>
          <p:nvPr/>
        </p:nvSpPr>
        <p:spPr>
          <a:xfrm>
            <a:off x="1085850" y="5131495"/>
            <a:ext cx="3981450" cy="190500"/>
          </a:xfrm>
          <a:prstGeom prst="rect">
            <a:avLst/>
          </a:prstGeom>
          <a:noFill/>
          <a:ln/>
        </p:spPr>
        <p:txBody>
          <a:bodyPr wrap="square" lIns="25400" tIns="25400" rIns="25400" bIns="25400" rtlCol="0" anchor="t">
            <a:normAutofit/>
          </a:bodyPr>
          <a:lstStyle/>
          <a:p>
            <a:pPr algn="l" indent="0" marL="0">
              <a:buNone/>
            </a:pPr>
            <a:r>
              <a:rPr lang="en-US" sz="938" spc="131" kern="0" dirty="0">
                <a:solidFill>
                  <a:srgbClr val="7CC79B"/>
                </a:solidFill>
                <a:latin typeface="Courier New" pitchFamily="34" charset="0"/>
                <a:ea typeface="Courier New" pitchFamily="34" charset="-122"/>
                <a:cs typeface="Courier New" pitchFamily="34" charset="-120"/>
              </a:rPr>
              <a:t>CONFIDENCE IN DESIRABILITY</a:t>
            </a:r>
            <a:endParaRPr lang="en-US" sz="938" dirty="0"/>
          </a:p>
        </p:txBody>
      </p:sp>
      <p:sp>
        <p:nvSpPr>
          <p:cNvPr id="22" name="Text 20"/>
          <p:cNvSpPr/>
          <p:nvPr/>
        </p:nvSpPr>
        <p:spPr>
          <a:xfrm>
            <a:off x="1085850" y="5398195"/>
            <a:ext cx="1033462" cy="708620"/>
          </a:xfrm>
          <a:prstGeom prst="rect">
            <a:avLst/>
          </a:prstGeom>
          <a:noFill/>
          <a:ln/>
        </p:spPr>
        <p:txBody>
          <a:bodyPr wrap="square" lIns="25400" tIns="25400" rIns="25400" bIns="25400" rtlCol="0" anchor="t">
            <a:normAutofit/>
          </a:bodyPr>
          <a:lstStyle/>
          <a:p>
            <a:pPr algn="l" indent="0" marL="0">
              <a:lnSpc>
                <a:spcPct val="80000"/>
              </a:lnSpc>
              <a:buNone/>
            </a:pPr>
            <a:r>
              <a:rPr lang="en-US" sz="6600" b="1" spc="-198" kern="0" dirty="0">
                <a:solidFill>
                  <a:srgbClr val="FFFFFF"/>
                </a:solidFill>
                <a:latin typeface="Arial" pitchFamily="34" charset="0"/>
                <a:ea typeface="Arial" pitchFamily="34" charset="-122"/>
                <a:cs typeface="Arial" pitchFamily="34" charset="-120"/>
              </a:rPr>
              <a:t>88</a:t>
            </a:r>
            <a:endParaRPr lang="en-US" sz="6600" dirty="0"/>
          </a:p>
        </p:txBody>
      </p:sp>
      <p:sp>
        <p:nvSpPr>
          <p:cNvPr id="23" name="Text 21"/>
          <p:cNvSpPr/>
          <p:nvPr/>
        </p:nvSpPr>
        <p:spPr>
          <a:xfrm>
            <a:off x="2119313" y="5760145"/>
            <a:ext cx="705346" cy="374650"/>
          </a:xfrm>
          <a:prstGeom prst="rect">
            <a:avLst/>
          </a:prstGeom>
          <a:noFill/>
          <a:ln/>
        </p:spPr>
        <p:txBody>
          <a:bodyPr wrap="square" lIns="25400" tIns="25400" rIns="25400" bIns="25400" rtlCol="0" anchor="t">
            <a:normAutofit/>
          </a:bodyPr>
          <a:lstStyle/>
          <a:p>
            <a:pPr algn="l" indent="0" marL="0">
              <a:buNone/>
            </a:pPr>
            <a:r>
              <a:rPr lang="en-US" sz="2100" dirty="0">
                <a:solidFill>
                  <a:srgbClr val="5B6B62"/>
                </a:solidFill>
                <a:latin typeface="Arial" pitchFamily="34" charset="0"/>
                <a:ea typeface="Arial" pitchFamily="34" charset="-122"/>
                <a:cs typeface="Arial" pitchFamily="34" charset="-120"/>
              </a:rPr>
              <a:t>/ 100</a:t>
            </a:r>
            <a:endParaRPr lang="en-US" sz="2100" dirty="0"/>
          </a:p>
        </p:txBody>
      </p:sp>
      <p:sp>
        <p:nvSpPr>
          <p:cNvPr id="24" name="Shape 22"/>
          <p:cNvSpPr/>
          <p:nvPr/>
        </p:nvSpPr>
        <p:spPr>
          <a:xfrm>
            <a:off x="1085850" y="6268145"/>
            <a:ext cx="3619500" cy="123825"/>
          </a:xfrm>
          <a:prstGeom prst="roundRect">
            <a:avLst>
              <a:gd name="adj" fmla="val 50000"/>
            </a:avLst>
          </a:prstGeom>
          <a:solidFill>
            <a:srgbClr val="ECEFEA">
              <a:alpha val="12000"/>
            </a:srgbClr>
          </a:solidFill>
          <a:ln/>
        </p:spPr>
      </p:sp>
      <p:sp>
        <p:nvSpPr>
          <p:cNvPr id="25" name="Shape 23"/>
          <p:cNvSpPr/>
          <p:nvPr/>
        </p:nvSpPr>
        <p:spPr>
          <a:xfrm>
            <a:off x="1085850" y="6268145"/>
            <a:ext cx="2967930" cy="123825"/>
          </a:xfrm>
          <a:prstGeom prst="roundRect">
            <a:avLst>
              <a:gd name="adj" fmla="val 50000"/>
            </a:avLst>
          </a:prstGeom>
          <a:gradFill rotWithShape="1">
            <a:gsLst>
              <a:gs pos="0">
                <a:srgbClr val="3D8A5F">
                  <a:alpha val="100000"/>
                </a:srgbClr>
              </a:gs>
              <a:gs pos="100000">
                <a:srgbClr val="7CC79B">
                  <a:alpha val="100000"/>
                </a:srgbClr>
              </a:gs>
            </a:gsLst>
            <a:lin ang="0" scaled="0"/>
          </a:gradFill>
          <a:ln/>
        </p:spPr>
      </p:sp>
      <p:sp>
        <p:nvSpPr>
          <p:cNvPr id="26" name="Text 24"/>
          <p:cNvSpPr/>
          <p:nvPr/>
        </p:nvSpPr>
        <p:spPr>
          <a:xfrm>
            <a:off x="1085850" y="6525320"/>
            <a:ext cx="3728085" cy="878086"/>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B9C2BB"/>
                </a:solidFill>
                <a:latin typeface="Arial" pitchFamily="34" charset="0"/>
                <a:ea typeface="Arial" pitchFamily="34" charset="-122"/>
                <a:cs typeface="Arial" pitchFamily="34" charset="-120"/>
              </a:rPr>
              <a:t>All three parties corroborate the same core pain — strong, with the gap being unproven real-world behavior.</a:t>
            </a:r>
            <a:endParaRPr lang="en-US" sz="1575" dirty="0"/>
          </a:p>
        </p:txBody>
      </p:sp>
      <p:sp>
        <p:nvSpPr>
          <p:cNvPr id="27" name="Shape 25"/>
          <p:cNvSpPr/>
          <p:nvPr/>
        </p:nvSpPr>
        <p:spPr>
          <a:xfrm>
            <a:off x="5238750" y="1536700"/>
            <a:ext cx="12249150" cy="7924800"/>
          </a:xfrm>
          <a:prstGeom prst="roundRect">
            <a:avLst>
              <a:gd name="adj" fmla="val 962"/>
            </a:avLst>
          </a:prstGeom>
          <a:solidFill>
            <a:srgbClr val="FFFFFF"/>
          </a:solidFill>
          <a:ln w="6350">
            <a:solidFill>
              <a:srgbClr val="18221E">
                <a:alpha val="12000"/>
              </a:srgbClr>
            </a:solidFill>
            <a:prstDash val="solid"/>
          </a:ln>
        </p:spPr>
      </p:sp>
      <p:sp>
        <p:nvSpPr>
          <p:cNvPr id="28" name="Text 26"/>
          <p:cNvSpPr/>
          <p:nvPr/>
        </p:nvSpPr>
        <p:spPr>
          <a:xfrm>
            <a:off x="5568950" y="1828800"/>
            <a:ext cx="12747626" cy="19685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5C6660"/>
                </a:solidFill>
                <a:latin typeface="Courier New" pitchFamily="34" charset="0"/>
                <a:ea typeface="Courier New" pitchFamily="34" charset="-122"/>
                <a:cs typeface="Courier New" pitchFamily="34" charset="-120"/>
              </a:rPr>
              <a:t>OPEN QUESTIONS</a:t>
            </a:r>
            <a:endParaRPr lang="en-US" sz="975" dirty="0"/>
          </a:p>
        </p:txBody>
      </p:sp>
      <p:sp>
        <p:nvSpPr>
          <p:cNvPr id="29" name="Text 27"/>
          <p:cNvSpPr/>
          <p:nvPr/>
        </p:nvSpPr>
        <p:spPr>
          <a:xfrm>
            <a:off x="5568950" y="2139950"/>
            <a:ext cx="6012339" cy="292100"/>
          </a:xfrm>
          <a:prstGeom prst="rect">
            <a:avLst/>
          </a:prstGeom>
          <a:noFill/>
          <a:ln/>
        </p:spPr>
        <p:txBody>
          <a:bodyPr wrap="square" lIns="25400" tIns="25400" rIns="25400" bIns="25400" rtlCol="0" anchor="t">
            <a:normAutofit/>
          </a:bodyPr>
          <a:lstStyle/>
          <a:p>
            <a:pPr algn="l" indent="0" marL="0">
              <a:buNone/>
            </a:pPr>
            <a:r>
              <a:rPr lang="en-US" sz="1575" b="1" dirty="0">
                <a:solidFill>
                  <a:srgbClr val="2C7A58"/>
                </a:solidFill>
                <a:latin typeface="Arial" pitchFamily="34" charset="0"/>
                <a:ea typeface="Arial" pitchFamily="34" charset="-122"/>
                <a:cs typeface="Arial" pitchFamily="34" charset="-120"/>
              </a:rPr>
              <a:t>Feasibility</a:t>
            </a:r>
            <a:endParaRPr lang="en-US" sz="1575" dirty="0"/>
          </a:p>
        </p:txBody>
      </p:sp>
      <p:sp>
        <p:nvSpPr>
          <p:cNvPr id="30" name="Text 28"/>
          <p:cNvSpPr/>
          <p:nvPr/>
        </p:nvSpPr>
        <p:spPr>
          <a:xfrm>
            <a:off x="5568950" y="2527300"/>
            <a:ext cx="153491" cy="267990"/>
          </a:xfrm>
          <a:prstGeom prst="rect">
            <a:avLst/>
          </a:prstGeom>
          <a:noFill/>
          <a:ln/>
        </p:spPr>
        <p:txBody>
          <a:bodyPr wrap="square" lIns="25400" tIns="25400" rIns="25400" bIns="25400" rtlCol="0" anchor="t">
            <a:normAutofit/>
          </a:bodyPr>
          <a:lstStyle/>
          <a:p>
            <a:pPr algn="l" indent="0" marL="0">
              <a:lnSpc>
                <a:spcPct val="142000"/>
              </a:lnSpc>
              <a:buNone/>
            </a:pPr>
            <a:r>
              <a:rPr lang="en-US" sz="1275" dirty="0">
                <a:solidFill>
                  <a:srgbClr val="2C7A58"/>
                </a:solidFill>
                <a:latin typeface="Arial" pitchFamily="34" charset="0"/>
                <a:ea typeface="Arial" pitchFamily="34" charset="-122"/>
                <a:cs typeface="Arial" pitchFamily="34" charset="-120"/>
              </a:rPr>
              <a:t>?</a:t>
            </a:r>
            <a:endParaRPr lang="en-US" sz="1275" dirty="0"/>
          </a:p>
        </p:txBody>
      </p:sp>
      <p:sp>
        <p:nvSpPr>
          <p:cNvPr id="31" name="Text 29"/>
          <p:cNvSpPr/>
          <p:nvPr/>
        </p:nvSpPr>
        <p:spPr>
          <a:xfrm>
            <a:off x="5740400" y="2533650"/>
            <a:ext cx="4912427" cy="477540"/>
          </a:xfrm>
          <a:prstGeom prst="rect">
            <a:avLst/>
          </a:prstGeom>
          <a:noFill/>
          <a:ln/>
        </p:spPr>
        <p:txBody>
          <a:bodyPr wrap="square" lIns="0" tIns="0" rIns="0" bIns="0" rtlCol="0" anchor="t">
            <a:normAutofit/>
          </a:bodyPr>
          <a:lstStyle/>
          <a:p>
            <a:pPr algn="l" indent="0" marL="0">
              <a:lnSpc>
                <a:spcPct val="142000"/>
              </a:lnSpc>
              <a:buNone/>
            </a:pPr>
            <a:r>
              <a:rPr lang="en-US" sz="1275" dirty="0">
                <a:solidFill>
                  <a:srgbClr val="3A443E"/>
                </a:solidFill>
                <a:latin typeface="Arial" pitchFamily="34" charset="0"/>
                <a:ea typeface="Arial" pitchFamily="34" charset="-122"/>
                <a:cs typeface="Arial" pitchFamily="34" charset="-120"/>
              </a:rPr>
              <a:t>Can we pull verified payment-standard &amp; inspection data from the housing authorities?</a:t>
            </a:r>
            <a:endParaRPr lang="en-US" sz="1275" dirty="0"/>
          </a:p>
        </p:txBody>
      </p:sp>
      <p:sp>
        <p:nvSpPr>
          <p:cNvPr id="32" name="Text 30"/>
          <p:cNvSpPr/>
          <p:nvPr/>
        </p:nvSpPr>
        <p:spPr>
          <a:xfrm>
            <a:off x="5568950" y="3110905"/>
            <a:ext cx="153491" cy="267990"/>
          </a:xfrm>
          <a:prstGeom prst="rect">
            <a:avLst/>
          </a:prstGeom>
          <a:noFill/>
          <a:ln/>
        </p:spPr>
        <p:txBody>
          <a:bodyPr wrap="square" lIns="25400" tIns="25400" rIns="25400" bIns="25400" rtlCol="0" anchor="t">
            <a:normAutofit/>
          </a:bodyPr>
          <a:lstStyle/>
          <a:p>
            <a:pPr algn="l" indent="0" marL="0">
              <a:lnSpc>
                <a:spcPct val="142000"/>
              </a:lnSpc>
              <a:buNone/>
            </a:pPr>
            <a:r>
              <a:rPr lang="en-US" sz="1275" dirty="0">
                <a:solidFill>
                  <a:srgbClr val="2C7A58"/>
                </a:solidFill>
                <a:latin typeface="Arial" pitchFamily="34" charset="0"/>
                <a:ea typeface="Arial" pitchFamily="34" charset="-122"/>
                <a:cs typeface="Arial" pitchFamily="34" charset="-120"/>
              </a:rPr>
              <a:t>?</a:t>
            </a:r>
            <a:endParaRPr lang="en-US" sz="1275" dirty="0"/>
          </a:p>
        </p:txBody>
      </p:sp>
      <p:sp>
        <p:nvSpPr>
          <p:cNvPr id="33" name="Text 31"/>
          <p:cNvSpPr/>
          <p:nvPr/>
        </p:nvSpPr>
        <p:spPr>
          <a:xfrm>
            <a:off x="5740400" y="3117255"/>
            <a:ext cx="1248569" cy="247650"/>
          </a:xfrm>
          <a:prstGeom prst="rect">
            <a:avLst/>
          </a:prstGeom>
          <a:noFill/>
          <a:ln/>
        </p:spPr>
        <p:txBody>
          <a:bodyPr wrap="square" lIns="0" tIns="0" rIns="0" bIns="0" rtlCol="0" anchor="t">
            <a:normAutofit/>
          </a:bodyPr>
          <a:lstStyle/>
          <a:p>
            <a:pPr algn="l" indent="0" marL="0">
              <a:lnSpc>
                <a:spcPct val="142000"/>
              </a:lnSpc>
              <a:buNone/>
            </a:pPr>
            <a:r>
              <a:rPr lang="en-US" sz="1275" dirty="0">
                <a:solidFill>
                  <a:srgbClr val="3A443E"/>
                </a:solidFill>
                <a:latin typeface="Arial" pitchFamily="34" charset="0"/>
                <a:ea typeface="Arial" pitchFamily="34" charset="-122"/>
                <a:cs typeface="Arial" pitchFamily="34" charset="-120"/>
              </a:rPr>
              <a:t>Can listings stay</a:t>
            </a:r>
            <a:endParaRPr lang="en-US" sz="1275" dirty="0"/>
          </a:p>
        </p:txBody>
      </p:sp>
      <p:sp>
        <p:nvSpPr>
          <p:cNvPr id="34" name="Text 32"/>
          <p:cNvSpPr/>
          <p:nvPr/>
        </p:nvSpPr>
        <p:spPr>
          <a:xfrm>
            <a:off x="6950968" y="3136305"/>
            <a:ext cx="949127" cy="215900"/>
          </a:xfrm>
          <a:prstGeom prst="rect">
            <a:avLst/>
          </a:prstGeom>
          <a:noFill/>
          <a:ln/>
        </p:spPr>
        <p:txBody>
          <a:bodyPr wrap="square" lIns="25400" tIns="25400" rIns="25400" bIns="25400" rtlCol="0" anchor="t">
            <a:normAutofit/>
          </a:bodyPr>
          <a:lstStyle/>
          <a:p>
            <a:pPr algn="l" indent="0" marL="0">
              <a:lnSpc>
                <a:spcPct val="142000"/>
              </a:lnSpc>
              <a:buNone/>
            </a:pPr>
            <a:r>
              <a:rPr lang="en-US" sz="1275" b="1" dirty="0">
                <a:solidFill>
                  <a:srgbClr val="10201A"/>
                </a:solidFill>
                <a:latin typeface="Arial" pitchFamily="34" charset="0"/>
                <a:ea typeface="Arial" pitchFamily="34" charset="-122"/>
                <a:cs typeface="Arial" pitchFamily="34" charset="-120"/>
              </a:rPr>
              <a:t>truly verified</a:t>
            </a:r>
            <a:endParaRPr lang="en-US" sz="1275" dirty="0"/>
          </a:p>
        </p:txBody>
      </p:sp>
      <p:sp>
        <p:nvSpPr>
          <p:cNvPr id="35" name="Text 33"/>
          <p:cNvSpPr/>
          <p:nvPr/>
        </p:nvSpPr>
        <p:spPr>
          <a:xfrm>
            <a:off x="7862094" y="3117255"/>
            <a:ext cx="1908076" cy="247650"/>
          </a:xfrm>
          <a:prstGeom prst="rect">
            <a:avLst/>
          </a:prstGeom>
          <a:noFill/>
          <a:ln/>
        </p:spPr>
        <p:txBody>
          <a:bodyPr wrap="square" lIns="0" tIns="0" rIns="0" bIns="0" rtlCol="0" anchor="t">
            <a:normAutofit/>
          </a:bodyPr>
          <a:lstStyle/>
          <a:p>
            <a:pPr algn="l" indent="0" marL="0">
              <a:lnSpc>
                <a:spcPct val="142000"/>
              </a:lnSpc>
              <a:buNone/>
            </a:pPr>
            <a:r>
              <a:rPr lang="en-US" sz="1275" dirty="0">
                <a:solidFill>
                  <a:srgbClr val="3A443E"/>
                </a:solidFill>
                <a:latin typeface="Arial" pitchFamily="34" charset="0"/>
                <a:ea typeface="Arial" pitchFamily="34" charset="-122"/>
                <a:cs typeface="Arial" pitchFamily="34" charset="-120"/>
              </a:rPr>
              <a:t>as voucher-only at scale?</a:t>
            </a:r>
            <a:endParaRPr lang="en-US" sz="1275" dirty="0"/>
          </a:p>
        </p:txBody>
      </p:sp>
      <p:sp>
        <p:nvSpPr>
          <p:cNvPr id="36" name="Text 34"/>
          <p:cNvSpPr/>
          <p:nvPr/>
        </p:nvSpPr>
        <p:spPr>
          <a:xfrm>
            <a:off x="5568950" y="3464620"/>
            <a:ext cx="153491" cy="267990"/>
          </a:xfrm>
          <a:prstGeom prst="rect">
            <a:avLst/>
          </a:prstGeom>
          <a:noFill/>
          <a:ln/>
        </p:spPr>
        <p:txBody>
          <a:bodyPr wrap="square" lIns="25400" tIns="25400" rIns="25400" bIns="25400" rtlCol="0" anchor="t">
            <a:normAutofit/>
          </a:bodyPr>
          <a:lstStyle/>
          <a:p>
            <a:pPr algn="l" indent="0" marL="0">
              <a:lnSpc>
                <a:spcPct val="142000"/>
              </a:lnSpc>
              <a:buNone/>
            </a:pPr>
            <a:r>
              <a:rPr lang="en-US" sz="1275" dirty="0">
                <a:solidFill>
                  <a:srgbClr val="2C7A58"/>
                </a:solidFill>
                <a:latin typeface="Arial" pitchFamily="34" charset="0"/>
                <a:ea typeface="Arial" pitchFamily="34" charset="-122"/>
                <a:cs typeface="Arial" pitchFamily="34" charset="-120"/>
              </a:rPr>
              <a:t>?</a:t>
            </a:r>
            <a:endParaRPr lang="en-US" sz="1275" dirty="0"/>
          </a:p>
        </p:txBody>
      </p:sp>
      <p:sp>
        <p:nvSpPr>
          <p:cNvPr id="37" name="Text 35"/>
          <p:cNvSpPr/>
          <p:nvPr/>
        </p:nvSpPr>
        <p:spPr>
          <a:xfrm>
            <a:off x="5740400" y="3470970"/>
            <a:ext cx="4564860" cy="477540"/>
          </a:xfrm>
          <a:prstGeom prst="rect">
            <a:avLst/>
          </a:prstGeom>
          <a:noFill/>
          <a:ln/>
        </p:spPr>
        <p:txBody>
          <a:bodyPr wrap="square" lIns="0" tIns="0" rIns="0" bIns="0" rtlCol="0" anchor="t">
            <a:normAutofit/>
          </a:bodyPr>
          <a:lstStyle/>
          <a:p>
            <a:pPr algn="l" indent="0" marL="0">
              <a:lnSpc>
                <a:spcPct val="142000"/>
              </a:lnSpc>
              <a:buNone/>
            </a:pPr>
            <a:r>
              <a:rPr lang="en-US" sz="1275" dirty="0">
                <a:solidFill>
                  <a:srgbClr val="3A443E"/>
                </a:solidFill>
                <a:latin typeface="Arial" pitchFamily="34" charset="0"/>
                <a:ea typeface="Arial" pitchFamily="34" charset="-122"/>
                <a:cs typeface="Arial" pitchFamily="34" charset="-120"/>
              </a:rPr>
              <a:t>Utility-allowance math automated across 5 authorities — confirmed feasible.</a:t>
            </a:r>
            <a:endParaRPr lang="en-US" sz="1275" dirty="0"/>
          </a:p>
        </p:txBody>
      </p:sp>
      <p:sp>
        <p:nvSpPr>
          <p:cNvPr id="38" name="Shape 36"/>
          <p:cNvSpPr/>
          <p:nvPr/>
        </p:nvSpPr>
        <p:spPr>
          <a:xfrm>
            <a:off x="11358563" y="2139950"/>
            <a:ext cx="9525" cy="7029450"/>
          </a:xfrm>
          <a:prstGeom prst="rect">
            <a:avLst/>
          </a:prstGeom>
          <a:solidFill>
            <a:srgbClr val="18221E">
              <a:alpha val="12000"/>
            </a:srgbClr>
          </a:solidFill>
          <a:ln/>
        </p:spPr>
      </p:sp>
      <p:sp>
        <p:nvSpPr>
          <p:cNvPr id="39" name="Text 37"/>
          <p:cNvSpPr/>
          <p:nvPr/>
        </p:nvSpPr>
        <p:spPr>
          <a:xfrm>
            <a:off x="11691938" y="2139950"/>
            <a:ext cx="6012339" cy="292100"/>
          </a:xfrm>
          <a:prstGeom prst="rect">
            <a:avLst/>
          </a:prstGeom>
          <a:noFill/>
          <a:ln/>
        </p:spPr>
        <p:txBody>
          <a:bodyPr wrap="square" lIns="25400" tIns="25400" rIns="25400" bIns="25400" rtlCol="0" anchor="t">
            <a:normAutofit/>
          </a:bodyPr>
          <a:lstStyle/>
          <a:p>
            <a:pPr algn="l" indent="0" marL="0">
              <a:buNone/>
            </a:pPr>
            <a:r>
              <a:rPr lang="en-US" sz="1575" b="1" dirty="0">
                <a:solidFill>
                  <a:srgbClr val="B0673E"/>
                </a:solidFill>
                <a:latin typeface="Arial" pitchFamily="34" charset="0"/>
                <a:ea typeface="Arial" pitchFamily="34" charset="-122"/>
                <a:cs typeface="Arial" pitchFamily="34" charset="-120"/>
              </a:rPr>
              <a:t>Viability</a:t>
            </a:r>
            <a:endParaRPr lang="en-US" sz="1575" dirty="0"/>
          </a:p>
        </p:txBody>
      </p:sp>
      <p:sp>
        <p:nvSpPr>
          <p:cNvPr id="40" name="Text 38"/>
          <p:cNvSpPr/>
          <p:nvPr/>
        </p:nvSpPr>
        <p:spPr>
          <a:xfrm>
            <a:off x="11691938" y="2527300"/>
            <a:ext cx="153491" cy="267990"/>
          </a:xfrm>
          <a:prstGeom prst="rect">
            <a:avLst/>
          </a:prstGeom>
          <a:noFill/>
          <a:ln/>
        </p:spPr>
        <p:txBody>
          <a:bodyPr wrap="square" lIns="25400" tIns="25400" rIns="25400" bIns="25400" rtlCol="0" anchor="t">
            <a:normAutofit/>
          </a:bodyPr>
          <a:lstStyle/>
          <a:p>
            <a:pPr algn="l" indent="0" marL="0">
              <a:lnSpc>
                <a:spcPct val="142000"/>
              </a:lnSpc>
              <a:buNone/>
            </a:pPr>
            <a:r>
              <a:rPr lang="en-US" sz="1275" dirty="0">
                <a:solidFill>
                  <a:srgbClr val="B0673E"/>
                </a:solidFill>
                <a:latin typeface="Arial" pitchFamily="34" charset="0"/>
                <a:ea typeface="Arial" pitchFamily="34" charset="-122"/>
                <a:cs typeface="Arial" pitchFamily="34" charset="-120"/>
              </a:rPr>
              <a:t>?</a:t>
            </a:r>
            <a:endParaRPr lang="en-US" sz="1275" dirty="0"/>
          </a:p>
        </p:txBody>
      </p:sp>
      <p:sp>
        <p:nvSpPr>
          <p:cNvPr id="41" name="Text 39"/>
          <p:cNvSpPr/>
          <p:nvPr/>
        </p:nvSpPr>
        <p:spPr>
          <a:xfrm>
            <a:off x="11863388" y="2533650"/>
            <a:ext cx="4979875" cy="477540"/>
          </a:xfrm>
          <a:prstGeom prst="rect">
            <a:avLst/>
          </a:prstGeom>
          <a:noFill/>
          <a:ln/>
        </p:spPr>
        <p:txBody>
          <a:bodyPr wrap="square" lIns="0" tIns="0" rIns="0" bIns="0" rtlCol="0" anchor="t">
            <a:normAutofit/>
          </a:bodyPr>
          <a:lstStyle/>
          <a:p>
            <a:pPr algn="l" indent="0" marL="0">
              <a:lnSpc>
                <a:spcPct val="142000"/>
              </a:lnSpc>
              <a:buNone/>
            </a:pPr>
            <a:r>
              <a:rPr lang="en-US" sz="1275" dirty="0">
                <a:solidFill>
                  <a:srgbClr val="3A443E"/>
                </a:solidFill>
                <a:latin typeface="Arial" pitchFamily="34" charset="0"/>
                <a:ea typeface="Arial" pitchFamily="34" charset="-122"/>
                <a:cs typeface="Arial" pitchFamily="34" charset="-120"/>
              </a:rPr>
              <a:t>Which side anchors revenue — and does stated intent survive a live product?</a:t>
            </a:r>
            <a:endParaRPr lang="en-US" sz="1275" dirty="0"/>
          </a:p>
        </p:txBody>
      </p:sp>
      <p:sp>
        <p:nvSpPr>
          <p:cNvPr id="42" name="Text 40"/>
          <p:cNvSpPr/>
          <p:nvPr/>
        </p:nvSpPr>
        <p:spPr>
          <a:xfrm>
            <a:off x="11691938" y="3110905"/>
            <a:ext cx="153491" cy="267990"/>
          </a:xfrm>
          <a:prstGeom prst="rect">
            <a:avLst/>
          </a:prstGeom>
          <a:noFill/>
          <a:ln/>
        </p:spPr>
        <p:txBody>
          <a:bodyPr wrap="square" lIns="25400" tIns="25400" rIns="25400" bIns="25400" rtlCol="0" anchor="t">
            <a:normAutofit/>
          </a:bodyPr>
          <a:lstStyle/>
          <a:p>
            <a:pPr algn="l" indent="0" marL="0">
              <a:lnSpc>
                <a:spcPct val="142000"/>
              </a:lnSpc>
              <a:buNone/>
            </a:pPr>
            <a:r>
              <a:rPr lang="en-US" sz="1275" dirty="0">
                <a:solidFill>
                  <a:srgbClr val="B0673E"/>
                </a:solidFill>
                <a:latin typeface="Arial" pitchFamily="34" charset="0"/>
                <a:ea typeface="Arial" pitchFamily="34" charset="-122"/>
                <a:cs typeface="Arial" pitchFamily="34" charset="-120"/>
              </a:rPr>
              <a:t>?</a:t>
            </a:r>
            <a:endParaRPr lang="en-US" sz="1275" dirty="0"/>
          </a:p>
        </p:txBody>
      </p:sp>
      <p:sp>
        <p:nvSpPr>
          <p:cNvPr id="43" name="Text 41"/>
          <p:cNvSpPr/>
          <p:nvPr/>
        </p:nvSpPr>
        <p:spPr>
          <a:xfrm>
            <a:off x="11863388" y="3117255"/>
            <a:ext cx="5145637" cy="477540"/>
          </a:xfrm>
          <a:prstGeom prst="rect">
            <a:avLst/>
          </a:prstGeom>
          <a:noFill/>
          <a:ln/>
        </p:spPr>
        <p:txBody>
          <a:bodyPr wrap="square" lIns="0" tIns="0" rIns="0" bIns="0" rtlCol="0" anchor="t">
            <a:normAutofit/>
          </a:bodyPr>
          <a:lstStyle/>
          <a:p>
            <a:pPr algn="l" indent="0" marL="0">
              <a:lnSpc>
                <a:spcPct val="142000"/>
              </a:lnSpc>
              <a:buNone/>
            </a:pPr>
            <a:r>
              <a:rPr lang="en-US" sz="1275" dirty="0">
                <a:solidFill>
                  <a:srgbClr val="3A443E"/>
                </a:solidFill>
                <a:latin typeface="Arial" pitchFamily="34" charset="0"/>
                <a:ea typeface="Arial" pitchFamily="34" charset="-122"/>
                <a:cs typeface="Arial" pitchFamily="34" charset="-120"/>
              </a:rPr>
              <a:t>Mid-market PM appetite confirmed — bulk-upload and PM software integration now key.</a:t>
            </a:r>
            <a:endParaRPr lang="en-US" sz="1275" dirty="0"/>
          </a:p>
        </p:txBody>
      </p:sp>
      <p:sp>
        <p:nvSpPr>
          <p:cNvPr id="44" name="Text 42"/>
          <p:cNvSpPr/>
          <p:nvPr/>
        </p:nvSpPr>
        <p:spPr>
          <a:xfrm>
            <a:off x="11691938" y="3694509"/>
            <a:ext cx="153491" cy="267990"/>
          </a:xfrm>
          <a:prstGeom prst="rect">
            <a:avLst/>
          </a:prstGeom>
          <a:noFill/>
          <a:ln/>
        </p:spPr>
        <p:txBody>
          <a:bodyPr wrap="square" lIns="25400" tIns="25400" rIns="25400" bIns="25400" rtlCol="0" anchor="t">
            <a:normAutofit/>
          </a:bodyPr>
          <a:lstStyle/>
          <a:p>
            <a:pPr algn="l" indent="0" marL="0">
              <a:lnSpc>
                <a:spcPct val="142000"/>
              </a:lnSpc>
              <a:buNone/>
            </a:pPr>
            <a:r>
              <a:rPr lang="en-US" sz="1275" dirty="0">
                <a:solidFill>
                  <a:srgbClr val="B0673E"/>
                </a:solidFill>
                <a:latin typeface="Arial" pitchFamily="34" charset="0"/>
                <a:ea typeface="Arial" pitchFamily="34" charset="-122"/>
                <a:cs typeface="Arial" pitchFamily="34" charset="-120"/>
              </a:rPr>
              <a:t>?</a:t>
            </a:r>
            <a:endParaRPr lang="en-US" sz="1275" dirty="0"/>
          </a:p>
        </p:txBody>
      </p:sp>
      <p:sp>
        <p:nvSpPr>
          <p:cNvPr id="45" name="Text 43"/>
          <p:cNvSpPr/>
          <p:nvPr/>
        </p:nvSpPr>
        <p:spPr>
          <a:xfrm>
            <a:off x="11863388" y="3700860"/>
            <a:ext cx="4776507" cy="247650"/>
          </a:xfrm>
          <a:prstGeom prst="rect">
            <a:avLst/>
          </a:prstGeom>
          <a:noFill/>
          <a:ln/>
        </p:spPr>
        <p:txBody>
          <a:bodyPr wrap="square" lIns="0" tIns="0" rIns="0" bIns="0" rtlCol="0" anchor="t">
            <a:normAutofit/>
          </a:bodyPr>
          <a:lstStyle/>
          <a:p>
            <a:pPr algn="l" indent="0" marL="0">
              <a:lnSpc>
                <a:spcPct val="142000"/>
              </a:lnSpc>
              <a:buNone/>
            </a:pPr>
            <a:r>
              <a:rPr lang="en-US" sz="1275" dirty="0">
                <a:solidFill>
                  <a:srgbClr val="3A443E"/>
                </a:solidFill>
                <a:latin typeface="Arial" pitchFamily="34" charset="0"/>
                <a:ea typeface="Arial" pitchFamily="34" charset="-122"/>
                <a:cs typeface="Arial" pitchFamily="34" charset="-120"/>
              </a:rPr>
              <a:t>Can acquisition cost stay below the value of a single placement?</a:t>
            </a:r>
            <a:endParaRPr lang="en-US" sz="1275" dirty="0"/>
          </a:p>
        </p:txBody>
      </p:sp>
      <p:sp>
        <p:nvSpPr>
          <p:cNvPr id="46" name="Text 44"/>
          <p:cNvSpPr/>
          <p:nvPr/>
        </p:nvSpPr>
        <p:spPr>
          <a:xfrm>
            <a:off x="800100" y="9632950"/>
            <a:ext cx="2264559"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SETTLEED · VALIDATION</a:t>
            </a:r>
            <a:endParaRPr lang="en-US" sz="990" dirty="0"/>
          </a:p>
        </p:txBody>
      </p:sp>
      <p:sp>
        <p:nvSpPr>
          <p:cNvPr id="47" name="Text 45"/>
          <p:cNvSpPr/>
          <p:nvPr/>
        </p:nvSpPr>
        <p:spPr>
          <a:xfrm>
            <a:off x="16801605" y="9632950"/>
            <a:ext cx="762496"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14 / 16</a:t>
            </a:r>
            <a:endParaRPr lang="en-US" sz="99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57250" y="666750"/>
            <a:ext cx="18230850" cy="215900"/>
          </a:xfrm>
          <a:prstGeom prst="rect">
            <a:avLst/>
          </a:prstGeom>
          <a:noFill/>
          <a:ln/>
        </p:spPr>
        <p:txBody>
          <a:bodyPr wrap="square" lIns="25400" tIns="25400" rIns="25400" bIns="25400" rtlCol="0" anchor="t">
            <a:normAutofit/>
          </a:bodyPr>
          <a:lstStyle/>
          <a:p>
            <a:pPr algn="l" indent="0" marL="0">
              <a:buNone/>
            </a:pPr>
            <a:r>
              <a:rPr lang="en-US" sz="1073" spc="215" kern="0" dirty="0">
                <a:solidFill>
                  <a:srgbClr val="15533A"/>
                </a:solidFill>
                <a:latin typeface="Courier New" pitchFamily="34" charset="0"/>
                <a:ea typeface="Courier New" pitchFamily="34" charset="-122"/>
                <a:cs typeface="Courier New" pitchFamily="34" charset="-120"/>
              </a:rPr>
              <a:t>WHAT'S NEXT</a:t>
            </a:r>
            <a:endParaRPr lang="en-US" sz="1073" dirty="0"/>
          </a:p>
        </p:txBody>
      </p:sp>
      <p:sp>
        <p:nvSpPr>
          <p:cNvPr id="3" name="Text 1"/>
          <p:cNvSpPr/>
          <p:nvPr/>
        </p:nvSpPr>
        <p:spPr>
          <a:xfrm>
            <a:off x="857250" y="2860576"/>
            <a:ext cx="4905375" cy="1127720"/>
          </a:xfrm>
          <a:prstGeom prst="rect">
            <a:avLst/>
          </a:prstGeom>
          <a:noFill/>
          <a:ln/>
        </p:spPr>
        <p:txBody>
          <a:bodyPr wrap="square" lIns="25400" tIns="25400" rIns="25400" bIns="25400" rtlCol="0" anchor="t">
            <a:normAutofit/>
          </a:bodyPr>
          <a:lstStyle/>
          <a:p>
            <a:pPr algn="l" indent="0" marL="0">
              <a:lnSpc>
                <a:spcPct val="104000"/>
              </a:lnSpc>
              <a:buNone/>
            </a:pPr>
            <a:r>
              <a:rPr lang="en-US" sz="4125" b="1" spc="-82" kern="0" dirty="0">
                <a:solidFill>
                  <a:srgbClr val="10201A"/>
                </a:solidFill>
                <a:latin typeface="Arial" pitchFamily="34" charset="0"/>
                <a:ea typeface="Arial" pitchFamily="34" charset="-122"/>
                <a:cs typeface="Arial" pitchFamily="34" charset="-120"/>
              </a:rPr>
              <a:t>Converging on the real product.</a:t>
            </a:r>
            <a:endParaRPr lang="en-US" sz="4125" dirty="0"/>
          </a:p>
        </p:txBody>
      </p:sp>
      <p:sp>
        <p:nvSpPr>
          <p:cNvPr id="4" name="Text 2"/>
          <p:cNvSpPr/>
          <p:nvPr/>
        </p:nvSpPr>
        <p:spPr>
          <a:xfrm>
            <a:off x="857250" y="4216896"/>
            <a:ext cx="4905375" cy="2638028"/>
          </a:xfrm>
          <a:prstGeom prst="rect">
            <a:avLst/>
          </a:prstGeom>
          <a:noFill/>
          <a:ln/>
        </p:spPr>
        <p:txBody>
          <a:bodyPr wrap="square" lIns="25400" tIns="25400" rIns="25400" bIns="25400" rtlCol="0" anchor="t">
            <a:normAutofit/>
          </a:bodyPr>
          <a:lstStyle/>
          <a:p>
            <a:pPr algn="l" indent="0" marL="0">
              <a:lnSpc>
                <a:spcPct val="160000"/>
              </a:lnSpc>
              <a:buNone/>
            </a:pPr>
            <a:r>
              <a:rPr lang="en-US" sz="1815" dirty="0">
                <a:solidFill>
                  <a:srgbClr val="1E2C25"/>
                </a:solidFill>
                <a:latin typeface="Arial" pitchFamily="34" charset="0"/>
                <a:ea typeface="Arial" pitchFamily="34" charset="-122"/>
                <a:cs typeface="Arial" pitchFamily="34" charset="-120"/>
              </a:rPr>
              <a:t>We're done debating tenant quality. The real product is a </a:t>
            </a:r>
            <a:pPr algn="l" indent="0" marL="0">
              <a:lnSpc>
                <a:spcPct val="160000"/>
              </a:lnSpc>
              <a:buNone/>
            </a:pPr>
            <a:r>
              <a:rPr lang="en-US" sz="1815" b="1" dirty="0">
                <a:solidFill>
                  <a:srgbClr val="0E1C15"/>
                </a:solidFill>
                <a:latin typeface="Arial" pitchFamily="34" charset="0"/>
                <a:ea typeface="Arial" pitchFamily="34" charset="-122"/>
                <a:cs typeface="Arial" pitchFamily="34" charset="-120"/>
              </a:rPr>
              <a:t>verified, voucher-only marketplace that closes the deal before the voucher expires </a:t>
            </a:r>
            <a:pPr algn="l" indent="0" marL="0">
              <a:lnSpc>
                <a:spcPct val="160000"/>
              </a:lnSpc>
              <a:buNone/>
            </a:pPr>
            <a:r>
              <a:rPr lang="en-US" sz="1815" dirty="0">
                <a:solidFill>
                  <a:srgbClr val="1E2C25"/>
                </a:solidFill>
                <a:latin typeface="Arial" pitchFamily="34" charset="0"/>
                <a:ea typeface="Arial" pitchFamily="34" charset="-122"/>
                <a:cs typeface="Arial" pitchFamily="34" charset="-120"/>
              </a:rPr>
              <a:t>— instant match alerts, HQS inspection tracking, and recertification reminders, built by someone who ran this process inside Atlanta Housing.</a:t>
            </a:r>
            <a:endParaRPr lang="en-US" sz="1815" dirty="0"/>
          </a:p>
        </p:txBody>
      </p:sp>
      <p:sp>
        <p:nvSpPr>
          <p:cNvPr id="5" name="Shape 3"/>
          <p:cNvSpPr/>
          <p:nvPr/>
        </p:nvSpPr>
        <p:spPr>
          <a:xfrm>
            <a:off x="857250" y="7121625"/>
            <a:ext cx="4762500" cy="9525"/>
          </a:xfrm>
          <a:prstGeom prst="rect">
            <a:avLst/>
          </a:prstGeom>
          <a:solidFill>
            <a:srgbClr val="10201A">
              <a:alpha val="28000"/>
            </a:srgbClr>
          </a:solidFill>
          <a:ln/>
        </p:spPr>
      </p:sp>
      <p:sp>
        <p:nvSpPr>
          <p:cNvPr id="6" name="Text 4"/>
          <p:cNvSpPr/>
          <p:nvPr/>
        </p:nvSpPr>
        <p:spPr>
          <a:xfrm>
            <a:off x="857250" y="7356574"/>
            <a:ext cx="1252537" cy="355600"/>
          </a:xfrm>
          <a:prstGeom prst="rect">
            <a:avLst/>
          </a:prstGeom>
          <a:noFill/>
          <a:ln/>
        </p:spPr>
        <p:txBody>
          <a:bodyPr wrap="square" lIns="25400" tIns="25400" rIns="25400" bIns="25400" rtlCol="0" anchor="t">
            <a:normAutofit/>
          </a:bodyPr>
          <a:lstStyle/>
          <a:p>
            <a:pPr algn="l" indent="0" marL="0">
              <a:buNone/>
            </a:pPr>
            <a:r>
              <a:rPr lang="en-US" sz="990" spc="119" kern="0" dirty="0">
                <a:solidFill>
                  <a:srgbClr val="15533A"/>
                </a:solidFill>
                <a:latin typeface="Courier New" pitchFamily="34" charset="0"/>
                <a:ea typeface="Courier New" pitchFamily="34" charset="-122"/>
                <a:cs typeface="Courier New" pitchFamily="34" charset="-120"/>
              </a:rPr>
              <a:t>JUL 20 SPRINT</a:t>
            </a:r>
            <a:pPr algn="l" indent="0" marL="0">
              <a:buNone/>
            </a:pPr>
            <a:r>
              <a:rPr lang="en-US" sz="990" spc="119" kern="0" dirty="0">
                <a:solidFill>
                  <a:srgbClr val="33433B"/>
                </a:solidFill>
                <a:latin typeface="Courier New" pitchFamily="34" charset="0"/>
                <a:ea typeface="Courier New" pitchFamily="34" charset="-122"/>
                <a:cs typeface="Courier New" pitchFamily="34" charset="-120"/>
              </a:rPr>
              <a:t>PILOT RECRUITMENT</a:t>
            </a:r>
            <a:endParaRPr lang="en-US" sz="990" dirty="0"/>
          </a:p>
        </p:txBody>
      </p:sp>
      <p:sp>
        <p:nvSpPr>
          <p:cNvPr id="7" name="Text 5"/>
          <p:cNvSpPr/>
          <p:nvPr/>
        </p:nvSpPr>
        <p:spPr>
          <a:xfrm>
            <a:off x="2376488" y="7356574"/>
            <a:ext cx="1704975" cy="355600"/>
          </a:xfrm>
          <a:prstGeom prst="rect">
            <a:avLst/>
          </a:prstGeom>
          <a:noFill/>
          <a:ln/>
        </p:spPr>
        <p:txBody>
          <a:bodyPr wrap="square" lIns="25400" tIns="25400" rIns="25400" bIns="25400" rtlCol="0" anchor="t">
            <a:normAutofit/>
          </a:bodyPr>
          <a:lstStyle/>
          <a:p>
            <a:pPr algn="l" indent="0" marL="0">
              <a:buNone/>
            </a:pPr>
            <a:r>
              <a:rPr lang="en-US" sz="990" spc="119" kern="0" dirty="0">
                <a:solidFill>
                  <a:srgbClr val="15533A"/>
                </a:solidFill>
                <a:latin typeface="Courier New" pitchFamily="34" charset="0"/>
                <a:ea typeface="Courier New" pitchFamily="34" charset="-122"/>
                <a:cs typeface="Courier New" pitchFamily="34" charset="-120"/>
              </a:rPr>
              <a:t>AUG SPRINT</a:t>
            </a:r>
            <a:pPr algn="l" indent="0" marL="0">
              <a:buNone/>
            </a:pPr>
            <a:r>
              <a:rPr lang="en-US" sz="990" spc="119" kern="0" dirty="0">
                <a:solidFill>
                  <a:srgbClr val="33433B"/>
                </a:solidFill>
                <a:latin typeface="Courier New" pitchFamily="34" charset="0"/>
                <a:ea typeface="Courier New" pitchFamily="34" charset="-122"/>
                <a:cs typeface="Courier New" pitchFamily="34" charset="-120"/>
              </a:rPr>
              <a:t>PM INTEGRATION SPEC</a:t>
            </a:r>
            <a:endParaRPr lang="en-US" sz="990" dirty="0"/>
          </a:p>
        </p:txBody>
      </p:sp>
      <p:sp>
        <p:nvSpPr>
          <p:cNvPr id="8" name="Text 6"/>
          <p:cNvSpPr/>
          <p:nvPr/>
        </p:nvSpPr>
        <p:spPr>
          <a:xfrm>
            <a:off x="4348163" y="7356574"/>
            <a:ext cx="1252537" cy="355600"/>
          </a:xfrm>
          <a:prstGeom prst="rect">
            <a:avLst/>
          </a:prstGeom>
          <a:noFill/>
          <a:ln/>
        </p:spPr>
        <p:txBody>
          <a:bodyPr wrap="square" lIns="25400" tIns="25400" rIns="25400" bIns="25400" rtlCol="0" anchor="t">
            <a:normAutofit/>
          </a:bodyPr>
          <a:lstStyle/>
          <a:p>
            <a:pPr algn="l" indent="0" marL="0">
              <a:buNone/>
            </a:pPr>
            <a:r>
              <a:rPr lang="en-US" sz="990" spc="119" kern="0" dirty="0">
                <a:solidFill>
                  <a:srgbClr val="15533A"/>
                </a:solidFill>
                <a:latin typeface="Courier New" pitchFamily="34" charset="0"/>
                <a:ea typeface="Courier New" pitchFamily="34" charset="-122"/>
                <a:cs typeface="Courier New" pitchFamily="34" charset="-120"/>
              </a:rPr>
              <a:t>ONGOING</a:t>
            </a:r>
            <a:pPr algn="l" indent="0" marL="0">
              <a:buNone/>
            </a:pPr>
            <a:r>
              <a:rPr lang="en-US" sz="990" spc="119" kern="0" dirty="0">
                <a:solidFill>
                  <a:srgbClr val="33433B"/>
                </a:solidFill>
                <a:latin typeface="Courier New" pitchFamily="34" charset="0"/>
                <a:ea typeface="Courier New" pitchFamily="34" charset="-122"/>
                <a:cs typeface="Courier New" pitchFamily="34" charset="-120"/>
              </a:rPr>
              <a:t>COUNSELOR PARTNERSHIP</a:t>
            </a:r>
            <a:endParaRPr lang="en-US" sz="990" dirty="0"/>
          </a:p>
        </p:txBody>
      </p:sp>
      <p:sp>
        <p:nvSpPr>
          <p:cNvPr id="9" name="Text 7"/>
          <p:cNvSpPr/>
          <p:nvPr/>
        </p:nvSpPr>
        <p:spPr>
          <a:xfrm>
            <a:off x="6191250" y="3172222"/>
            <a:ext cx="12363450" cy="215900"/>
          </a:xfrm>
          <a:prstGeom prst="rect">
            <a:avLst/>
          </a:prstGeom>
          <a:noFill/>
          <a:ln/>
        </p:spPr>
        <p:txBody>
          <a:bodyPr wrap="square" lIns="25400" tIns="25400" rIns="25400" bIns="25400" rtlCol="0" anchor="t">
            <a:normAutofit/>
          </a:bodyPr>
          <a:lstStyle/>
          <a:p>
            <a:pPr algn="l" indent="0" marL="0">
              <a:buNone/>
            </a:pPr>
            <a:r>
              <a:rPr lang="en-US" sz="1073" spc="172" kern="0" dirty="0">
                <a:solidFill>
                  <a:srgbClr val="33433B"/>
                </a:solidFill>
                <a:latin typeface="Courier New" pitchFamily="34" charset="0"/>
                <a:ea typeface="Courier New" pitchFamily="34" charset="-122"/>
                <a:cs typeface="Courier New" pitchFamily="34" charset="-120"/>
              </a:rPr>
              <a:t>NEXT FIVE MOVES</a:t>
            </a:r>
            <a:endParaRPr lang="en-US" sz="1073" dirty="0"/>
          </a:p>
        </p:txBody>
      </p:sp>
      <p:sp>
        <p:nvSpPr>
          <p:cNvPr id="10" name="Shape 8"/>
          <p:cNvSpPr/>
          <p:nvPr/>
        </p:nvSpPr>
        <p:spPr>
          <a:xfrm>
            <a:off x="6191250" y="3521472"/>
            <a:ext cx="11239500" cy="9525"/>
          </a:xfrm>
          <a:prstGeom prst="rect">
            <a:avLst/>
          </a:prstGeom>
          <a:solidFill>
            <a:srgbClr val="10201A">
              <a:alpha val="22000"/>
            </a:srgbClr>
          </a:solidFill>
          <a:ln/>
        </p:spPr>
      </p:sp>
      <p:sp>
        <p:nvSpPr>
          <p:cNvPr id="11" name="Text 9"/>
          <p:cNvSpPr/>
          <p:nvPr/>
        </p:nvSpPr>
        <p:spPr>
          <a:xfrm>
            <a:off x="6191250" y="3680222"/>
            <a:ext cx="419100" cy="438150"/>
          </a:xfrm>
          <a:prstGeom prst="rect">
            <a:avLst/>
          </a:prstGeom>
          <a:noFill/>
          <a:ln/>
        </p:spPr>
        <p:txBody>
          <a:bodyPr wrap="square" lIns="25400" tIns="25400" rIns="25400" bIns="25400" rtlCol="0" anchor="t">
            <a:normAutofit/>
          </a:bodyPr>
          <a:lstStyle/>
          <a:p>
            <a:pPr algn="l" indent="0" marL="0">
              <a:buNone/>
            </a:pPr>
            <a:r>
              <a:rPr lang="en-US" sz="2475" b="1" dirty="0">
                <a:solidFill>
                  <a:srgbClr val="15533A"/>
                </a:solidFill>
                <a:latin typeface="Arial" pitchFamily="34" charset="0"/>
                <a:ea typeface="Arial" pitchFamily="34" charset="-122"/>
                <a:cs typeface="Arial" pitchFamily="34" charset="-120"/>
              </a:rPr>
              <a:t>1</a:t>
            </a:r>
            <a:endParaRPr lang="en-US" sz="2475" dirty="0"/>
          </a:p>
        </p:txBody>
      </p:sp>
      <p:sp>
        <p:nvSpPr>
          <p:cNvPr id="12" name="Text 10"/>
          <p:cNvSpPr/>
          <p:nvPr/>
        </p:nvSpPr>
        <p:spPr>
          <a:xfrm>
            <a:off x="6743700" y="3775472"/>
            <a:ext cx="9628714" cy="332978"/>
          </a:xfrm>
          <a:prstGeom prst="rect">
            <a:avLst/>
          </a:prstGeom>
          <a:noFill/>
          <a:ln/>
        </p:spPr>
        <p:txBody>
          <a:bodyPr wrap="square" lIns="25400" tIns="25400" rIns="25400" bIns="25400" rtlCol="0" anchor="t">
            <a:normAutofit/>
          </a:bodyPr>
          <a:lstStyle/>
          <a:p>
            <a:pPr algn="l" indent="0" marL="0">
              <a:lnSpc>
                <a:spcPct val="145000"/>
              </a:lnSpc>
              <a:buNone/>
            </a:pPr>
            <a:r>
              <a:rPr lang="en-US" sz="1568" dirty="0">
                <a:solidFill>
                  <a:srgbClr val="1C2A23"/>
                </a:solidFill>
                <a:latin typeface="Arial" pitchFamily="34" charset="0"/>
                <a:ea typeface="Arial" pitchFamily="34" charset="-122"/>
                <a:cs typeface="Arial" pitchFamily="34" charset="-120"/>
              </a:rPr>
              <a:t>Recruit first pilot cohort to the live (interviews 94–103) — </a:t>
            </a:r>
            <a:pPr algn="l" indent="0" marL="0">
              <a:lnSpc>
                <a:spcPct val="145000"/>
              </a:lnSpc>
              <a:buNone/>
            </a:pPr>
            <a:r>
              <a:rPr lang="en-US" sz="1568" b="1" dirty="0">
                <a:solidFill>
                  <a:srgbClr val="0E1C15"/>
                </a:solidFill>
                <a:latin typeface="Arial" pitchFamily="34" charset="0"/>
                <a:ea typeface="Arial" pitchFamily="34" charset="-122"/>
                <a:cs typeface="Arial" pitchFamily="34" charset="-120"/>
              </a:rPr>
              <a:t>10 landlords, 25 tenants </a:t>
            </a:r>
            <a:pPr algn="l" indent="0" marL="0">
              <a:lnSpc>
                <a:spcPct val="145000"/>
              </a:lnSpc>
              <a:buNone/>
            </a:pPr>
            <a:r>
              <a:rPr lang="en-US" sz="1568" dirty="0">
                <a:solidFill>
                  <a:srgbClr val="1C2A23"/>
                </a:solidFill>
                <a:latin typeface="Arial" pitchFamily="34" charset="0"/>
                <a:ea typeface="Arial" pitchFamily="34" charset="-122"/>
                <a:cs typeface="Arial" pitchFamily="34" charset="-120"/>
              </a:rPr>
              <a:t>in two AHA zip codes.</a:t>
            </a:r>
            <a:endParaRPr lang="en-US" sz="1568" dirty="0"/>
          </a:p>
        </p:txBody>
      </p:sp>
      <p:sp>
        <p:nvSpPr>
          <p:cNvPr id="13" name="Shape 11"/>
          <p:cNvSpPr/>
          <p:nvPr/>
        </p:nvSpPr>
        <p:spPr>
          <a:xfrm>
            <a:off x="6191250" y="4232672"/>
            <a:ext cx="11239500" cy="9525"/>
          </a:xfrm>
          <a:prstGeom prst="rect">
            <a:avLst/>
          </a:prstGeom>
          <a:solidFill>
            <a:srgbClr val="10201A">
              <a:alpha val="22000"/>
            </a:srgbClr>
          </a:solidFill>
          <a:ln/>
        </p:spPr>
      </p:sp>
      <p:sp>
        <p:nvSpPr>
          <p:cNvPr id="14" name="Text 12"/>
          <p:cNvSpPr/>
          <p:nvPr/>
        </p:nvSpPr>
        <p:spPr>
          <a:xfrm>
            <a:off x="6191250" y="4391422"/>
            <a:ext cx="419100" cy="438150"/>
          </a:xfrm>
          <a:prstGeom prst="rect">
            <a:avLst/>
          </a:prstGeom>
          <a:noFill/>
          <a:ln/>
        </p:spPr>
        <p:txBody>
          <a:bodyPr wrap="square" lIns="25400" tIns="25400" rIns="25400" bIns="25400" rtlCol="0" anchor="t">
            <a:normAutofit/>
          </a:bodyPr>
          <a:lstStyle/>
          <a:p>
            <a:pPr algn="l" indent="0" marL="0">
              <a:buNone/>
            </a:pPr>
            <a:r>
              <a:rPr lang="en-US" sz="2475" b="1" dirty="0">
                <a:solidFill>
                  <a:srgbClr val="15533A"/>
                </a:solidFill>
                <a:latin typeface="Arial" pitchFamily="34" charset="0"/>
                <a:ea typeface="Arial" pitchFamily="34" charset="-122"/>
                <a:cs typeface="Arial" pitchFamily="34" charset="-120"/>
              </a:rPr>
              <a:t>2</a:t>
            </a:r>
            <a:endParaRPr lang="en-US" sz="2475" dirty="0"/>
          </a:p>
        </p:txBody>
      </p:sp>
      <p:sp>
        <p:nvSpPr>
          <p:cNvPr id="15" name="Text 13"/>
          <p:cNvSpPr/>
          <p:nvPr/>
        </p:nvSpPr>
        <p:spPr>
          <a:xfrm>
            <a:off x="6743700" y="4486672"/>
            <a:ext cx="11007662" cy="621506"/>
          </a:xfrm>
          <a:prstGeom prst="rect">
            <a:avLst/>
          </a:prstGeom>
          <a:noFill/>
          <a:ln/>
        </p:spPr>
        <p:txBody>
          <a:bodyPr wrap="square" lIns="25400" tIns="25400" rIns="25400" bIns="25400" rtlCol="0" anchor="t">
            <a:normAutofit/>
          </a:bodyPr>
          <a:lstStyle/>
          <a:p>
            <a:pPr algn="l" indent="0" marL="0">
              <a:lnSpc>
                <a:spcPct val="145000"/>
              </a:lnSpc>
              <a:buNone/>
            </a:pPr>
            <a:r>
              <a:rPr lang="en-US" sz="1568" dirty="0">
                <a:solidFill>
                  <a:srgbClr val="1C2A23"/>
                </a:solidFill>
                <a:latin typeface="Arial" pitchFamily="34" charset="0"/>
                <a:ea typeface="Arial" pitchFamily="34" charset="-122"/>
                <a:cs typeface="Arial" pitchFamily="34" charset="-120"/>
              </a:rPr>
              <a:t>Turn our </a:t>
            </a:r>
            <a:pPr algn="l" indent="0" marL="0">
              <a:lnSpc>
                <a:spcPct val="145000"/>
              </a:lnSpc>
              <a:buNone/>
            </a:pPr>
            <a:r>
              <a:rPr lang="en-US" sz="1568" b="1" dirty="0">
                <a:solidFill>
                  <a:srgbClr val="0E1C15"/>
                </a:solidFill>
                <a:latin typeface="Arial" pitchFamily="34" charset="0"/>
                <a:ea typeface="Arial" pitchFamily="34" charset="-122"/>
                <a:cs typeface="Arial" pitchFamily="34" charset="-120"/>
              </a:rPr>
              <a:t>gatekeeper interviews into a partnership </a:t>
            </a:r>
            <a:pPr algn="l" indent="0" marL="0">
              <a:lnSpc>
                <a:spcPct val="145000"/>
              </a:lnSpc>
              <a:buNone/>
            </a:pPr>
            <a:r>
              <a:rPr lang="en-US" sz="1568" dirty="0">
                <a:solidFill>
                  <a:srgbClr val="1C2A23"/>
                </a:solidFill>
                <a:latin typeface="Arial" pitchFamily="34" charset="0"/>
                <a:ea typeface="Arial" pitchFamily="34" charset="-122"/>
                <a:cs typeface="Arial" pitchFamily="34" charset="-120"/>
              </a:rPr>
              <a:t>— recruit case managers &amp; inspectors as champions of the RFTA pre-vet.</a:t>
            </a:r>
            <a:endParaRPr lang="en-US" sz="1568" dirty="0"/>
          </a:p>
        </p:txBody>
      </p:sp>
      <p:sp>
        <p:nvSpPr>
          <p:cNvPr id="16" name="Shape 14"/>
          <p:cNvSpPr/>
          <p:nvPr/>
        </p:nvSpPr>
        <p:spPr>
          <a:xfrm>
            <a:off x="6191250" y="5222478"/>
            <a:ext cx="11239500" cy="9525"/>
          </a:xfrm>
          <a:prstGeom prst="rect">
            <a:avLst/>
          </a:prstGeom>
          <a:solidFill>
            <a:srgbClr val="10201A">
              <a:alpha val="22000"/>
            </a:srgbClr>
          </a:solidFill>
          <a:ln/>
        </p:spPr>
      </p:sp>
      <p:sp>
        <p:nvSpPr>
          <p:cNvPr id="17" name="Text 15"/>
          <p:cNvSpPr/>
          <p:nvPr/>
        </p:nvSpPr>
        <p:spPr>
          <a:xfrm>
            <a:off x="6191250" y="5381229"/>
            <a:ext cx="419100" cy="438150"/>
          </a:xfrm>
          <a:prstGeom prst="rect">
            <a:avLst/>
          </a:prstGeom>
          <a:noFill/>
          <a:ln/>
        </p:spPr>
        <p:txBody>
          <a:bodyPr wrap="square" lIns="25400" tIns="25400" rIns="25400" bIns="25400" rtlCol="0" anchor="t">
            <a:normAutofit/>
          </a:bodyPr>
          <a:lstStyle/>
          <a:p>
            <a:pPr algn="l" indent="0" marL="0">
              <a:buNone/>
            </a:pPr>
            <a:r>
              <a:rPr lang="en-US" sz="2475" b="1" dirty="0">
                <a:solidFill>
                  <a:srgbClr val="15533A"/>
                </a:solidFill>
                <a:latin typeface="Arial" pitchFamily="34" charset="0"/>
                <a:ea typeface="Arial" pitchFamily="34" charset="-122"/>
                <a:cs typeface="Arial" pitchFamily="34" charset="-120"/>
              </a:rPr>
              <a:t>3</a:t>
            </a:r>
            <a:endParaRPr lang="en-US" sz="2475" dirty="0"/>
          </a:p>
        </p:txBody>
      </p:sp>
      <p:sp>
        <p:nvSpPr>
          <p:cNvPr id="18" name="Text 16"/>
          <p:cNvSpPr/>
          <p:nvPr/>
        </p:nvSpPr>
        <p:spPr>
          <a:xfrm>
            <a:off x="6743700" y="5476479"/>
            <a:ext cx="10759520" cy="332978"/>
          </a:xfrm>
          <a:prstGeom prst="rect">
            <a:avLst/>
          </a:prstGeom>
          <a:noFill/>
          <a:ln/>
        </p:spPr>
        <p:txBody>
          <a:bodyPr wrap="square" lIns="25400" tIns="25400" rIns="25400" bIns="25400" rtlCol="0" anchor="t">
            <a:normAutofit/>
          </a:bodyPr>
          <a:lstStyle/>
          <a:p>
            <a:pPr algn="l" indent="0" marL="0">
              <a:lnSpc>
                <a:spcPct val="145000"/>
              </a:lnSpc>
              <a:buNone/>
            </a:pPr>
            <a:r>
              <a:rPr lang="en-US" sz="1568" dirty="0">
                <a:solidFill>
                  <a:srgbClr val="1C2A23"/>
                </a:solidFill>
                <a:latin typeface="Arial" pitchFamily="34" charset="0"/>
                <a:ea typeface="Arial" pitchFamily="34" charset="-122"/>
                <a:cs typeface="Arial" pitchFamily="34" charset="-120"/>
              </a:rPr>
              <a:t>Spec the bulk-upload API — </a:t>
            </a:r>
            <a:pPr algn="l" indent="0" marL="0">
              <a:lnSpc>
                <a:spcPct val="145000"/>
              </a:lnSpc>
              <a:buNone/>
            </a:pPr>
            <a:r>
              <a:rPr lang="en-US" sz="1568" b="1" dirty="0">
                <a:solidFill>
                  <a:srgbClr val="0E1C15"/>
                </a:solidFill>
                <a:latin typeface="Arial" pitchFamily="34" charset="0"/>
                <a:ea typeface="Arial" pitchFamily="34" charset="-122"/>
                <a:cs typeface="Arial" pitchFamily="34" charset="-120"/>
              </a:rPr>
              <a:t>Yardi / AppFolio integration </a:t>
            </a:r>
            <a:pPr algn="l" indent="0" marL="0">
              <a:lnSpc>
                <a:spcPct val="145000"/>
              </a:lnSpc>
              <a:buNone/>
            </a:pPr>
            <a:r>
              <a:rPr lang="en-US" sz="1568" dirty="0">
                <a:solidFill>
                  <a:srgbClr val="1C2A23"/>
                </a:solidFill>
                <a:latin typeface="Arial" pitchFamily="34" charset="0"/>
                <a:ea typeface="Arial" pitchFamily="34" charset="-122"/>
                <a:cs typeface="Arial" pitchFamily="34" charset="-120"/>
              </a:rPr>
              <a:t>to meet mid-market PM demand surfaced in interviews 84–93.</a:t>
            </a:r>
            <a:endParaRPr lang="en-US" sz="1568" dirty="0"/>
          </a:p>
        </p:txBody>
      </p:sp>
      <p:sp>
        <p:nvSpPr>
          <p:cNvPr id="19" name="Shape 17"/>
          <p:cNvSpPr/>
          <p:nvPr/>
        </p:nvSpPr>
        <p:spPr>
          <a:xfrm>
            <a:off x="6191250" y="5933679"/>
            <a:ext cx="11239500" cy="9525"/>
          </a:xfrm>
          <a:prstGeom prst="rect">
            <a:avLst/>
          </a:prstGeom>
          <a:solidFill>
            <a:srgbClr val="10201A">
              <a:alpha val="22000"/>
            </a:srgbClr>
          </a:solidFill>
          <a:ln/>
        </p:spPr>
      </p:sp>
      <p:sp>
        <p:nvSpPr>
          <p:cNvPr id="20" name="Text 18"/>
          <p:cNvSpPr/>
          <p:nvPr/>
        </p:nvSpPr>
        <p:spPr>
          <a:xfrm>
            <a:off x="6191250" y="6092428"/>
            <a:ext cx="419100" cy="438150"/>
          </a:xfrm>
          <a:prstGeom prst="rect">
            <a:avLst/>
          </a:prstGeom>
          <a:noFill/>
          <a:ln/>
        </p:spPr>
        <p:txBody>
          <a:bodyPr wrap="square" lIns="25400" tIns="25400" rIns="25400" bIns="25400" rtlCol="0" anchor="t">
            <a:normAutofit/>
          </a:bodyPr>
          <a:lstStyle/>
          <a:p>
            <a:pPr algn="l" indent="0" marL="0">
              <a:buNone/>
            </a:pPr>
            <a:r>
              <a:rPr lang="en-US" sz="2475" b="1" dirty="0">
                <a:solidFill>
                  <a:srgbClr val="15533A"/>
                </a:solidFill>
                <a:latin typeface="Arial" pitchFamily="34" charset="0"/>
                <a:ea typeface="Arial" pitchFamily="34" charset="-122"/>
                <a:cs typeface="Arial" pitchFamily="34" charset="-120"/>
              </a:rPr>
              <a:t>4</a:t>
            </a:r>
            <a:endParaRPr lang="en-US" sz="2475" dirty="0"/>
          </a:p>
        </p:txBody>
      </p:sp>
      <p:sp>
        <p:nvSpPr>
          <p:cNvPr id="21" name="Text 19"/>
          <p:cNvSpPr/>
          <p:nvPr/>
        </p:nvSpPr>
        <p:spPr>
          <a:xfrm>
            <a:off x="6743700" y="6187678"/>
            <a:ext cx="8802956" cy="332978"/>
          </a:xfrm>
          <a:prstGeom prst="rect">
            <a:avLst/>
          </a:prstGeom>
          <a:noFill/>
          <a:ln/>
        </p:spPr>
        <p:txBody>
          <a:bodyPr wrap="square" lIns="25400" tIns="25400" rIns="25400" bIns="25400" rtlCol="0" anchor="t">
            <a:normAutofit/>
          </a:bodyPr>
          <a:lstStyle/>
          <a:p>
            <a:pPr algn="l" indent="0" marL="0">
              <a:lnSpc>
                <a:spcPct val="145000"/>
              </a:lnSpc>
              <a:buNone/>
            </a:pPr>
            <a:r>
              <a:rPr lang="en-US" sz="1568" dirty="0">
                <a:solidFill>
                  <a:srgbClr val="1C2A23"/>
                </a:solidFill>
                <a:latin typeface="Arial" pitchFamily="34" charset="0"/>
                <a:ea typeface="Arial" pitchFamily="34" charset="-122"/>
                <a:cs typeface="Arial" pitchFamily="34" charset="-120"/>
              </a:rPr>
              <a:t>Pursue one </a:t>
            </a:r>
            <a:pPr algn="l" indent="0" marL="0">
              <a:lnSpc>
                <a:spcPct val="145000"/>
              </a:lnSpc>
              <a:buNone/>
            </a:pPr>
            <a:r>
              <a:rPr lang="en-US" sz="1568" b="1" dirty="0">
                <a:solidFill>
                  <a:srgbClr val="0E1C15"/>
                </a:solidFill>
                <a:latin typeface="Arial" pitchFamily="34" charset="0"/>
                <a:ea typeface="Arial" pitchFamily="34" charset="-122"/>
                <a:cs typeface="Arial" pitchFamily="34" charset="-120"/>
              </a:rPr>
              <a:t>housing-authority partnership </a:t>
            </a:r>
            <a:pPr algn="l" indent="0" marL="0">
              <a:lnSpc>
                <a:spcPct val="145000"/>
              </a:lnSpc>
              <a:buNone/>
            </a:pPr>
            <a:r>
              <a:rPr lang="en-US" sz="1568" dirty="0">
                <a:solidFill>
                  <a:srgbClr val="1C2A23"/>
                </a:solidFill>
                <a:latin typeface="Arial" pitchFamily="34" charset="0"/>
                <a:ea typeface="Arial" pitchFamily="34" charset="-122"/>
                <a:cs typeface="Arial" pitchFamily="34" charset="-120"/>
              </a:rPr>
              <a:t>for verified payment-standard &amp; inspection data.</a:t>
            </a:r>
            <a:endParaRPr lang="en-US" sz="1568" dirty="0"/>
          </a:p>
        </p:txBody>
      </p:sp>
      <p:sp>
        <p:nvSpPr>
          <p:cNvPr id="22" name="Shape 20"/>
          <p:cNvSpPr/>
          <p:nvPr/>
        </p:nvSpPr>
        <p:spPr>
          <a:xfrm>
            <a:off x="6191250" y="7356078"/>
            <a:ext cx="11239500" cy="9525"/>
          </a:xfrm>
          <a:prstGeom prst="rect">
            <a:avLst/>
          </a:prstGeom>
          <a:solidFill>
            <a:srgbClr val="10201A">
              <a:alpha val="22000"/>
            </a:srgbClr>
          </a:solidFill>
          <a:ln/>
        </p:spPr>
      </p:sp>
      <p:sp>
        <p:nvSpPr>
          <p:cNvPr id="23" name="Shape 21"/>
          <p:cNvSpPr/>
          <p:nvPr/>
        </p:nvSpPr>
        <p:spPr>
          <a:xfrm>
            <a:off x="6191250" y="6644878"/>
            <a:ext cx="11239500" cy="9525"/>
          </a:xfrm>
          <a:prstGeom prst="rect">
            <a:avLst/>
          </a:prstGeom>
          <a:solidFill>
            <a:srgbClr val="10201A">
              <a:alpha val="22000"/>
            </a:srgbClr>
          </a:solidFill>
          <a:ln/>
        </p:spPr>
      </p:sp>
      <p:sp>
        <p:nvSpPr>
          <p:cNvPr id="24" name="Text 22"/>
          <p:cNvSpPr/>
          <p:nvPr/>
        </p:nvSpPr>
        <p:spPr>
          <a:xfrm>
            <a:off x="6191250" y="6803628"/>
            <a:ext cx="419100" cy="438150"/>
          </a:xfrm>
          <a:prstGeom prst="rect">
            <a:avLst/>
          </a:prstGeom>
          <a:noFill/>
          <a:ln/>
        </p:spPr>
        <p:txBody>
          <a:bodyPr wrap="square" lIns="25400" tIns="25400" rIns="25400" bIns="25400" rtlCol="0" anchor="t">
            <a:normAutofit/>
          </a:bodyPr>
          <a:lstStyle/>
          <a:p>
            <a:pPr algn="l" indent="0" marL="0">
              <a:buNone/>
            </a:pPr>
            <a:r>
              <a:rPr lang="en-US" sz="2475" b="1" dirty="0">
                <a:solidFill>
                  <a:srgbClr val="15533A"/>
                </a:solidFill>
                <a:latin typeface="Arial" pitchFamily="34" charset="0"/>
                <a:ea typeface="Arial" pitchFamily="34" charset="-122"/>
                <a:cs typeface="Arial" pitchFamily="34" charset="-120"/>
              </a:rPr>
              <a:t>5</a:t>
            </a:r>
            <a:endParaRPr lang="en-US" sz="2475" dirty="0"/>
          </a:p>
        </p:txBody>
      </p:sp>
      <p:sp>
        <p:nvSpPr>
          <p:cNvPr id="25" name="Text 23"/>
          <p:cNvSpPr/>
          <p:nvPr/>
        </p:nvSpPr>
        <p:spPr>
          <a:xfrm>
            <a:off x="6743700" y="6898878"/>
            <a:ext cx="6831985" cy="332978"/>
          </a:xfrm>
          <a:prstGeom prst="rect">
            <a:avLst/>
          </a:prstGeom>
          <a:noFill/>
          <a:ln/>
        </p:spPr>
        <p:txBody>
          <a:bodyPr wrap="square" lIns="25400" tIns="25400" rIns="25400" bIns="25400" rtlCol="0" anchor="t">
            <a:normAutofit/>
          </a:bodyPr>
          <a:lstStyle/>
          <a:p>
            <a:pPr algn="l" indent="0" marL="0">
              <a:lnSpc>
                <a:spcPct val="145000"/>
              </a:lnSpc>
              <a:buNone/>
            </a:pPr>
            <a:r>
              <a:rPr lang="en-US" sz="1568" dirty="0">
                <a:solidFill>
                  <a:srgbClr val="1C2A23"/>
                </a:solidFill>
                <a:latin typeface="Arial" pitchFamily="34" charset="0"/>
                <a:ea typeface="Arial" pitchFamily="34" charset="-122"/>
                <a:cs typeface="Arial" pitchFamily="34" charset="-120"/>
              </a:rPr>
              <a:t>Formalize nonprofit counselor partnerships </a:t>
            </a:r>
            <a:pPr algn="l" indent="0" marL="0">
              <a:lnSpc>
                <a:spcPct val="145000"/>
              </a:lnSpc>
              <a:buNone/>
            </a:pPr>
            <a:r>
              <a:rPr lang="en-US" sz="1568" b="1" dirty="0">
                <a:solidFill>
                  <a:srgbClr val="0E1C15"/>
                </a:solidFill>
                <a:latin typeface="Arial" pitchFamily="34" charset="0"/>
                <a:ea typeface="Arial" pitchFamily="34" charset="-122"/>
                <a:cs typeface="Arial" pitchFamily="34" charset="-120"/>
              </a:rPr>
              <a:t>(interviews 94–103) </a:t>
            </a:r>
            <a:pPr algn="l" indent="0" marL="0">
              <a:lnSpc>
                <a:spcPct val="145000"/>
              </a:lnSpc>
              <a:buNone/>
            </a:pPr>
            <a:r>
              <a:rPr lang="en-US" sz="1568" dirty="0">
                <a:solidFill>
                  <a:srgbClr val="1C2A23"/>
                </a:solidFill>
                <a:latin typeface="Arial" pitchFamily="34" charset="0"/>
                <a:ea typeface="Arial" pitchFamily="34" charset="-122"/>
                <a:cs typeface="Arial" pitchFamily="34" charset="-120"/>
              </a:rPr>
              <a:t>as a referral channel into the platform.</a:t>
            </a:r>
            <a:endParaRPr lang="en-US" sz="1568" dirty="0"/>
          </a:p>
        </p:txBody>
      </p:sp>
      <p:sp>
        <p:nvSpPr>
          <p:cNvPr id="26" name="Text 24"/>
          <p:cNvSpPr/>
          <p:nvPr/>
        </p:nvSpPr>
        <p:spPr>
          <a:xfrm>
            <a:off x="857250" y="9556750"/>
            <a:ext cx="2372390"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33433B"/>
                </a:solidFill>
                <a:latin typeface="Courier New" pitchFamily="34" charset="0"/>
                <a:ea typeface="Courier New" pitchFamily="34" charset="-122"/>
                <a:cs typeface="Courier New" pitchFamily="34" charset="-120"/>
              </a:rPr>
              <a:t>SETTLEED · WHAT'S NEXT</a:t>
            </a:r>
            <a:endParaRPr lang="en-US" sz="990" dirty="0"/>
          </a:p>
        </p:txBody>
      </p:sp>
      <p:sp>
        <p:nvSpPr>
          <p:cNvPr id="27" name="Text 25"/>
          <p:cNvSpPr/>
          <p:nvPr/>
        </p:nvSpPr>
        <p:spPr>
          <a:xfrm>
            <a:off x="16744455" y="9556750"/>
            <a:ext cx="762496"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33433B"/>
                </a:solidFill>
                <a:latin typeface="Courier New" pitchFamily="34" charset="0"/>
                <a:ea typeface="Courier New" pitchFamily="34" charset="-122"/>
                <a:cs typeface="Courier New" pitchFamily="34" charset="-120"/>
              </a:rPr>
              <a:t>15 / 16</a:t>
            </a:r>
            <a:endParaRPr lang="en-US" sz="99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762000" y="1556147"/>
            <a:ext cx="16764000" cy="12700"/>
          </a:xfrm>
          <a:prstGeom prst="rect">
            <a:avLst/>
          </a:prstGeom>
          <a:solidFill>
            <a:srgbClr val="2F6F6B"/>
          </a:solidFill>
          <a:ln/>
        </p:spPr>
      </p:sp>
      <p:sp>
        <p:nvSpPr>
          <p:cNvPr id="3" name="Text 1"/>
          <p:cNvSpPr/>
          <p:nvPr/>
        </p:nvSpPr>
        <p:spPr>
          <a:xfrm>
            <a:off x="762000" y="721122"/>
            <a:ext cx="7797116" cy="215900"/>
          </a:xfrm>
          <a:prstGeom prst="rect">
            <a:avLst/>
          </a:prstGeom>
          <a:noFill/>
          <a:ln/>
        </p:spPr>
        <p:txBody>
          <a:bodyPr wrap="square" lIns="25400" tIns="25400" rIns="25400" bIns="25400" rtlCol="0" anchor="t">
            <a:normAutofit/>
          </a:bodyPr>
          <a:lstStyle/>
          <a:p>
            <a:pPr algn="l" indent="0" marL="0">
              <a:buNone/>
            </a:pPr>
            <a:r>
              <a:rPr lang="en-US" sz="1073" spc="215" kern="0" dirty="0">
                <a:solidFill>
                  <a:srgbClr val="2F6F6B"/>
                </a:solidFill>
                <a:latin typeface="Courier New" pitchFamily="34" charset="0"/>
                <a:ea typeface="Courier New" pitchFamily="34" charset="-122"/>
                <a:cs typeface="Courier New" pitchFamily="34" charset="-120"/>
              </a:rPr>
              <a:t>CUSTOMER DISCOVERY REPORT</a:t>
            </a:r>
            <a:endParaRPr lang="en-US" sz="1073" dirty="0"/>
          </a:p>
        </p:txBody>
      </p:sp>
      <p:sp>
        <p:nvSpPr>
          <p:cNvPr id="4" name="Text 2"/>
          <p:cNvSpPr/>
          <p:nvPr/>
        </p:nvSpPr>
        <p:spPr>
          <a:xfrm>
            <a:off x="762000" y="975122"/>
            <a:ext cx="7797116" cy="466725"/>
          </a:xfrm>
          <a:prstGeom prst="rect">
            <a:avLst/>
          </a:prstGeom>
          <a:noFill/>
          <a:ln/>
        </p:spPr>
        <p:txBody>
          <a:bodyPr wrap="square" lIns="25400" tIns="25400" rIns="25400" bIns="25400" rtlCol="0" anchor="t">
            <a:normAutofit/>
          </a:bodyPr>
          <a:lstStyle/>
          <a:p>
            <a:pPr algn="l" indent="0" marL="0">
              <a:lnSpc>
                <a:spcPct val="100000"/>
              </a:lnSpc>
              <a:buNone/>
            </a:pPr>
            <a:r>
              <a:rPr lang="en-US" sz="3375" b="1" spc="-67" kern="0" dirty="0">
                <a:solidFill>
                  <a:srgbClr val="18221E"/>
                </a:solidFill>
                <a:latin typeface="Arial" pitchFamily="34" charset="0"/>
                <a:ea typeface="Arial" pitchFamily="34" charset="-122"/>
                <a:cs typeface="Arial" pitchFamily="34" charset="-120"/>
              </a:rPr>
              <a:t>Housing Counselors </a:t>
            </a:r>
            <a:pPr algn="l" indent="0" marL="0">
              <a:lnSpc>
                <a:spcPct val="100000"/>
              </a:lnSpc>
              <a:buNone/>
            </a:pPr>
            <a:r>
              <a:rPr lang="en-US" sz="3375" spc="-67" kern="0" dirty="0">
                <a:solidFill>
                  <a:srgbClr val="9AA39D"/>
                </a:solidFill>
                <a:latin typeface="Arial" pitchFamily="34" charset="0"/>
                <a:ea typeface="Arial" pitchFamily="34" charset="-122"/>
                <a:cs typeface="Arial" pitchFamily="34" charset="-120"/>
              </a:rPr>
              <a:t>· the referral layer</a:t>
            </a:r>
            <a:endParaRPr lang="en-US" sz="3375" dirty="0"/>
          </a:p>
        </p:txBody>
      </p:sp>
      <p:sp>
        <p:nvSpPr>
          <p:cNvPr id="5" name="Text 3"/>
          <p:cNvSpPr/>
          <p:nvPr/>
        </p:nvSpPr>
        <p:spPr>
          <a:xfrm>
            <a:off x="13906202" y="609600"/>
            <a:ext cx="898525" cy="641548"/>
          </a:xfrm>
          <a:prstGeom prst="rect">
            <a:avLst/>
          </a:prstGeom>
          <a:noFill/>
          <a:ln/>
        </p:spPr>
        <p:txBody>
          <a:bodyPr wrap="square" lIns="25400" tIns="25400" rIns="25400" bIns="25400" rtlCol="0" anchor="t">
            <a:normAutofit/>
          </a:bodyPr>
          <a:lstStyle/>
          <a:p>
            <a:pPr algn="r" indent="0" marL="0">
              <a:lnSpc>
                <a:spcPct val="80000"/>
              </a:lnSpc>
              <a:buNone/>
            </a:pPr>
            <a:r>
              <a:rPr lang="en-US" sz="5940" b="1" dirty="0">
                <a:solidFill>
                  <a:srgbClr val="2F6F6B"/>
                </a:solidFill>
                <a:latin typeface="Arial" pitchFamily="34" charset="0"/>
                <a:ea typeface="Arial" pitchFamily="34" charset="-122"/>
                <a:cs typeface="Arial" pitchFamily="34" charset="-120"/>
              </a:rPr>
              <a:t>10</a:t>
            </a:r>
            <a:endParaRPr lang="en-US" sz="5940" dirty="0"/>
          </a:p>
        </p:txBody>
      </p:sp>
      <p:sp>
        <p:nvSpPr>
          <p:cNvPr id="6" name="Text 4"/>
          <p:cNvSpPr/>
          <p:nvPr/>
        </p:nvSpPr>
        <p:spPr>
          <a:xfrm>
            <a:off x="14899683" y="1022350"/>
            <a:ext cx="2626318" cy="419497"/>
          </a:xfrm>
          <a:prstGeom prst="rect">
            <a:avLst/>
          </a:prstGeom>
          <a:noFill/>
          <a:ln/>
        </p:spPr>
        <p:txBody>
          <a:bodyPr wrap="square" lIns="25400" tIns="25400" rIns="25400" bIns="25400" rtlCol="0" anchor="t">
            <a:normAutofit/>
          </a:bodyPr>
          <a:lstStyle/>
          <a:p>
            <a:pPr algn="r" indent="0" marL="0">
              <a:lnSpc>
                <a:spcPct val="140000"/>
              </a:lnSpc>
              <a:buNone/>
            </a:pPr>
            <a:r>
              <a:rPr lang="en-US" sz="1073" spc="129" kern="0" dirty="0">
                <a:solidFill>
                  <a:srgbClr val="5C6660"/>
                </a:solidFill>
                <a:latin typeface="Courier New" pitchFamily="34" charset="0"/>
                <a:ea typeface="Courier New" pitchFamily="34" charset="-122"/>
                <a:cs typeface="Courier New" pitchFamily="34" charset="-120"/>
              </a:rPr>
              <a:t>INTERVIEWS 5 NONPROFITS · 5 COUNSELORS</a:t>
            </a:r>
            <a:endParaRPr lang="en-US" sz="1073" dirty="0"/>
          </a:p>
        </p:txBody>
      </p:sp>
      <p:sp>
        <p:nvSpPr>
          <p:cNvPr id="7" name="Shape 5"/>
          <p:cNvSpPr/>
          <p:nvPr/>
        </p:nvSpPr>
        <p:spPr>
          <a:xfrm>
            <a:off x="762000" y="1778397"/>
            <a:ext cx="8286750" cy="3708202"/>
          </a:xfrm>
          <a:prstGeom prst="roundRect">
            <a:avLst>
              <a:gd name="adj" fmla="val 1541"/>
            </a:avLst>
          </a:prstGeom>
          <a:solidFill>
            <a:srgbClr val="FFFFFF"/>
          </a:solidFill>
          <a:ln w="6350">
            <a:solidFill>
              <a:srgbClr val="18221E">
                <a:alpha val="12000"/>
              </a:srgbClr>
            </a:solidFill>
            <a:prstDash val="solid"/>
          </a:ln>
        </p:spPr>
      </p:sp>
      <p:sp>
        <p:nvSpPr>
          <p:cNvPr id="8" name="Text 6"/>
          <p:cNvSpPr/>
          <p:nvPr/>
        </p:nvSpPr>
        <p:spPr>
          <a:xfrm>
            <a:off x="1073150" y="2051447"/>
            <a:ext cx="7894384" cy="336550"/>
          </a:xfrm>
          <a:prstGeom prst="rect">
            <a:avLst/>
          </a:prstGeom>
          <a:noFill/>
          <a:ln/>
        </p:spPr>
        <p:txBody>
          <a:bodyPr wrap="square" lIns="25400" tIns="25400" rIns="25400" bIns="25400" rtlCol="0" anchor="t">
            <a:normAutofit/>
          </a:bodyPr>
          <a:lstStyle/>
          <a:p>
            <a:pPr algn="l" indent="0" marL="0">
              <a:buNone/>
            </a:pPr>
            <a:r>
              <a:rPr lang="en-US" sz="1815" b="1" spc="150" kern="0" dirty="0">
                <a:solidFill>
                  <a:srgbClr val="2F6F6B"/>
                </a:solidFill>
                <a:latin typeface="Arial" pitchFamily="34" charset="0"/>
                <a:ea typeface="Arial" pitchFamily="34" charset="-122"/>
                <a:cs typeface="Arial" pitchFamily="34" charset="-120"/>
              </a:rPr>
              <a:t>1 </a:t>
            </a:r>
            <a:pPr algn="l" indent="0" marL="0">
              <a:buNone/>
            </a:pPr>
            <a:r>
              <a:rPr lang="en-US" sz="1073" spc="150" kern="0" dirty="0">
                <a:solidFill>
                  <a:srgbClr val="2F6F6B"/>
                </a:solidFill>
                <a:latin typeface="Courier New" pitchFamily="34" charset="0"/>
                <a:ea typeface="Courier New" pitchFamily="34" charset="-122"/>
                <a:cs typeface="Courier New" pitchFamily="34" charset="-120"/>
              </a:rPr>
              <a:t>WHAT DID WE THINK?</a:t>
            </a:r>
            <a:endParaRPr lang="en-US" sz="1073" dirty="0"/>
          </a:p>
        </p:txBody>
      </p:sp>
      <p:sp>
        <p:nvSpPr>
          <p:cNvPr id="9" name="Text 7"/>
          <p:cNvSpPr/>
          <p:nvPr/>
        </p:nvSpPr>
        <p:spPr>
          <a:xfrm>
            <a:off x="1073150" y="2521347"/>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F6F6B"/>
                </a:solidFill>
                <a:latin typeface="Arial" pitchFamily="34" charset="0"/>
                <a:ea typeface="Arial" pitchFamily="34" charset="-122"/>
                <a:cs typeface="Arial" pitchFamily="34" charset="-120"/>
              </a:rPr>
              <a:t>—</a:t>
            </a:r>
            <a:endParaRPr lang="en-US" sz="1568" dirty="0"/>
          </a:p>
        </p:txBody>
      </p:sp>
      <p:sp>
        <p:nvSpPr>
          <p:cNvPr id="10" name="Text 8"/>
          <p:cNvSpPr/>
          <p:nvPr/>
        </p:nvSpPr>
        <p:spPr>
          <a:xfrm>
            <a:off x="1263650" y="2527697"/>
            <a:ext cx="3155485"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Counselors and navigators are</a:t>
            </a:r>
            <a:endParaRPr lang="en-US" sz="1568" dirty="0"/>
          </a:p>
        </p:txBody>
      </p:sp>
      <p:sp>
        <p:nvSpPr>
          <p:cNvPr id="11" name="Text 9"/>
          <p:cNvSpPr/>
          <p:nvPr/>
        </p:nvSpPr>
        <p:spPr>
          <a:xfrm>
            <a:off x="4374257" y="2553097"/>
            <a:ext cx="1886277"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back-office support</a:t>
            </a:r>
            <a:endParaRPr lang="en-US" sz="1568" dirty="0"/>
          </a:p>
        </p:txBody>
      </p:sp>
      <p:sp>
        <p:nvSpPr>
          <p:cNvPr id="12" name="Text 10"/>
          <p:cNvSpPr/>
          <p:nvPr/>
        </p:nvSpPr>
        <p:spPr>
          <a:xfrm>
            <a:off x="1263650" y="2527697"/>
            <a:ext cx="7674663" cy="58340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outside our market — not our customers.</a:t>
            </a:r>
            <a:endParaRPr lang="en-US" sz="1568" dirty="0"/>
          </a:p>
        </p:txBody>
      </p:sp>
      <p:sp>
        <p:nvSpPr>
          <p:cNvPr id="13" name="Text 11"/>
          <p:cNvSpPr/>
          <p:nvPr/>
        </p:nvSpPr>
        <p:spPr>
          <a:xfrm>
            <a:off x="1073150" y="3189684"/>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F6F6B"/>
                </a:solidFill>
                <a:latin typeface="Arial" pitchFamily="34" charset="0"/>
                <a:ea typeface="Arial" pitchFamily="34" charset="-122"/>
                <a:cs typeface="Arial" pitchFamily="34" charset="-120"/>
              </a:rPr>
              <a:t>—</a:t>
            </a:r>
            <a:endParaRPr lang="en-US" sz="1568" dirty="0"/>
          </a:p>
        </p:txBody>
      </p:sp>
      <p:sp>
        <p:nvSpPr>
          <p:cNvPr id="14" name="Text 12"/>
          <p:cNvSpPr/>
          <p:nvPr/>
        </p:nvSpPr>
        <p:spPr>
          <a:xfrm>
            <a:off x="1263650" y="3196035"/>
            <a:ext cx="7316776"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They help tenants find units informally — a word-of-mouth network we can't touch.</a:t>
            </a:r>
            <a:endParaRPr lang="en-US" sz="1568" dirty="0"/>
          </a:p>
        </p:txBody>
      </p:sp>
      <p:sp>
        <p:nvSpPr>
          <p:cNvPr id="15" name="Shape 13"/>
          <p:cNvSpPr/>
          <p:nvPr/>
        </p:nvSpPr>
        <p:spPr>
          <a:xfrm>
            <a:off x="9239250" y="1778397"/>
            <a:ext cx="8286750" cy="3708202"/>
          </a:xfrm>
          <a:prstGeom prst="roundRect">
            <a:avLst>
              <a:gd name="adj" fmla="val 1541"/>
            </a:avLst>
          </a:prstGeom>
          <a:solidFill>
            <a:srgbClr val="FFFFFF"/>
          </a:solidFill>
          <a:ln w="6350">
            <a:solidFill>
              <a:srgbClr val="18221E">
                <a:alpha val="12000"/>
              </a:srgbClr>
            </a:solidFill>
            <a:prstDash val="solid"/>
          </a:ln>
        </p:spPr>
      </p:sp>
      <p:sp>
        <p:nvSpPr>
          <p:cNvPr id="16" name="Text 14"/>
          <p:cNvSpPr/>
          <p:nvPr/>
        </p:nvSpPr>
        <p:spPr>
          <a:xfrm>
            <a:off x="9550400" y="2051447"/>
            <a:ext cx="7894384" cy="336550"/>
          </a:xfrm>
          <a:prstGeom prst="rect">
            <a:avLst/>
          </a:prstGeom>
          <a:noFill/>
          <a:ln/>
        </p:spPr>
        <p:txBody>
          <a:bodyPr wrap="square" lIns="25400" tIns="25400" rIns="25400" bIns="25400" rtlCol="0" anchor="t">
            <a:normAutofit/>
          </a:bodyPr>
          <a:lstStyle/>
          <a:p>
            <a:pPr algn="l" indent="0" marL="0">
              <a:buNone/>
            </a:pPr>
            <a:r>
              <a:rPr lang="en-US" sz="1815" b="1" spc="150" kern="0" dirty="0">
                <a:solidFill>
                  <a:srgbClr val="2F6F6B"/>
                </a:solidFill>
                <a:latin typeface="Arial" pitchFamily="34" charset="0"/>
                <a:ea typeface="Arial" pitchFamily="34" charset="-122"/>
                <a:cs typeface="Arial" pitchFamily="34" charset="-120"/>
              </a:rPr>
              <a:t>2 </a:t>
            </a:r>
            <a:pPr algn="l" indent="0" marL="0">
              <a:buNone/>
            </a:pPr>
            <a:r>
              <a:rPr lang="en-US" sz="1073" spc="150" kern="0" dirty="0">
                <a:solidFill>
                  <a:srgbClr val="2F6F6B"/>
                </a:solidFill>
                <a:latin typeface="Courier New" pitchFamily="34" charset="0"/>
                <a:ea typeface="Courier New" pitchFamily="34" charset="-122"/>
                <a:cs typeface="Courier New" pitchFamily="34" charset="-120"/>
              </a:rPr>
              <a:t>WHAT DID WE DO?</a:t>
            </a:r>
            <a:endParaRPr lang="en-US" sz="1073" dirty="0"/>
          </a:p>
        </p:txBody>
      </p:sp>
      <p:sp>
        <p:nvSpPr>
          <p:cNvPr id="17" name="Text 15"/>
          <p:cNvSpPr/>
          <p:nvPr/>
        </p:nvSpPr>
        <p:spPr>
          <a:xfrm>
            <a:off x="9550400" y="2521347"/>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F6F6B"/>
                </a:solidFill>
                <a:latin typeface="Arial" pitchFamily="34" charset="0"/>
                <a:ea typeface="Arial" pitchFamily="34" charset="-122"/>
                <a:cs typeface="Arial" pitchFamily="34" charset="-120"/>
              </a:rPr>
              <a:t>—</a:t>
            </a:r>
            <a:endParaRPr lang="en-US" sz="1568" dirty="0"/>
          </a:p>
        </p:txBody>
      </p:sp>
      <p:sp>
        <p:nvSpPr>
          <p:cNvPr id="18" name="Text 16"/>
          <p:cNvSpPr/>
          <p:nvPr/>
        </p:nvSpPr>
        <p:spPr>
          <a:xfrm>
            <a:off x="9740900" y="2527697"/>
            <a:ext cx="1154708"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Interviewed</a:t>
            </a:r>
            <a:endParaRPr lang="en-US" sz="1568" dirty="0"/>
          </a:p>
        </p:txBody>
      </p:sp>
      <p:sp>
        <p:nvSpPr>
          <p:cNvPr id="19" name="Text 17"/>
          <p:cNvSpPr/>
          <p:nvPr/>
        </p:nvSpPr>
        <p:spPr>
          <a:xfrm>
            <a:off x="10866339" y="2553097"/>
            <a:ext cx="1862048"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10 housing counselors &amp; nonprofit advocates</a:t>
            </a:r>
            <a:endParaRPr lang="en-US" sz="1568" dirty="0"/>
          </a:p>
        </p:txBody>
      </p:sp>
      <p:sp>
        <p:nvSpPr>
          <p:cNvPr id="20" name="Text 18"/>
          <p:cNvSpPr/>
          <p:nvPr/>
        </p:nvSpPr>
        <p:spPr>
          <a:xfrm>
            <a:off x="12606040" y="2527697"/>
            <a:ext cx="3647453"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 housing navigators, LIHTC case managers &amp; social workers.</a:t>
            </a:r>
            <a:endParaRPr lang="en-US" sz="1568" dirty="0"/>
          </a:p>
        </p:txBody>
      </p:sp>
      <p:sp>
        <p:nvSpPr>
          <p:cNvPr id="21" name="Text 19"/>
          <p:cNvSpPr/>
          <p:nvPr/>
        </p:nvSpPr>
        <p:spPr>
          <a:xfrm>
            <a:off x="9550400" y="2911078"/>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F6F6B"/>
                </a:solidFill>
                <a:latin typeface="Arial" pitchFamily="34" charset="0"/>
                <a:ea typeface="Arial" pitchFamily="34" charset="-122"/>
                <a:cs typeface="Arial" pitchFamily="34" charset="-120"/>
              </a:rPr>
              <a:t>—</a:t>
            </a:r>
            <a:endParaRPr lang="en-US" sz="1568" dirty="0"/>
          </a:p>
        </p:txBody>
      </p:sp>
      <p:sp>
        <p:nvSpPr>
          <p:cNvPr id="22" name="Text 20"/>
          <p:cNvSpPr/>
          <p:nvPr/>
        </p:nvSpPr>
        <p:spPr>
          <a:xfrm>
            <a:off x="9740900" y="2917428"/>
            <a:ext cx="864294"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Spanned</a:t>
            </a:r>
            <a:endParaRPr lang="en-US" sz="1568" dirty="0"/>
          </a:p>
        </p:txBody>
      </p:sp>
      <p:sp>
        <p:nvSpPr>
          <p:cNvPr id="23" name="Text 21"/>
          <p:cNvSpPr/>
          <p:nvPr/>
        </p:nvSpPr>
        <p:spPr>
          <a:xfrm>
            <a:off x="10576024" y="2942828"/>
            <a:ext cx="2968734"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Urban League, YMCA, Catholic Charities &amp; city nonprofits</a:t>
            </a:r>
            <a:endParaRPr lang="en-US" sz="1568" dirty="0"/>
          </a:p>
        </p:txBody>
      </p:sp>
      <p:sp>
        <p:nvSpPr>
          <p:cNvPr id="24" name="Text 22"/>
          <p:cNvSpPr/>
          <p:nvPr/>
        </p:nvSpPr>
        <p:spPr>
          <a:xfrm>
            <a:off x="9740900" y="2917428"/>
            <a:ext cx="7392604" cy="58340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 across Atlanta, including two HUD-certified housing counselors.</a:t>
            </a:r>
            <a:endParaRPr lang="en-US" sz="1568" dirty="0"/>
          </a:p>
        </p:txBody>
      </p:sp>
      <p:sp>
        <p:nvSpPr>
          <p:cNvPr id="25" name="Text 23"/>
          <p:cNvSpPr/>
          <p:nvPr/>
        </p:nvSpPr>
        <p:spPr>
          <a:xfrm>
            <a:off x="9550400" y="3579416"/>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F6F6B"/>
                </a:solidFill>
                <a:latin typeface="Arial" pitchFamily="34" charset="0"/>
                <a:ea typeface="Arial" pitchFamily="34" charset="-122"/>
                <a:cs typeface="Arial" pitchFamily="34" charset="-120"/>
              </a:rPr>
              <a:t>—</a:t>
            </a:r>
            <a:endParaRPr lang="en-US" sz="1568" dirty="0"/>
          </a:p>
        </p:txBody>
      </p:sp>
      <p:sp>
        <p:nvSpPr>
          <p:cNvPr id="26" name="Text 24"/>
          <p:cNvSpPr/>
          <p:nvPr/>
        </p:nvSpPr>
        <p:spPr>
          <a:xfrm>
            <a:off x="9740900" y="3585766"/>
            <a:ext cx="6801303" cy="57705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Mapped their referral workflow: how they find landlords, vet units, and hand off clients.</a:t>
            </a:r>
            <a:endParaRPr lang="en-US" sz="1568" dirty="0"/>
          </a:p>
        </p:txBody>
      </p:sp>
      <p:sp>
        <p:nvSpPr>
          <p:cNvPr id="27" name="Shape 25"/>
          <p:cNvSpPr/>
          <p:nvPr/>
        </p:nvSpPr>
        <p:spPr>
          <a:xfrm>
            <a:off x="762000" y="5677099"/>
            <a:ext cx="8286750" cy="3708202"/>
          </a:xfrm>
          <a:prstGeom prst="roundRect">
            <a:avLst>
              <a:gd name="adj" fmla="val 1541"/>
            </a:avLst>
          </a:prstGeom>
          <a:solidFill>
            <a:srgbClr val="142523"/>
          </a:solidFill>
          <a:ln/>
        </p:spPr>
      </p:sp>
      <p:sp>
        <p:nvSpPr>
          <p:cNvPr id="28" name="Text 26"/>
          <p:cNvSpPr/>
          <p:nvPr/>
        </p:nvSpPr>
        <p:spPr>
          <a:xfrm>
            <a:off x="1066800" y="5943799"/>
            <a:ext cx="7907465" cy="336550"/>
          </a:xfrm>
          <a:prstGeom prst="rect">
            <a:avLst/>
          </a:prstGeom>
          <a:noFill/>
          <a:ln/>
        </p:spPr>
        <p:txBody>
          <a:bodyPr wrap="square" lIns="25400" tIns="25400" rIns="25400" bIns="25400" rtlCol="0" anchor="t">
            <a:normAutofit/>
          </a:bodyPr>
          <a:lstStyle/>
          <a:p>
            <a:pPr algn="l" indent="0" marL="0">
              <a:buNone/>
            </a:pPr>
            <a:r>
              <a:rPr lang="en-US" sz="1815" b="1" spc="150" kern="0" dirty="0">
                <a:solidFill>
                  <a:srgbClr val="FFFFFF"/>
                </a:solidFill>
                <a:latin typeface="Arial" pitchFamily="34" charset="0"/>
                <a:ea typeface="Arial" pitchFamily="34" charset="-122"/>
                <a:cs typeface="Arial" pitchFamily="34" charset="-120"/>
              </a:rPr>
              <a:t>3 </a:t>
            </a:r>
            <a:pPr algn="l" indent="0" marL="0">
              <a:buNone/>
            </a:pPr>
            <a:r>
              <a:rPr lang="en-US" sz="1073" spc="150" kern="0" dirty="0">
                <a:solidFill>
                  <a:srgbClr val="7FC3BD"/>
                </a:solidFill>
                <a:latin typeface="Courier New" pitchFamily="34" charset="0"/>
                <a:ea typeface="Courier New" pitchFamily="34" charset="-122"/>
                <a:cs typeface="Courier New" pitchFamily="34" charset="-120"/>
              </a:rPr>
              <a:t>WHAT DID WE LEARN?</a:t>
            </a:r>
            <a:endParaRPr lang="en-US" sz="1073" dirty="0"/>
          </a:p>
        </p:txBody>
      </p:sp>
      <p:sp>
        <p:nvSpPr>
          <p:cNvPr id="29" name="Text 27"/>
          <p:cNvSpPr/>
          <p:nvPr/>
        </p:nvSpPr>
        <p:spPr>
          <a:xfrm>
            <a:off x="1066800" y="6413699"/>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7FC3BD"/>
                </a:solidFill>
                <a:latin typeface="Arial" pitchFamily="34" charset="0"/>
                <a:ea typeface="Arial" pitchFamily="34" charset="-122"/>
                <a:cs typeface="Arial" pitchFamily="34" charset="-120"/>
              </a:rPr>
              <a:t>—</a:t>
            </a:r>
            <a:endParaRPr lang="en-US" sz="1568" dirty="0"/>
          </a:p>
        </p:txBody>
      </p:sp>
      <p:sp>
        <p:nvSpPr>
          <p:cNvPr id="30" name="Text 28"/>
          <p:cNvSpPr/>
          <p:nvPr/>
        </p:nvSpPr>
        <p:spPr>
          <a:xfrm>
            <a:off x="1257300" y="6420049"/>
            <a:ext cx="3293857"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CFE2DF"/>
                </a:solidFill>
                <a:latin typeface="Arial" pitchFamily="34" charset="0"/>
                <a:ea typeface="Arial" pitchFamily="34" charset="-122"/>
                <a:cs typeface="Arial" pitchFamily="34" charset="-120"/>
              </a:rPr>
              <a:t>Application fees are bleeding clients dry</a:t>
            </a:r>
            <a:endParaRPr lang="en-US" sz="1568" dirty="0"/>
          </a:p>
        </p:txBody>
      </p:sp>
      <p:sp>
        <p:nvSpPr>
          <p:cNvPr id="31" name="Text 29"/>
          <p:cNvSpPr/>
          <p:nvPr/>
        </p:nvSpPr>
        <p:spPr>
          <a:xfrm>
            <a:off x="4502150" y="6445448"/>
            <a:ext cx="1314381"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FFFFFF"/>
                </a:solidFill>
                <a:latin typeface="Arial" pitchFamily="34" charset="0"/>
                <a:ea typeface="Arial" pitchFamily="34" charset="-122"/>
                <a:cs typeface="Arial" pitchFamily="34" charset="-120"/>
              </a:rPr>
              <a:t>— one counselor tracked $240 in fees</a:t>
            </a:r>
            <a:endParaRPr lang="en-US" sz="1568" dirty="0"/>
          </a:p>
        </p:txBody>
      </p:sp>
      <p:sp>
        <p:nvSpPr>
          <p:cNvPr id="32" name="Text 30"/>
          <p:cNvSpPr/>
          <p:nvPr/>
        </p:nvSpPr>
        <p:spPr>
          <a:xfrm>
            <a:off x="1257300" y="6420049"/>
            <a:ext cx="7469353" cy="58340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CFE2DF"/>
                </a:solidFill>
                <a:latin typeface="Arial" pitchFamily="34" charset="0"/>
                <a:ea typeface="Arial" pitchFamily="34" charset="-122"/>
                <a:cs typeface="Arial" pitchFamily="34" charset="-120"/>
              </a:rPr>
              <a:t> across 3 failed applications before her client gave up.</a:t>
            </a:r>
            <a:endParaRPr lang="en-US" sz="1568" dirty="0"/>
          </a:p>
        </p:txBody>
      </p:sp>
      <p:sp>
        <p:nvSpPr>
          <p:cNvPr id="33" name="Text 31"/>
          <p:cNvSpPr/>
          <p:nvPr/>
        </p:nvSpPr>
        <p:spPr>
          <a:xfrm>
            <a:off x="4191099" y="6730405"/>
            <a:ext cx="2141557"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FFFFFF"/>
                </a:solidFill>
                <a:latin typeface="Arial" pitchFamily="34" charset="0"/>
                <a:ea typeface="Arial" pitchFamily="34" charset="-122"/>
                <a:cs typeface="Arial" pitchFamily="34" charset="-120"/>
              </a:rPr>
              <a:t>The fee isn't the landlord's income — it's a filter for serious tenants</a:t>
            </a:r>
            <a:endParaRPr lang="en-US" sz="1568" dirty="0"/>
          </a:p>
        </p:txBody>
      </p:sp>
      <p:sp>
        <p:nvSpPr>
          <p:cNvPr id="34" name="Text 32"/>
          <p:cNvSpPr/>
          <p:nvPr/>
        </p:nvSpPr>
        <p:spPr>
          <a:xfrm>
            <a:off x="6137970" y="6705005"/>
            <a:ext cx="130373"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CFE2DF"/>
                </a:solidFill>
                <a:latin typeface="Arial" pitchFamily="34" charset="0"/>
                <a:ea typeface="Arial" pitchFamily="34" charset="-122"/>
                <a:cs typeface="Arial" pitchFamily="34" charset="-120"/>
              </a:rPr>
              <a:t>.</a:t>
            </a:r>
            <a:endParaRPr lang="en-US" sz="1568" dirty="0"/>
          </a:p>
        </p:txBody>
      </p:sp>
      <p:sp>
        <p:nvSpPr>
          <p:cNvPr id="35" name="Text 33"/>
          <p:cNvSpPr/>
          <p:nvPr/>
        </p:nvSpPr>
        <p:spPr>
          <a:xfrm>
            <a:off x="1066800" y="7088386"/>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7FC3BD"/>
                </a:solidFill>
                <a:latin typeface="Arial" pitchFamily="34" charset="0"/>
                <a:ea typeface="Arial" pitchFamily="34" charset="-122"/>
                <a:cs typeface="Arial" pitchFamily="34" charset="-120"/>
              </a:rPr>
              <a:t>—</a:t>
            </a:r>
            <a:endParaRPr lang="en-US" sz="1568" dirty="0"/>
          </a:p>
        </p:txBody>
      </p:sp>
      <p:sp>
        <p:nvSpPr>
          <p:cNvPr id="36" name="Text 34"/>
          <p:cNvSpPr/>
          <p:nvPr/>
        </p:nvSpPr>
        <p:spPr>
          <a:xfrm>
            <a:off x="1257300" y="7094736"/>
            <a:ext cx="1459806"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CFE2DF"/>
                </a:solidFill>
                <a:latin typeface="Arial" pitchFamily="34" charset="0"/>
                <a:ea typeface="Arial" pitchFamily="34" charset="-122"/>
                <a:cs typeface="Arial" pitchFamily="34" charset="-120"/>
              </a:rPr>
              <a:t>Vouchers expire</a:t>
            </a:r>
            <a:endParaRPr lang="en-US" sz="1568" dirty="0"/>
          </a:p>
        </p:txBody>
      </p:sp>
      <p:sp>
        <p:nvSpPr>
          <p:cNvPr id="37" name="Text 35"/>
          <p:cNvSpPr/>
          <p:nvPr/>
        </p:nvSpPr>
        <p:spPr>
          <a:xfrm>
            <a:off x="2687836" y="7120136"/>
            <a:ext cx="3808681"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FFFFFF"/>
                </a:solidFill>
                <a:latin typeface="Arial" pitchFamily="34" charset="0"/>
                <a:ea typeface="Arial" pitchFamily="34" charset="-122"/>
                <a:cs typeface="Arial" pitchFamily="34" charset="-120"/>
              </a:rPr>
              <a:t>silently — clients don't know they have 60 days left</a:t>
            </a:r>
            <a:endParaRPr lang="en-US" sz="1568" dirty="0"/>
          </a:p>
        </p:txBody>
      </p:sp>
      <p:sp>
        <p:nvSpPr>
          <p:cNvPr id="38" name="Text 36"/>
          <p:cNvSpPr/>
          <p:nvPr/>
        </p:nvSpPr>
        <p:spPr>
          <a:xfrm>
            <a:off x="1257300" y="7094736"/>
            <a:ext cx="7642063" cy="58340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CFE2DF"/>
                </a:solidFill>
                <a:latin typeface="Arial" pitchFamily="34" charset="0"/>
                <a:ea typeface="Arial" pitchFamily="34" charset="-122"/>
                <a:cs typeface="Arial" pitchFamily="34" charset="-120"/>
              </a:rPr>
              <a:t>. Counselors are manually tracking extensions with sticky notes.</a:t>
            </a:r>
            <a:endParaRPr lang="en-US" sz="1568" dirty="0"/>
          </a:p>
        </p:txBody>
      </p:sp>
      <p:sp>
        <p:nvSpPr>
          <p:cNvPr id="39" name="Text 37"/>
          <p:cNvSpPr/>
          <p:nvPr/>
        </p:nvSpPr>
        <p:spPr>
          <a:xfrm>
            <a:off x="1066800" y="7756724"/>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7FC3BD"/>
                </a:solidFill>
                <a:latin typeface="Arial" pitchFamily="34" charset="0"/>
                <a:ea typeface="Arial" pitchFamily="34" charset="-122"/>
                <a:cs typeface="Arial" pitchFamily="34" charset="-120"/>
              </a:rPr>
              <a:t>—</a:t>
            </a:r>
            <a:endParaRPr lang="en-US" sz="1568" dirty="0"/>
          </a:p>
        </p:txBody>
      </p:sp>
      <p:sp>
        <p:nvSpPr>
          <p:cNvPr id="40" name="Text 38"/>
          <p:cNvSpPr/>
          <p:nvPr/>
        </p:nvSpPr>
        <p:spPr>
          <a:xfrm>
            <a:off x="1257300" y="7763074"/>
            <a:ext cx="3472392"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CFE2DF"/>
                </a:solidFill>
                <a:latin typeface="Arial" pitchFamily="34" charset="0"/>
                <a:ea typeface="Arial" pitchFamily="34" charset="-122"/>
                <a:cs typeface="Arial" pitchFamily="34" charset="-120"/>
              </a:rPr>
              <a:t>Every counselor keeps an informal</a:t>
            </a:r>
            <a:endParaRPr lang="en-US" sz="1568" dirty="0"/>
          </a:p>
        </p:txBody>
      </p:sp>
      <p:sp>
        <p:nvSpPr>
          <p:cNvPr id="41" name="Text 39"/>
          <p:cNvSpPr/>
          <p:nvPr/>
        </p:nvSpPr>
        <p:spPr>
          <a:xfrm>
            <a:off x="4675485" y="7788473"/>
            <a:ext cx="1837492"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FFFFFF"/>
                </a:solidFill>
                <a:latin typeface="Arial" pitchFamily="34" charset="0"/>
                <a:ea typeface="Arial" pitchFamily="34" charset="-122"/>
                <a:cs typeface="Arial" pitchFamily="34" charset="-120"/>
              </a:rPr>
              <a:t>"good landlord" Excel list</a:t>
            </a:r>
            <a:endParaRPr lang="en-US" sz="1568" dirty="0"/>
          </a:p>
        </p:txBody>
      </p:sp>
      <p:sp>
        <p:nvSpPr>
          <p:cNvPr id="42" name="Text 40"/>
          <p:cNvSpPr/>
          <p:nvPr/>
        </p:nvSpPr>
        <p:spPr>
          <a:xfrm>
            <a:off x="6345932" y="7763074"/>
            <a:ext cx="1622127"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CFE2DF"/>
                </a:solidFill>
                <a:latin typeface="Arial" pitchFamily="34" charset="0"/>
                <a:ea typeface="Arial" pitchFamily="34" charset="-122"/>
                <a:cs typeface="Arial" pitchFamily="34" charset="-120"/>
              </a:rPr>
              <a:t> — no shared platform, no scale.</a:t>
            </a:r>
            <a:endParaRPr lang="en-US" sz="1568" dirty="0"/>
          </a:p>
        </p:txBody>
      </p:sp>
      <p:sp>
        <p:nvSpPr>
          <p:cNvPr id="43" name="Shape 41"/>
          <p:cNvSpPr/>
          <p:nvPr/>
        </p:nvSpPr>
        <p:spPr>
          <a:xfrm>
            <a:off x="9239250" y="5677099"/>
            <a:ext cx="8286750" cy="3708202"/>
          </a:xfrm>
          <a:prstGeom prst="roundRect">
            <a:avLst>
              <a:gd name="adj" fmla="val 1541"/>
            </a:avLst>
          </a:prstGeom>
          <a:solidFill>
            <a:srgbClr val="FFFFFF"/>
          </a:solidFill>
          <a:ln w="6350">
            <a:solidFill>
              <a:srgbClr val="18221E">
                <a:alpha val="12000"/>
              </a:srgbClr>
            </a:solidFill>
            <a:prstDash val="solid"/>
          </a:ln>
        </p:spPr>
      </p:sp>
      <p:sp>
        <p:nvSpPr>
          <p:cNvPr id="44" name="Text 42"/>
          <p:cNvSpPr/>
          <p:nvPr/>
        </p:nvSpPr>
        <p:spPr>
          <a:xfrm>
            <a:off x="9550400" y="5950148"/>
            <a:ext cx="7894384" cy="336550"/>
          </a:xfrm>
          <a:prstGeom prst="rect">
            <a:avLst/>
          </a:prstGeom>
          <a:noFill/>
          <a:ln/>
        </p:spPr>
        <p:txBody>
          <a:bodyPr wrap="square" lIns="25400" tIns="25400" rIns="25400" bIns="25400" rtlCol="0" anchor="t">
            <a:normAutofit/>
          </a:bodyPr>
          <a:lstStyle/>
          <a:p>
            <a:pPr algn="l" indent="0" marL="0">
              <a:buNone/>
            </a:pPr>
            <a:r>
              <a:rPr lang="en-US" sz="1815" b="1" spc="150" kern="0" dirty="0">
                <a:solidFill>
                  <a:srgbClr val="2F6F6B"/>
                </a:solidFill>
                <a:latin typeface="Arial" pitchFamily="34" charset="0"/>
                <a:ea typeface="Arial" pitchFamily="34" charset="-122"/>
                <a:cs typeface="Arial" pitchFamily="34" charset="-120"/>
              </a:rPr>
              <a:t>4 </a:t>
            </a:r>
            <a:pPr algn="l" indent="0" marL="0">
              <a:buNone/>
            </a:pPr>
            <a:r>
              <a:rPr lang="en-US" sz="1073" spc="150" kern="0" dirty="0">
                <a:solidFill>
                  <a:srgbClr val="2F6F6B"/>
                </a:solidFill>
                <a:latin typeface="Courier New" pitchFamily="34" charset="0"/>
                <a:ea typeface="Courier New" pitchFamily="34" charset="-122"/>
                <a:cs typeface="Courier New" pitchFamily="34" charset="-120"/>
              </a:rPr>
              <a:t>WHAT TO DO NEXT?</a:t>
            </a:r>
            <a:endParaRPr lang="en-US" sz="1073" dirty="0"/>
          </a:p>
        </p:txBody>
      </p:sp>
      <p:sp>
        <p:nvSpPr>
          <p:cNvPr id="45" name="Text 43"/>
          <p:cNvSpPr/>
          <p:nvPr/>
        </p:nvSpPr>
        <p:spPr>
          <a:xfrm>
            <a:off x="9550400" y="6420049"/>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F6F6B"/>
                </a:solidFill>
                <a:latin typeface="Arial" pitchFamily="34" charset="0"/>
                <a:ea typeface="Arial" pitchFamily="34" charset="-122"/>
                <a:cs typeface="Arial" pitchFamily="34" charset="-120"/>
              </a:rPr>
              <a:t>—</a:t>
            </a:r>
            <a:endParaRPr lang="en-US" sz="1568" dirty="0"/>
          </a:p>
        </p:txBody>
      </p:sp>
      <p:sp>
        <p:nvSpPr>
          <p:cNvPr id="46" name="Text 44"/>
          <p:cNvSpPr/>
          <p:nvPr/>
        </p:nvSpPr>
        <p:spPr>
          <a:xfrm>
            <a:off x="9740900" y="6426398"/>
            <a:ext cx="2150169"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Build a</a:t>
            </a:r>
            <a:endParaRPr lang="en-US" sz="1568" dirty="0"/>
          </a:p>
        </p:txBody>
      </p:sp>
      <p:sp>
        <p:nvSpPr>
          <p:cNvPr id="47" name="Text 45"/>
          <p:cNvSpPr/>
          <p:nvPr/>
        </p:nvSpPr>
        <p:spPr>
          <a:xfrm>
            <a:off x="11861800" y="6451799"/>
            <a:ext cx="2482294"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counselor dashboard</a:t>
            </a:r>
            <a:endParaRPr lang="en-US" sz="1568" dirty="0"/>
          </a:p>
        </p:txBody>
      </p:sp>
      <p:sp>
        <p:nvSpPr>
          <p:cNvPr id="48" name="Text 46"/>
          <p:cNvSpPr/>
          <p:nvPr/>
        </p:nvSpPr>
        <p:spPr>
          <a:xfrm>
            <a:off x="9740900" y="6426398"/>
            <a:ext cx="7026847" cy="583406"/>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showing clients' search velocity, applications submitted, and voucher days remaining.</a:t>
            </a:r>
            <a:endParaRPr lang="en-US" sz="1568" dirty="0"/>
          </a:p>
        </p:txBody>
      </p:sp>
      <p:sp>
        <p:nvSpPr>
          <p:cNvPr id="49" name="Text 47"/>
          <p:cNvSpPr/>
          <p:nvPr/>
        </p:nvSpPr>
        <p:spPr>
          <a:xfrm>
            <a:off x="9550400" y="7088386"/>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F6F6B"/>
                </a:solidFill>
                <a:latin typeface="Arial" pitchFamily="34" charset="0"/>
                <a:ea typeface="Arial" pitchFamily="34" charset="-122"/>
                <a:cs typeface="Arial" pitchFamily="34" charset="-120"/>
              </a:rPr>
              <a:t>—</a:t>
            </a:r>
            <a:endParaRPr lang="en-US" sz="1568" dirty="0"/>
          </a:p>
        </p:txBody>
      </p:sp>
      <p:sp>
        <p:nvSpPr>
          <p:cNvPr id="50" name="Text 48"/>
          <p:cNvSpPr/>
          <p:nvPr/>
        </p:nvSpPr>
        <p:spPr>
          <a:xfrm>
            <a:off x="9740900" y="7094736"/>
            <a:ext cx="877689"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Digitize their</a:t>
            </a:r>
            <a:endParaRPr lang="en-US" sz="1568" dirty="0"/>
          </a:p>
        </p:txBody>
      </p:sp>
      <p:sp>
        <p:nvSpPr>
          <p:cNvPr id="51" name="Text 49"/>
          <p:cNvSpPr/>
          <p:nvPr/>
        </p:nvSpPr>
        <p:spPr>
          <a:xfrm>
            <a:off x="10589320" y="7120136"/>
            <a:ext cx="3810099" cy="260350"/>
          </a:xfrm>
          <a:prstGeom prst="rect">
            <a:avLst/>
          </a:prstGeom>
          <a:noFill/>
          <a:ln/>
        </p:spPr>
        <p:txBody>
          <a:bodyPr wrap="square" lIns="25400" tIns="25400" rIns="25400" bIns="25400" rtlCol="0" anchor="t">
            <a:normAutofit/>
          </a:bodyPr>
          <a:lstStyle/>
          <a:p>
            <a:pPr algn="l" indent="0" marL="0">
              <a:lnSpc>
                <a:spcPct val="140000"/>
              </a:lnSpc>
              <a:buNone/>
            </a:pPr>
            <a:r>
              <a:rPr lang="en-US" sz="1568" b="1" dirty="0">
                <a:solidFill>
                  <a:srgbClr val="3A443E"/>
                </a:solidFill>
                <a:latin typeface="Arial" pitchFamily="34" charset="0"/>
                <a:ea typeface="Arial" pitchFamily="34" charset="-122"/>
                <a:cs typeface="Arial" pitchFamily="34" charset="-120"/>
              </a:rPr>
              <a:t>"good landlord" lists</a:t>
            </a:r>
            <a:endParaRPr lang="en-US" sz="1568" dirty="0"/>
          </a:p>
        </p:txBody>
      </p:sp>
      <p:sp>
        <p:nvSpPr>
          <p:cNvPr id="52" name="Text 50"/>
          <p:cNvSpPr/>
          <p:nvPr/>
        </p:nvSpPr>
        <p:spPr>
          <a:xfrm>
            <a:off x="14099977" y="7094736"/>
            <a:ext cx="1809850"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into verified Settleed listings — instant referral pipeline.</a:t>
            </a:r>
            <a:endParaRPr lang="en-US" sz="1568" dirty="0"/>
          </a:p>
        </p:txBody>
      </p:sp>
      <p:sp>
        <p:nvSpPr>
          <p:cNvPr id="53" name="Text 51"/>
          <p:cNvSpPr/>
          <p:nvPr/>
        </p:nvSpPr>
        <p:spPr>
          <a:xfrm>
            <a:off x="9550400" y="7478117"/>
            <a:ext cx="231477" cy="316706"/>
          </a:xfrm>
          <a:prstGeom prst="rect">
            <a:avLst/>
          </a:prstGeom>
          <a:noFill/>
          <a:ln/>
        </p:spPr>
        <p:txBody>
          <a:bodyPr wrap="square" lIns="25400" tIns="25400" rIns="25400" bIns="25400" rtlCol="0" anchor="t">
            <a:normAutofit/>
          </a:bodyPr>
          <a:lstStyle/>
          <a:p>
            <a:pPr algn="l" indent="0" marL="0">
              <a:lnSpc>
                <a:spcPct val="140000"/>
              </a:lnSpc>
              <a:buNone/>
            </a:pPr>
            <a:r>
              <a:rPr lang="en-US" sz="1568" dirty="0">
                <a:solidFill>
                  <a:srgbClr val="2F6F6B"/>
                </a:solidFill>
                <a:latin typeface="Arial" pitchFamily="34" charset="0"/>
                <a:ea typeface="Arial" pitchFamily="34" charset="-122"/>
                <a:cs typeface="Arial" pitchFamily="34" charset="-120"/>
              </a:rPr>
              <a:t>—</a:t>
            </a:r>
            <a:endParaRPr lang="en-US" sz="1568" dirty="0"/>
          </a:p>
        </p:txBody>
      </p:sp>
      <p:sp>
        <p:nvSpPr>
          <p:cNvPr id="54" name="Text 52"/>
          <p:cNvSpPr/>
          <p:nvPr/>
        </p:nvSpPr>
        <p:spPr>
          <a:xfrm>
            <a:off x="9740900" y="7484468"/>
            <a:ext cx="6932624" cy="298450"/>
          </a:xfrm>
          <a:prstGeom prst="rect">
            <a:avLst/>
          </a:prstGeom>
          <a:noFill/>
          <a:ln/>
        </p:spPr>
        <p:txBody>
          <a:bodyPr wrap="square" lIns="0" tIns="0" rIns="0" bIns="0" rtlCol="0" anchor="t">
            <a:normAutofit/>
          </a:bodyPr>
          <a:lstStyle/>
          <a:p>
            <a:pPr algn="l" indent="0" marL="0">
              <a:lnSpc>
                <a:spcPct val="140000"/>
              </a:lnSpc>
              <a:buNone/>
            </a:pPr>
            <a:r>
              <a:rPr lang="en-US" sz="1568" dirty="0">
                <a:solidFill>
                  <a:srgbClr val="3A443E"/>
                </a:solidFill>
                <a:latin typeface="Arial" pitchFamily="34" charset="0"/>
                <a:ea typeface="Arial" pitchFamily="34" charset="-122"/>
                <a:cs typeface="Arial" pitchFamily="34" charset="-120"/>
              </a:rPr>
              <a:t>Pitch nonprofits as a referral channel: they send vetted clients, we surface their "good landlords".</a:t>
            </a:r>
            <a:endParaRPr lang="en-US" sz="1568" dirty="0"/>
          </a:p>
        </p:txBody>
      </p:sp>
      <p:sp>
        <p:nvSpPr>
          <p:cNvPr id="55" name="Text 53"/>
          <p:cNvSpPr/>
          <p:nvPr/>
        </p:nvSpPr>
        <p:spPr>
          <a:xfrm>
            <a:off x="762000" y="9556750"/>
            <a:ext cx="4636949"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SETTLEED · CUSTOMER DISCOVERY · COUNSELORS &amp; ADVOCATES</a:t>
            </a:r>
            <a:endParaRPr lang="en-US" sz="990" dirty="0"/>
          </a:p>
        </p:txBody>
      </p:sp>
      <p:sp>
        <p:nvSpPr>
          <p:cNvPr id="56" name="Text 54"/>
          <p:cNvSpPr/>
          <p:nvPr/>
        </p:nvSpPr>
        <p:spPr>
          <a:xfrm>
            <a:off x="16839705" y="9556750"/>
            <a:ext cx="762496" cy="196850"/>
          </a:xfrm>
          <a:prstGeom prst="rect">
            <a:avLst/>
          </a:prstGeom>
          <a:noFill/>
          <a:ln/>
        </p:spPr>
        <p:txBody>
          <a:bodyPr wrap="square" lIns="25400" tIns="25400" rIns="25400" bIns="25400" rtlCol="0" anchor="t">
            <a:normAutofit/>
          </a:bodyPr>
          <a:lstStyle/>
          <a:p>
            <a:pPr algn="l" indent="0" marL="0">
              <a:buNone/>
            </a:pPr>
            <a:r>
              <a:rPr lang="en-US" sz="990" spc="178" kern="0" dirty="0">
                <a:solidFill>
                  <a:srgbClr val="9AA39D"/>
                </a:solidFill>
                <a:latin typeface="Courier New" pitchFamily="34" charset="0"/>
                <a:ea typeface="Courier New" pitchFamily="34" charset="-122"/>
                <a:cs typeface="Courier New" pitchFamily="34" charset="-120"/>
              </a:rPr>
              <a:t>08 / 16</a:t>
            </a:r>
            <a:endParaRPr lang="en-US" sz="99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2026-06-27T15:08:42Z</dcterms:created>
  <dcterms:modified xsi:type="dcterms:W3CDTF">2026-06-27T15:08:42Z</dcterms:modified>
</cp:coreProperties>
</file>